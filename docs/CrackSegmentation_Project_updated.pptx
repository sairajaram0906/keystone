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6" r:id="rId17"/>
    <p:sldId id="267" r:id="rId1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8.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0F6E63"/>
          </a:solidFill>
          <a:ln w="12700">
            <a:solidFill>
              <a:srgbClr val="0F6E63"/>
            </a:solidFill>
            <a:prstDash val="solid"/>
          </a:ln>
        </p:spPr>
      </p:sp>
      <p:sp>
        <p:nvSpPr>
          <p:cNvPr id="3" name="Text 1"/>
          <p:cNvSpPr txBox="1"/>
          <p:nvPr/>
        </p:nvSpPr>
        <p:spPr>
          <a:xfrm>
            <a:off x="1051560" y="1874520"/>
            <a:ext cx="10058400" cy="256032"/>
          </a:xfrm>
          <a:prstGeom prst="rect">
            <a:avLst/>
          </a:prstGeom>
          <a:noFill/>
          <a:ln/>
        </p:spPr>
        <p:txBody>
          <a:bodyPr wrap="square" lIns="0" tIns="0" rIns="0" bIns="0" rtlCol="0" anchor="ctr"/>
          <a:lstStyle/>
          <a:p>
            <a:pPr indent="0" marL="0">
              <a:buNone/>
            </a:pPr>
            <a:r>
              <a:rPr lang="en-US" sz="1150" b="1" spc="260" kern="0" dirty="0">
                <a:solidFill>
                  <a:srgbClr val="0F6E63"/>
                </a:solidFill>
                <a:latin typeface="Calibri" pitchFamily="34" charset="0"/>
                <a:ea typeface="Calibri" pitchFamily="34" charset="-122"/>
                <a:cs typeface="Calibri" pitchFamily="34" charset="-120"/>
              </a:rPr>
              <a:t>DEEP LEARNING PROJECT</a:t>
            </a:r>
            <a:endParaRPr lang="en-US" sz="1150" dirty="0"/>
          </a:p>
        </p:txBody>
      </p:sp>
      <p:sp>
        <p:nvSpPr>
          <p:cNvPr id="4" name="Text 2"/>
          <p:cNvSpPr txBox="1"/>
          <p:nvPr/>
        </p:nvSpPr>
        <p:spPr>
          <a:xfrm>
            <a:off x="1051560" y="2267712"/>
            <a:ext cx="10058400" cy="1371600"/>
          </a:xfrm>
          <a:prstGeom prst="rect">
            <a:avLst/>
          </a:prstGeom>
          <a:noFill/>
          <a:ln/>
        </p:spPr>
        <p:txBody>
          <a:bodyPr wrap="square" lIns="0" tIns="0" rIns="0" bIns="0" rtlCol="0" anchor="ctr"/>
          <a:lstStyle/>
          <a:p>
            <a:pPr indent="0" marL="0">
              <a:lnSpc>
                <a:spcPct val="105000"/>
              </a:lnSpc>
              <a:buNone/>
            </a:pPr>
            <a:r>
              <a:rPr lang="en-US" sz="4000" dirty="0">
                <a:solidFill>
                  <a:srgbClr val="1C2530"/>
                </a:solidFill>
                <a:latin typeface="Georgia" pitchFamily="34" charset="0"/>
                <a:ea typeface="Georgia" pitchFamily="34" charset="-122"/>
                <a:cs typeface="Georgia" pitchFamily="34" charset="-120"/>
              </a:rPr>
              <a:t>Crack Segmentation for</a:t>
            </a:r>
            <a:endParaRPr lang="en-US" sz="4000" dirty="0"/>
          </a:p>
          <a:p>
            <a:pPr indent="0" marL="0">
              <a:lnSpc>
                <a:spcPct val="105000"/>
              </a:lnSpc>
              <a:buNone/>
            </a:pPr>
            <a:r>
              <a:rPr lang="en-US" sz="4000" dirty="0">
                <a:solidFill>
                  <a:srgbClr val="1C2530"/>
                </a:solidFill>
                <a:latin typeface="Georgia" pitchFamily="34" charset="0"/>
                <a:ea typeface="Georgia" pitchFamily="34" charset="-122"/>
                <a:cs typeface="Georgia" pitchFamily="34" charset="-120"/>
              </a:rPr>
              <a:t>Structural Monitoring</a:t>
            </a:r>
            <a:endParaRPr lang="en-US" sz="4000" dirty="0"/>
          </a:p>
        </p:txBody>
      </p:sp>
      <p:sp>
        <p:nvSpPr>
          <p:cNvPr id="5" name="Text 3"/>
          <p:cNvSpPr txBox="1"/>
          <p:nvPr/>
        </p:nvSpPr>
        <p:spPr>
          <a:xfrm>
            <a:off x="1051560" y="3767328"/>
            <a:ext cx="8595360" cy="548640"/>
          </a:xfrm>
          <a:prstGeom prst="rect">
            <a:avLst/>
          </a:prstGeom>
          <a:noFill/>
          <a:ln/>
        </p:spPr>
        <p:txBody>
          <a:bodyPr wrap="square" lIns="0" tIns="0" rIns="0" bIns="0" rtlCol="0" anchor="ctr"/>
          <a:lstStyle/>
          <a:p>
            <a:pPr indent="0" marL="0">
              <a:lnSpc>
                <a:spcPct val="125000"/>
              </a:lnSpc>
              <a:buNone/>
            </a:pPr>
            <a:r>
              <a:rPr lang="en-US" sz="1450" dirty="0">
                <a:solidFill>
                  <a:srgbClr val="48535F"/>
                </a:solidFill>
                <a:latin typeface="Calibri" pitchFamily="34" charset="0"/>
                <a:ea typeface="Calibri" pitchFamily="34" charset="-122"/>
                <a:cs typeface="Calibri" pitchFamily="34" charset="-120"/>
              </a:rPr>
              <a:t>A U-Net that finds cracks pixel by pixel, and converts the result into a physical measurement a conservator can act on.</a:t>
            </a:r>
            <a:endParaRPr lang="en-US" sz="1450" dirty="0"/>
          </a:p>
        </p:txBody>
      </p:sp>
      <p:sp>
        <p:nvSpPr>
          <p:cNvPr id="6" name="Shape 4"/>
          <p:cNvSpPr/>
          <p:nvPr/>
        </p:nvSpPr>
        <p:spPr>
          <a:xfrm>
            <a:off x="1051560" y="4590288"/>
            <a:ext cx="914400" cy="27432"/>
          </a:xfrm>
          <a:prstGeom prst="rect">
            <a:avLst/>
          </a:prstGeom>
          <a:solidFill>
            <a:srgbClr val="DDD8D2"/>
          </a:solidFill>
          <a:ln w="12700">
            <a:solidFill>
              <a:srgbClr val="DDD8D2"/>
            </a:solidFill>
            <a:prstDash val="solid"/>
          </a:ln>
        </p:spPr>
      </p:sp>
      <p:sp>
        <p:nvSpPr>
          <p:cNvPr id="7" name="Text 5"/>
          <p:cNvSpPr txBox="1"/>
          <p:nvPr/>
        </p:nvSpPr>
        <p:spPr>
          <a:xfrm>
            <a:off x="1051560" y="4828032"/>
            <a:ext cx="8229600" cy="640080"/>
          </a:xfrm>
          <a:prstGeom prst="rect">
            <a:avLst/>
          </a:prstGeom>
          <a:noFill/>
          <a:ln/>
        </p:spPr>
        <p:txBody>
          <a:bodyPr wrap="square" lIns="0" tIns="0" rIns="0" bIns="0" rtlCol="0" anchor="ctr"/>
          <a:lstStyle/>
          <a:p>
            <a:pPr indent="0" marL="0">
              <a:lnSpc>
                <a:spcPct val="130000"/>
              </a:lnSpc>
              <a:buNone/>
            </a:pPr>
            <a:r>
              <a:rPr lang="en-US" sz="1300" b="1" dirty="0">
                <a:solidFill>
                  <a:srgbClr val="1C2530"/>
                </a:solidFill>
                <a:latin typeface="Calibri" pitchFamily="34" charset="0"/>
                <a:ea typeface="Calibri" pitchFamily="34" charset="-122"/>
                <a:cs typeface="Calibri" pitchFamily="34" charset="-120"/>
              </a:rPr>
              <a:t>Team NeuraCoders</a:t>
            </a:r>
            <a:endParaRPr lang="en-US" sz="1300" dirty="0"/>
          </a:p>
          <a:p>
            <a:pPr indent="0" marL="0">
              <a:lnSpc>
                <a:spcPct val="130000"/>
              </a:lnSpc>
              <a:buNone/>
            </a:pPr>
            <a:r>
              <a:rPr lang="en-US" sz="1200" dirty="0">
                <a:solidFill>
                  <a:srgbClr val="48535F"/>
                </a:solidFill>
                <a:latin typeface="Calibri" pitchFamily="34" charset="0"/>
                <a:ea typeface="Calibri" pitchFamily="34" charset="-122"/>
                <a:cs typeface="Calibri" pitchFamily="34" charset="-120"/>
              </a:rPr>
              <a:t>Tarrun B  ·  Shyam M  ·  Sriman A  ·  Shyam Sundar 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8"/>
        </a:solidFill>
      </p:bgPr>
    </p:bg>
    <p:spTree>
      <p:nvGrpSpPr>
        <p:cNvPr id="1" name=""/>
        <p:cNvGrpSpPr/>
        <p:nvPr/>
      </p:nvGrpSpPr>
      <p:grpSpPr>
        <a:xfrm>
          <a:off x="0" y="0"/>
          <a:ext cx="0" cy="0"/>
          <a:chOff x="0" y="0"/>
          <a:chExt cx="0" cy="0"/>
        </a:xfrm>
      </p:grpSpPr>
      <p:sp>
        <p:nvSpPr>
          <p:cNvPr id="2" name="Text 0"/>
          <p:cNvSpPr txBox="1"/>
          <p:nvPr/>
        </p:nvSpPr>
        <p:spPr>
          <a:xfrm>
            <a:off x="566928" y="384048"/>
            <a:ext cx="11064240" cy="219456"/>
          </a:xfrm>
          <a:prstGeom prst="rect">
            <a:avLst/>
          </a:prstGeom>
          <a:noFill/>
          <a:ln/>
        </p:spPr>
        <p:txBody>
          <a:bodyPr wrap="square" lIns="0" tIns="0" rIns="0" bIns="0" rtlCol="0" anchor="ctr"/>
          <a:lstStyle/>
          <a:p>
            <a:pPr indent="0" marL="0">
              <a:buNone/>
            </a:pPr>
            <a:r>
              <a:rPr lang="en-US" sz="1050" b="1" spc="220" kern="0" dirty="0">
                <a:solidFill>
                  <a:srgbClr val="0F6E63"/>
                </a:solidFill>
                <a:latin typeface="Calibri" pitchFamily="34" charset="0"/>
                <a:ea typeface="Calibri" pitchFamily="34" charset="-122"/>
                <a:cs typeface="Calibri" pitchFamily="34" charset="-120"/>
              </a:rPr>
              <a:t>MOTIVATION</a:t>
            </a:r>
            <a:endParaRPr lang="en-US" sz="1050" dirty="0"/>
          </a:p>
        </p:txBody>
      </p:sp>
      <p:sp>
        <p:nvSpPr>
          <p:cNvPr id="3" name="Text 1"/>
          <p:cNvSpPr txBox="1"/>
          <p:nvPr/>
        </p:nvSpPr>
        <p:spPr>
          <a:xfrm>
            <a:off x="566928" y="640080"/>
            <a:ext cx="11064240" cy="475488"/>
          </a:xfrm>
          <a:prstGeom prst="rect">
            <a:avLst/>
          </a:prstGeom>
          <a:noFill/>
          <a:ln/>
        </p:spPr>
        <p:txBody>
          <a:bodyPr wrap="square" lIns="0" tIns="0" rIns="0" bIns="0" rtlCol="0" anchor="ctr"/>
          <a:lstStyle/>
          <a:p>
            <a:pPr indent="0" marL="0">
              <a:buNone/>
            </a:pPr>
            <a:r>
              <a:rPr lang="en-US" sz="2600" dirty="0">
                <a:solidFill>
                  <a:srgbClr val="1C2530"/>
                </a:solidFill>
                <a:latin typeface="Georgia" pitchFamily="34" charset="0"/>
                <a:ea typeface="Georgia" pitchFamily="34" charset="-122"/>
                <a:cs typeface="Georgia" pitchFamily="34" charset="-120"/>
              </a:rPr>
              <a:t>Finding a crack is easy. Measuring one is not.</a:t>
            </a:r>
            <a:endParaRPr lang="en-US" sz="2600" dirty="0"/>
          </a:p>
        </p:txBody>
      </p:sp>
      <p:sp>
        <p:nvSpPr>
          <p:cNvPr id="4" name="Shape 2"/>
          <p:cNvSpPr/>
          <p:nvPr/>
        </p:nvSpPr>
        <p:spPr>
          <a:xfrm>
            <a:off x="566928" y="1207008"/>
            <a:ext cx="777240" cy="32004"/>
          </a:xfrm>
          <a:prstGeom prst="rect">
            <a:avLst/>
          </a:prstGeom>
          <a:solidFill>
            <a:srgbClr val="0F6E63"/>
          </a:solidFill>
          <a:ln w="12700">
            <a:solidFill>
              <a:srgbClr val="0F6E63"/>
            </a:solidFill>
            <a:prstDash val="solid"/>
          </a:ln>
        </p:spPr>
      </p:sp>
      <p:sp>
        <p:nvSpPr>
          <p:cNvPr id="5" name="Text 3"/>
          <p:cNvSpPr txBox="1"/>
          <p:nvPr/>
        </p:nvSpPr>
        <p:spPr>
          <a:xfrm>
            <a:off x="566928" y="1481328"/>
            <a:ext cx="10607040" cy="457200"/>
          </a:xfrm>
          <a:prstGeom prst="rect">
            <a:avLst/>
          </a:prstGeom>
          <a:noFill/>
          <a:ln/>
        </p:spPr>
        <p:txBody>
          <a:bodyPr wrap="square" lIns="0" tIns="0" rIns="0" bIns="0" rtlCol="0" anchor="ctr"/>
          <a:lstStyle/>
          <a:p>
            <a:pPr indent="0" marL="0">
              <a:lnSpc>
                <a:spcPct val="118000"/>
              </a:lnSpc>
              <a:buNone/>
            </a:pPr>
            <a:r>
              <a:rPr lang="en-US" sz="1300" dirty="0">
                <a:solidFill>
                  <a:srgbClr val="48535F"/>
                </a:solidFill>
                <a:latin typeface="Calibri" pitchFamily="34" charset="0"/>
                <a:ea typeface="Calibri" pitchFamily="34" charset="-122"/>
                <a:cs typeface="Calibri" pitchFamily="34" charset="-120"/>
              </a:rPr>
              <a:t>A structural engineer does not need to know that a wall has a crack — they can see that. They need to know whether it is wider than it was six months ago, and by how much. That is a measurement problem wearing a computer vision problem’s clothes.</a:t>
            </a:r>
            <a:endParaRPr lang="en-US" sz="1300" dirty="0"/>
          </a:p>
        </p:txBody>
      </p:sp>
      <p:sp>
        <p:nvSpPr>
          <p:cNvPr id="6" name="Shape 4"/>
          <p:cNvSpPr/>
          <p:nvPr/>
        </p:nvSpPr>
        <p:spPr>
          <a:xfrm>
            <a:off x="566928" y="2395728"/>
            <a:ext cx="2542032" cy="2011680"/>
          </a:xfrm>
          <a:prstGeom prst="roundRect">
            <a:avLst>
              <a:gd name="adj" fmla="val 2727"/>
            </a:avLst>
          </a:prstGeom>
          <a:solidFill>
            <a:srgbClr val="FFFFFF"/>
          </a:solidFill>
          <a:ln w="9525">
            <a:solidFill>
              <a:srgbClr val="DDD8D2"/>
            </a:solidFill>
            <a:prstDash val="solid"/>
          </a:ln>
        </p:spPr>
      </p:sp>
      <p:sp>
        <p:nvSpPr>
          <p:cNvPr id="7" name="Text 5"/>
          <p:cNvSpPr txBox="1"/>
          <p:nvPr/>
        </p:nvSpPr>
        <p:spPr>
          <a:xfrm>
            <a:off x="804672" y="2596896"/>
            <a:ext cx="2103120" cy="256032"/>
          </a:xfrm>
          <a:prstGeom prst="rect">
            <a:avLst/>
          </a:prstGeom>
          <a:noFill/>
          <a:ln/>
        </p:spPr>
        <p:txBody>
          <a:bodyPr wrap="square" lIns="0" tIns="0" rIns="0" bIns="0" rtlCol="0" anchor="ctr"/>
          <a:lstStyle/>
          <a:p>
            <a:pPr indent="0" marL="0">
              <a:lnSpc>
                <a:spcPct val="118000"/>
              </a:lnSpc>
              <a:buNone/>
            </a:pPr>
            <a:r>
              <a:rPr lang="en-US" sz="1900" dirty="0">
                <a:solidFill>
                  <a:srgbClr val="C3D6D2"/>
                </a:solidFill>
                <a:latin typeface="Georgia" pitchFamily="34" charset="0"/>
                <a:ea typeface="Georgia" pitchFamily="34" charset="-122"/>
                <a:cs typeface="Georgia" pitchFamily="34" charset="-120"/>
              </a:rPr>
              <a:t>01</a:t>
            </a:r>
            <a:endParaRPr lang="en-US" sz="1900" dirty="0"/>
          </a:p>
        </p:txBody>
      </p:sp>
      <p:sp>
        <p:nvSpPr>
          <p:cNvPr id="8" name="Text 6"/>
          <p:cNvSpPr txBox="1"/>
          <p:nvPr/>
        </p:nvSpPr>
        <p:spPr>
          <a:xfrm>
            <a:off x="804672" y="2596896"/>
            <a:ext cx="2103120" cy="256032"/>
          </a:xfrm>
          <a:prstGeom prst="rect">
            <a:avLst/>
          </a:prstGeom>
          <a:noFill/>
          <a:ln/>
        </p:spPr>
        <p:txBody>
          <a:bodyPr wrap="square" lIns="0" tIns="0" rIns="0" bIns="0" rtlCol="0" anchor="ctr"/>
          <a:lstStyle/>
          <a:p>
            <a:pPr algn="r" indent="0" marL="0">
              <a:lnSpc>
                <a:spcPct val="118000"/>
              </a:lnSpc>
              <a:buNone/>
            </a:pPr>
            <a:r>
              <a:rPr lang="en-US" sz="1300" b="1" dirty="0">
                <a:solidFill>
                  <a:srgbClr val="1C2530"/>
                </a:solidFill>
                <a:latin typeface="Calibri" pitchFamily="34" charset="0"/>
                <a:ea typeface="Calibri" pitchFamily="34" charset="-122"/>
                <a:cs typeface="Calibri" pitchFamily="34" charset="-120"/>
              </a:rPr>
              <a:t>Segment</a:t>
            </a:r>
            <a:endParaRPr lang="en-US" sz="1300" dirty="0"/>
          </a:p>
        </p:txBody>
      </p:sp>
      <p:sp>
        <p:nvSpPr>
          <p:cNvPr id="9" name="Text 7"/>
          <p:cNvSpPr txBox="1"/>
          <p:nvPr/>
        </p:nvSpPr>
        <p:spPr>
          <a:xfrm>
            <a:off x="804672" y="3017520"/>
            <a:ext cx="2084832" cy="1280160"/>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A network marks every pixel belonging to a crack. This is the deep learning part.</a:t>
            </a:r>
            <a:endParaRPr lang="en-US" sz="1100" dirty="0"/>
          </a:p>
        </p:txBody>
      </p:sp>
      <p:sp>
        <p:nvSpPr>
          <p:cNvPr id="10" name="Text 8"/>
          <p:cNvSpPr txBox="1"/>
          <p:nvPr/>
        </p:nvSpPr>
        <p:spPr>
          <a:xfrm>
            <a:off x="3054096" y="3273552"/>
            <a:ext cx="256032" cy="274320"/>
          </a:xfrm>
          <a:prstGeom prst="rect">
            <a:avLst/>
          </a:prstGeom>
          <a:noFill/>
          <a:ln/>
        </p:spPr>
        <p:txBody>
          <a:bodyPr wrap="square" lIns="0" tIns="0" rIns="0" bIns="0" rtlCol="0" anchor="ctr"/>
          <a:lstStyle/>
          <a:p>
            <a:pPr algn="ctr" indent="0" marL="0">
              <a:lnSpc>
                <a:spcPct val="118000"/>
              </a:lnSpc>
              <a:buNone/>
            </a:pPr>
            <a:r>
              <a:rPr lang="en-US" sz="1600" dirty="0">
                <a:solidFill>
                  <a:srgbClr val="8A949E"/>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3310128" y="2395728"/>
            <a:ext cx="2542032" cy="2011680"/>
          </a:xfrm>
          <a:prstGeom prst="roundRect">
            <a:avLst>
              <a:gd name="adj" fmla="val 2727"/>
            </a:avLst>
          </a:prstGeom>
          <a:solidFill>
            <a:srgbClr val="FFFFFF"/>
          </a:solidFill>
          <a:ln w="9525">
            <a:solidFill>
              <a:srgbClr val="DDD8D2"/>
            </a:solidFill>
            <a:prstDash val="solid"/>
          </a:ln>
        </p:spPr>
      </p:sp>
      <p:sp>
        <p:nvSpPr>
          <p:cNvPr id="12" name="Text 10"/>
          <p:cNvSpPr txBox="1"/>
          <p:nvPr/>
        </p:nvSpPr>
        <p:spPr>
          <a:xfrm>
            <a:off x="3547872" y="2596896"/>
            <a:ext cx="2103120" cy="256032"/>
          </a:xfrm>
          <a:prstGeom prst="rect">
            <a:avLst/>
          </a:prstGeom>
          <a:noFill/>
          <a:ln/>
        </p:spPr>
        <p:txBody>
          <a:bodyPr wrap="square" lIns="0" tIns="0" rIns="0" bIns="0" rtlCol="0" anchor="ctr"/>
          <a:lstStyle/>
          <a:p>
            <a:pPr indent="0" marL="0">
              <a:lnSpc>
                <a:spcPct val="118000"/>
              </a:lnSpc>
              <a:buNone/>
            </a:pPr>
            <a:r>
              <a:rPr lang="en-US" sz="1900" dirty="0">
                <a:solidFill>
                  <a:srgbClr val="C3D6D2"/>
                </a:solidFill>
                <a:latin typeface="Georgia" pitchFamily="34" charset="0"/>
                <a:ea typeface="Georgia" pitchFamily="34" charset="-122"/>
                <a:cs typeface="Georgia" pitchFamily="34" charset="-120"/>
              </a:rPr>
              <a:t>02</a:t>
            </a:r>
            <a:endParaRPr lang="en-US" sz="1900" dirty="0"/>
          </a:p>
        </p:txBody>
      </p:sp>
      <p:sp>
        <p:nvSpPr>
          <p:cNvPr id="13" name="Text 11"/>
          <p:cNvSpPr txBox="1"/>
          <p:nvPr/>
        </p:nvSpPr>
        <p:spPr>
          <a:xfrm>
            <a:off x="3547872" y="2596896"/>
            <a:ext cx="2103120" cy="256032"/>
          </a:xfrm>
          <a:prstGeom prst="rect">
            <a:avLst/>
          </a:prstGeom>
          <a:noFill/>
          <a:ln/>
        </p:spPr>
        <p:txBody>
          <a:bodyPr wrap="square" lIns="0" tIns="0" rIns="0" bIns="0" rtlCol="0" anchor="ctr"/>
          <a:lstStyle/>
          <a:p>
            <a:pPr algn="r" indent="0" marL="0">
              <a:lnSpc>
                <a:spcPct val="118000"/>
              </a:lnSpc>
              <a:buNone/>
            </a:pPr>
            <a:r>
              <a:rPr lang="en-US" sz="1300" b="1" dirty="0">
                <a:solidFill>
                  <a:srgbClr val="1C2530"/>
                </a:solidFill>
                <a:latin typeface="Calibri" pitchFamily="34" charset="0"/>
                <a:ea typeface="Calibri" pitchFamily="34" charset="-122"/>
                <a:cs typeface="Calibri" pitchFamily="34" charset="-120"/>
              </a:rPr>
              <a:t>Measure</a:t>
            </a:r>
            <a:endParaRPr lang="en-US" sz="1300" dirty="0"/>
          </a:p>
        </p:txBody>
      </p:sp>
      <p:sp>
        <p:nvSpPr>
          <p:cNvPr id="14" name="Text 12"/>
          <p:cNvSpPr txBox="1"/>
          <p:nvPr/>
        </p:nvSpPr>
        <p:spPr>
          <a:xfrm>
            <a:off x="3547872" y="3017520"/>
            <a:ext cx="2084832" cy="1280160"/>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Skeletonise the mask, apply a distance transform, and recover width in pixels.</a:t>
            </a:r>
            <a:endParaRPr lang="en-US" sz="1100" dirty="0"/>
          </a:p>
        </p:txBody>
      </p:sp>
      <p:sp>
        <p:nvSpPr>
          <p:cNvPr id="15" name="Text 13"/>
          <p:cNvSpPr txBox="1"/>
          <p:nvPr/>
        </p:nvSpPr>
        <p:spPr>
          <a:xfrm>
            <a:off x="5797296" y="3273552"/>
            <a:ext cx="256032" cy="274320"/>
          </a:xfrm>
          <a:prstGeom prst="rect">
            <a:avLst/>
          </a:prstGeom>
          <a:noFill/>
          <a:ln/>
        </p:spPr>
        <p:txBody>
          <a:bodyPr wrap="square" lIns="0" tIns="0" rIns="0" bIns="0" rtlCol="0" anchor="ctr"/>
          <a:lstStyle/>
          <a:p>
            <a:pPr algn="ctr" indent="0" marL="0">
              <a:lnSpc>
                <a:spcPct val="118000"/>
              </a:lnSpc>
              <a:buNone/>
            </a:pPr>
            <a:r>
              <a:rPr lang="en-US" sz="1600" dirty="0">
                <a:solidFill>
                  <a:srgbClr val="8A949E"/>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6053328" y="2395728"/>
            <a:ext cx="2542032" cy="2011680"/>
          </a:xfrm>
          <a:prstGeom prst="roundRect">
            <a:avLst>
              <a:gd name="adj" fmla="val 2727"/>
            </a:avLst>
          </a:prstGeom>
          <a:solidFill>
            <a:srgbClr val="FFFFFF"/>
          </a:solidFill>
          <a:ln w="9525">
            <a:solidFill>
              <a:srgbClr val="DDD8D2"/>
            </a:solidFill>
            <a:prstDash val="solid"/>
          </a:ln>
        </p:spPr>
      </p:sp>
      <p:sp>
        <p:nvSpPr>
          <p:cNvPr id="17" name="Text 15"/>
          <p:cNvSpPr txBox="1"/>
          <p:nvPr/>
        </p:nvSpPr>
        <p:spPr>
          <a:xfrm>
            <a:off x="6291072" y="2596896"/>
            <a:ext cx="2103120" cy="256032"/>
          </a:xfrm>
          <a:prstGeom prst="rect">
            <a:avLst/>
          </a:prstGeom>
          <a:noFill/>
          <a:ln/>
        </p:spPr>
        <p:txBody>
          <a:bodyPr wrap="square" lIns="0" tIns="0" rIns="0" bIns="0" rtlCol="0" anchor="ctr"/>
          <a:lstStyle/>
          <a:p>
            <a:pPr indent="0" marL="0">
              <a:lnSpc>
                <a:spcPct val="118000"/>
              </a:lnSpc>
              <a:buNone/>
            </a:pPr>
            <a:r>
              <a:rPr lang="en-US" sz="1900" dirty="0">
                <a:solidFill>
                  <a:srgbClr val="C3D6D2"/>
                </a:solidFill>
                <a:latin typeface="Georgia" pitchFamily="34" charset="0"/>
                <a:ea typeface="Georgia" pitchFamily="34" charset="-122"/>
                <a:cs typeface="Georgia" pitchFamily="34" charset="-120"/>
              </a:rPr>
              <a:t>03</a:t>
            </a:r>
            <a:endParaRPr lang="en-US" sz="1900" dirty="0"/>
          </a:p>
        </p:txBody>
      </p:sp>
      <p:sp>
        <p:nvSpPr>
          <p:cNvPr id="18" name="Text 16"/>
          <p:cNvSpPr txBox="1"/>
          <p:nvPr/>
        </p:nvSpPr>
        <p:spPr>
          <a:xfrm>
            <a:off x="6291072" y="2596896"/>
            <a:ext cx="2103120" cy="256032"/>
          </a:xfrm>
          <a:prstGeom prst="rect">
            <a:avLst/>
          </a:prstGeom>
          <a:noFill/>
          <a:ln/>
        </p:spPr>
        <p:txBody>
          <a:bodyPr wrap="square" lIns="0" tIns="0" rIns="0" bIns="0" rtlCol="0" anchor="ctr"/>
          <a:lstStyle/>
          <a:p>
            <a:pPr algn="r" indent="0" marL="0">
              <a:lnSpc>
                <a:spcPct val="118000"/>
              </a:lnSpc>
              <a:buNone/>
            </a:pPr>
            <a:r>
              <a:rPr lang="en-US" sz="1300" b="1" dirty="0">
                <a:solidFill>
                  <a:srgbClr val="1C2530"/>
                </a:solidFill>
                <a:latin typeface="Calibri" pitchFamily="34" charset="0"/>
                <a:ea typeface="Calibri" pitchFamily="34" charset="-122"/>
                <a:cs typeface="Calibri" pitchFamily="34" charset="-120"/>
              </a:rPr>
              <a:t>Scale</a:t>
            </a:r>
            <a:endParaRPr lang="en-US" sz="1300" dirty="0"/>
          </a:p>
        </p:txBody>
      </p:sp>
      <p:sp>
        <p:nvSpPr>
          <p:cNvPr id="19" name="Text 17"/>
          <p:cNvSpPr txBox="1"/>
          <p:nvPr/>
        </p:nvSpPr>
        <p:spPr>
          <a:xfrm>
            <a:off x="6291072" y="3017520"/>
            <a:ext cx="2084832" cy="1280160"/>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A surveyed reference in the photograph converts pixels to millimetres.</a:t>
            </a:r>
            <a:endParaRPr lang="en-US" sz="1100" dirty="0"/>
          </a:p>
        </p:txBody>
      </p:sp>
      <p:sp>
        <p:nvSpPr>
          <p:cNvPr id="20" name="Text 18"/>
          <p:cNvSpPr txBox="1"/>
          <p:nvPr/>
        </p:nvSpPr>
        <p:spPr>
          <a:xfrm>
            <a:off x="8540496" y="3273552"/>
            <a:ext cx="256032" cy="274320"/>
          </a:xfrm>
          <a:prstGeom prst="rect">
            <a:avLst/>
          </a:prstGeom>
          <a:noFill/>
          <a:ln/>
        </p:spPr>
        <p:txBody>
          <a:bodyPr wrap="square" lIns="0" tIns="0" rIns="0" bIns="0" rtlCol="0" anchor="ctr"/>
          <a:lstStyle/>
          <a:p>
            <a:pPr algn="ctr" indent="0" marL="0">
              <a:lnSpc>
                <a:spcPct val="118000"/>
              </a:lnSpc>
              <a:buNone/>
            </a:pPr>
            <a:r>
              <a:rPr lang="en-US" sz="1600" dirty="0">
                <a:solidFill>
                  <a:srgbClr val="8A949E"/>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8796528" y="2395728"/>
            <a:ext cx="2542032" cy="2011680"/>
          </a:xfrm>
          <a:prstGeom prst="roundRect">
            <a:avLst>
              <a:gd name="adj" fmla="val 2727"/>
            </a:avLst>
          </a:prstGeom>
          <a:solidFill>
            <a:srgbClr val="FFFFFF"/>
          </a:solidFill>
          <a:ln w="9525">
            <a:solidFill>
              <a:srgbClr val="DDD8D2"/>
            </a:solidFill>
            <a:prstDash val="solid"/>
          </a:ln>
        </p:spPr>
      </p:sp>
      <p:sp>
        <p:nvSpPr>
          <p:cNvPr id="22" name="Text 20"/>
          <p:cNvSpPr txBox="1"/>
          <p:nvPr/>
        </p:nvSpPr>
        <p:spPr>
          <a:xfrm>
            <a:off x="9034272" y="2596896"/>
            <a:ext cx="2103120" cy="256032"/>
          </a:xfrm>
          <a:prstGeom prst="rect">
            <a:avLst/>
          </a:prstGeom>
          <a:noFill/>
          <a:ln/>
        </p:spPr>
        <p:txBody>
          <a:bodyPr wrap="square" lIns="0" tIns="0" rIns="0" bIns="0" rtlCol="0" anchor="ctr"/>
          <a:lstStyle/>
          <a:p>
            <a:pPr indent="0" marL="0">
              <a:lnSpc>
                <a:spcPct val="118000"/>
              </a:lnSpc>
              <a:buNone/>
            </a:pPr>
            <a:r>
              <a:rPr lang="en-US" sz="1900" dirty="0">
                <a:solidFill>
                  <a:srgbClr val="C3D6D2"/>
                </a:solidFill>
                <a:latin typeface="Georgia" pitchFamily="34" charset="0"/>
                <a:ea typeface="Georgia" pitchFamily="34" charset="-122"/>
                <a:cs typeface="Georgia" pitchFamily="34" charset="-120"/>
              </a:rPr>
              <a:t>04</a:t>
            </a:r>
            <a:endParaRPr lang="en-US" sz="1900" dirty="0"/>
          </a:p>
        </p:txBody>
      </p:sp>
      <p:sp>
        <p:nvSpPr>
          <p:cNvPr id="23" name="Text 21"/>
          <p:cNvSpPr txBox="1"/>
          <p:nvPr/>
        </p:nvSpPr>
        <p:spPr>
          <a:xfrm>
            <a:off x="9034272" y="2596896"/>
            <a:ext cx="2103120" cy="256032"/>
          </a:xfrm>
          <a:prstGeom prst="rect">
            <a:avLst/>
          </a:prstGeom>
          <a:noFill/>
          <a:ln/>
        </p:spPr>
        <p:txBody>
          <a:bodyPr wrap="square" lIns="0" tIns="0" rIns="0" bIns="0" rtlCol="0" anchor="ctr"/>
          <a:lstStyle/>
          <a:p>
            <a:pPr algn="r" indent="0" marL="0">
              <a:lnSpc>
                <a:spcPct val="118000"/>
              </a:lnSpc>
              <a:buNone/>
            </a:pPr>
            <a:r>
              <a:rPr lang="en-US" sz="1300" b="1" dirty="0">
                <a:solidFill>
                  <a:srgbClr val="1C2530"/>
                </a:solidFill>
                <a:latin typeface="Calibri" pitchFamily="34" charset="0"/>
                <a:ea typeface="Calibri" pitchFamily="34" charset="-122"/>
                <a:cs typeface="Calibri" pitchFamily="34" charset="-120"/>
              </a:rPr>
              <a:t>Compare</a:t>
            </a:r>
            <a:endParaRPr lang="en-US" sz="1300" dirty="0"/>
          </a:p>
        </p:txBody>
      </p:sp>
      <p:sp>
        <p:nvSpPr>
          <p:cNvPr id="24" name="Text 22"/>
          <p:cNvSpPr txBox="1"/>
          <p:nvPr/>
        </p:nvSpPr>
        <p:spPr>
          <a:xfrm>
            <a:off x="9034272" y="3017520"/>
            <a:ext cx="2084832" cy="1280160"/>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Two aligned captures months apart give the change that actually matters.</a:t>
            </a:r>
            <a:endParaRPr lang="en-US" sz="1100" dirty="0"/>
          </a:p>
        </p:txBody>
      </p:sp>
      <p:sp>
        <p:nvSpPr>
          <p:cNvPr id="25" name="Shape 23"/>
          <p:cNvSpPr/>
          <p:nvPr/>
        </p:nvSpPr>
        <p:spPr>
          <a:xfrm>
            <a:off x="566928" y="4663440"/>
            <a:ext cx="10753344" cy="1005840"/>
          </a:xfrm>
          <a:prstGeom prst="roundRect">
            <a:avLst>
              <a:gd name="adj" fmla="val 5455"/>
            </a:avLst>
          </a:prstGeom>
          <a:solidFill>
            <a:srgbClr val="E6F0EE"/>
          </a:solidFill>
          <a:ln w="9525">
            <a:solidFill>
              <a:srgbClr val="BCD3CF"/>
            </a:solidFill>
            <a:prstDash val="solid"/>
          </a:ln>
        </p:spPr>
      </p:sp>
      <p:sp>
        <p:nvSpPr>
          <p:cNvPr id="26" name="Text 24"/>
          <p:cNvSpPr txBox="1"/>
          <p:nvPr/>
        </p:nvSpPr>
        <p:spPr>
          <a:xfrm>
            <a:off x="841248" y="4882896"/>
            <a:ext cx="10241280" cy="640080"/>
          </a:xfrm>
          <a:prstGeom prst="rect">
            <a:avLst/>
          </a:prstGeom>
          <a:noFill/>
          <a:ln/>
        </p:spPr>
        <p:txBody>
          <a:bodyPr wrap="square" lIns="0" tIns="0" rIns="0" bIns="0" rtlCol="0" anchor="ctr"/>
          <a:lstStyle/>
          <a:p>
            <a:pPr indent="0" marL="0">
              <a:lnSpc>
                <a:spcPct val="118000"/>
              </a:lnSpc>
              <a:buNone/>
            </a:pPr>
            <a:r>
              <a:rPr lang="en-US" sz="1250" b="1" dirty="0">
                <a:solidFill>
                  <a:srgbClr val="1C2530"/>
                </a:solidFill>
                <a:latin typeface="Calibri" pitchFamily="34" charset="0"/>
                <a:ea typeface="Calibri" pitchFamily="34" charset="-122"/>
                <a:cs typeface="Calibri" pitchFamily="34" charset="-120"/>
              </a:rPr>
              <a:t>Segmentation alone is not measurement.  </a:t>
            </a:r>
            <a:pPr indent="0" marL="0">
              <a:lnSpc>
                <a:spcPct val="118000"/>
              </a:lnSpc>
              <a:buNone/>
            </a:pPr>
            <a:r>
              <a:rPr lang="en-US" sz="1250" dirty="0">
                <a:solidFill>
                  <a:srgbClr val="48535F"/>
                </a:solidFill>
                <a:latin typeface="Calibri" pitchFamily="34" charset="0"/>
                <a:ea typeface="Calibri" pitchFamily="34" charset="-122"/>
                <a:cs typeface="Calibri" pitchFamily="34" charset="-120"/>
              </a:rPr>
              <a:t>A mask says which pixels. It does not say how wide, and it cannot say how much has changed. Steps 02 to 04 are what turn a vision model into an instrument.</a:t>
            </a:r>
            <a:endParaRPr lang="en-US" sz="1200" dirty="0"/>
          </a:p>
        </p:txBody>
      </p:sp>
      <p:sp>
        <p:nvSpPr>
          <p:cNvPr id="27" name="Text 25"/>
          <p:cNvSpPr txBox="1"/>
          <p:nvPr/>
        </p:nvSpPr>
        <p:spPr>
          <a:xfrm>
            <a:off x="566928" y="6419088"/>
            <a:ext cx="7315200" cy="201168"/>
          </a:xfrm>
          <a:prstGeom prst="rect">
            <a:avLst/>
          </a:prstGeom>
          <a:noFill/>
          <a:ln/>
        </p:spPr>
        <p:txBody>
          <a:bodyPr wrap="square" lIns="0" tIns="0" rIns="0" bIns="0" rtlCol="0" anchor="ctr"/>
          <a:lstStyle/>
          <a:p>
            <a:pPr indent="0" marL="0">
              <a:buNone/>
            </a:pPr>
            <a:r>
              <a:rPr lang="en-US" sz="900" dirty="0">
                <a:solidFill>
                  <a:srgbClr val="8A949E"/>
                </a:solidFill>
                <a:latin typeface="Calibri" pitchFamily="34" charset="0"/>
                <a:ea typeface="Calibri" pitchFamily="34" charset="-122"/>
                <a:cs typeface="Calibri" pitchFamily="34" charset="-120"/>
              </a:rPr>
              <a:t>Crack Segmentation for Structural Monitoring</a:t>
            </a:r>
            <a:endParaRPr lang="en-US" sz="900" dirty="0"/>
          </a:p>
        </p:txBody>
      </p:sp>
      <p:sp>
        <p:nvSpPr>
          <p:cNvPr id="28" name="Text 26"/>
          <p:cNvSpPr txBox="1"/>
          <p:nvPr/>
        </p:nvSpPr>
        <p:spPr>
          <a:xfrm>
            <a:off x="11064240" y="6419088"/>
            <a:ext cx="548640" cy="201168"/>
          </a:xfrm>
          <a:prstGeom prst="rect">
            <a:avLst/>
          </a:prstGeom>
          <a:noFill/>
          <a:ln/>
        </p:spPr>
        <p:txBody>
          <a:bodyPr wrap="square" lIns="0" tIns="0" rIns="0" bIns="0" rtlCol="0" anchor="ctr"/>
          <a:lstStyle/>
          <a:p>
            <a:pPr algn="r" indent="0" marL="0">
              <a:buNone/>
            </a:pPr>
            <a:r>
              <a:rPr lang="en-US" sz="900" dirty="0">
                <a:solidFill>
                  <a:srgbClr val="8A949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8"/>
        </a:solidFill>
      </p:bgPr>
    </p:bg>
    <p:spTree>
      <p:nvGrpSpPr>
        <p:cNvPr id="1" name=""/>
        <p:cNvGrpSpPr/>
        <p:nvPr/>
      </p:nvGrpSpPr>
      <p:grpSpPr>
        <a:xfrm>
          <a:off x="0" y="0"/>
          <a:ext cx="0" cy="0"/>
          <a:chOff x="0" y="0"/>
          <a:chExt cx="0" cy="0"/>
        </a:xfrm>
      </p:grpSpPr>
      <p:sp>
        <p:nvSpPr>
          <p:cNvPr id="2" name="Text 0"/>
          <p:cNvSpPr txBox="1"/>
          <p:nvPr/>
        </p:nvSpPr>
        <p:spPr>
          <a:xfrm>
            <a:off x="566928" y="384048"/>
            <a:ext cx="11064240" cy="219456"/>
          </a:xfrm>
          <a:prstGeom prst="rect">
            <a:avLst/>
          </a:prstGeom>
          <a:noFill/>
          <a:ln/>
        </p:spPr>
        <p:txBody>
          <a:bodyPr wrap="square" lIns="0" tIns="0" rIns="0" bIns="0" rtlCol="0" anchor="ctr"/>
          <a:lstStyle/>
          <a:p>
            <a:pPr indent="0" marL="0">
              <a:buNone/>
            </a:pPr>
            <a:r>
              <a:rPr lang="en-US" sz="1050" b="1" spc="220" kern="0" dirty="0">
                <a:solidFill>
                  <a:srgbClr val="0F6E63"/>
                </a:solidFill>
                <a:latin typeface="Calibri" pitchFamily="34" charset="0"/>
                <a:ea typeface="Calibri" pitchFamily="34" charset="-122"/>
                <a:cs typeface="Calibri" pitchFamily="34" charset="-120"/>
              </a:rPr>
              <a:t>THE CENTRAL DIFFICULTY</a:t>
            </a:r>
            <a:endParaRPr lang="en-US" sz="1050" dirty="0"/>
          </a:p>
        </p:txBody>
      </p:sp>
      <p:sp>
        <p:nvSpPr>
          <p:cNvPr id="3" name="Text 1"/>
          <p:cNvSpPr txBox="1"/>
          <p:nvPr/>
        </p:nvSpPr>
        <p:spPr>
          <a:xfrm>
            <a:off x="566928" y="640080"/>
            <a:ext cx="11064240" cy="475488"/>
          </a:xfrm>
          <a:prstGeom prst="rect">
            <a:avLst/>
          </a:prstGeom>
          <a:noFill/>
          <a:ln/>
        </p:spPr>
        <p:txBody>
          <a:bodyPr wrap="square" lIns="0" tIns="0" rIns="0" bIns="0" rtlCol="0" anchor="ctr"/>
          <a:lstStyle/>
          <a:p>
            <a:pPr indent="0" marL="0">
              <a:buNone/>
            </a:pPr>
            <a:r>
              <a:rPr lang="en-US" sz="2600" dirty="0">
                <a:solidFill>
                  <a:srgbClr val="1C2530"/>
                </a:solidFill>
                <a:latin typeface="Georgia" pitchFamily="34" charset="0"/>
                <a:ea typeface="Georgia" pitchFamily="34" charset="-122"/>
                <a:cs typeface="Georgia" pitchFamily="34" charset="-120"/>
              </a:rPr>
              <a:t>Cracks are 2 to 3% of the image</a:t>
            </a:r>
            <a:endParaRPr lang="en-US" sz="2600" dirty="0"/>
          </a:p>
        </p:txBody>
      </p:sp>
      <p:sp>
        <p:nvSpPr>
          <p:cNvPr id="4" name="Shape 2"/>
          <p:cNvSpPr/>
          <p:nvPr/>
        </p:nvSpPr>
        <p:spPr>
          <a:xfrm>
            <a:off x="566928" y="1207008"/>
            <a:ext cx="777240" cy="32004"/>
          </a:xfrm>
          <a:prstGeom prst="rect">
            <a:avLst/>
          </a:prstGeom>
          <a:solidFill>
            <a:srgbClr val="0F6E63"/>
          </a:solidFill>
          <a:ln w="12700">
            <a:solidFill>
              <a:srgbClr val="0F6E63"/>
            </a:solidFill>
            <a:prstDash val="solid"/>
          </a:ln>
        </p:spPr>
      </p:sp>
      <p:sp>
        <p:nvSpPr>
          <p:cNvPr id="5" name="Text 3"/>
          <p:cNvSpPr txBox="1"/>
          <p:nvPr/>
        </p:nvSpPr>
        <p:spPr>
          <a:xfrm>
            <a:off x="566928" y="1481328"/>
            <a:ext cx="10607040" cy="384048"/>
          </a:xfrm>
          <a:prstGeom prst="rect">
            <a:avLst/>
          </a:prstGeom>
          <a:noFill/>
          <a:ln/>
        </p:spPr>
        <p:txBody>
          <a:bodyPr wrap="square" lIns="0" tIns="0" rIns="0" bIns="0" rtlCol="0" anchor="ctr"/>
          <a:lstStyle/>
          <a:p>
            <a:pPr indent="0" marL="0">
              <a:lnSpc>
                <a:spcPct val="118000"/>
              </a:lnSpc>
              <a:buNone/>
            </a:pPr>
            <a:r>
              <a:rPr lang="en-US" sz="1300" dirty="0">
                <a:solidFill>
                  <a:srgbClr val="48535F"/>
                </a:solidFill>
                <a:latin typeface="Calibri" pitchFamily="34" charset="0"/>
                <a:ea typeface="Calibri" pitchFamily="34" charset="-122"/>
                <a:cs typeface="Calibri" pitchFamily="34" charset="-120"/>
              </a:rPr>
              <a:t>A model that predicts “no crack” everywhere scores roughly 97% pixel accuracy. The loss looks excellent and the model is useless. Almost every design decision in this project follows from that one fact.</a:t>
            </a:r>
            <a:endParaRPr lang="en-US" sz="1300" dirty="0"/>
          </a:p>
        </p:txBody>
      </p:sp>
      <p:sp>
        <p:nvSpPr>
          <p:cNvPr id="6" name="Shape 4"/>
          <p:cNvSpPr/>
          <p:nvPr/>
        </p:nvSpPr>
        <p:spPr>
          <a:xfrm>
            <a:off x="566928" y="2066544"/>
            <a:ext cx="5715000" cy="3602736"/>
          </a:xfrm>
          <a:prstGeom prst="roundRect">
            <a:avLst>
              <a:gd name="adj" fmla="val 1523"/>
            </a:avLst>
          </a:prstGeom>
          <a:solidFill>
            <a:srgbClr val="FFFFFF"/>
          </a:solidFill>
          <a:ln w="9525">
            <a:solidFill>
              <a:srgbClr val="DDD8D2"/>
            </a:solidFill>
            <a:prstDash val="solid"/>
          </a:ln>
        </p:spPr>
      </p:sp>
      <p:sp>
        <p:nvSpPr>
          <p:cNvPr id="7" name="Text 5"/>
          <p:cNvSpPr txBox="1"/>
          <p:nvPr/>
        </p:nvSpPr>
        <p:spPr>
          <a:xfrm>
            <a:off x="868680" y="2249424"/>
            <a:ext cx="5120640" cy="274320"/>
          </a:xfrm>
          <a:prstGeom prst="rect">
            <a:avLst/>
          </a:prstGeom>
          <a:noFill/>
          <a:ln/>
        </p:spPr>
        <p:txBody>
          <a:bodyPr wrap="square" lIns="0" tIns="0" rIns="0" bIns="0" rtlCol="0" anchor="ctr"/>
          <a:lstStyle/>
          <a:p>
            <a:pPr indent="0" marL="0">
              <a:lnSpc>
                <a:spcPct val="118000"/>
              </a:lnSpc>
              <a:buNone/>
            </a:pPr>
            <a:r>
              <a:rPr lang="en-US" sz="1050" b="1" spc="140" kern="0" dirty="0">
                <a:solidFill>
                  <a:srgbClr val="0F6E63"/>
                </a:solidFill>
                <a:latin typeface="Calibri" pitchFamily="34" charset="0"/>
                <a:ea typeface="Calibri" pitchFamily="34" charset="-122"/>
                <a:cs typeface="Calibri" pitchFamily="34" charset="-120"/>
              </a:rPr>
              <a:t>LOSS ON A DO-NOTHING MODEL</a:t>
            </a:r>
            <a:endParaRPr lang="en-US" sz="1050" dirty="0"/>
          </a:p>
        </p:txBody>
      </p:sp>
      <p:sp>
        <p:nvSpPr>
          <p:cNvPr id="8" name="Text 6"/>
          <p:cNvSpPr txBox="1"/>
          <p:nvPr/>
        </p:nvSpPr>
        <p:spPr>
          <a:xfrm>
            <a:off x="868680" y="2523744"/>
            <a:ext cx="5120640" cy="256032"/>
          </a:xfrm>
          <a:prstGeom prst="rect">
            <a:avLst/>
          </a:prstGeom>
          <a:noFill/>
          <a:ln/>
        </p:spPr>
        <p:txBody>
          <a:bodyPr wrap="square" lIns="0" tIns="0" rIns="0" bIns="0" rtlCol="0" anchor="ctr"/>
          <a:lstStyle/>
          <a:p>
            <a:pPr indent="0" marL="0">
              <a:lnSpc>
                <a:spcPct val="118000"/>
              </a:lnSpc>
              <a:buNone/>
            </a:pPr>
            <a:r>
              <a:rPr lang="en-US" sz="1000" i="1" dirty="0">
                <a:solidFill>
                  <a:srgbClr val="8A949E"/>
                </a:solidFill>
                <a:latin typeface="Calibri" pitchFamily="34" charset="0"/>
                <a:ea typeface="Calibri" pitchFamily="34" charset="-122"/>
                <a:cs typeface="Calibri" pitchFamily="34" charset="-120"/>
              </a:rPr>
              <a:t>Measured, not asserted — run python src/losses.py</a:t>
            </a:r>
            <a:endParaRPr lang="en-US" sz="1000" dirty="0"/>
          </a:p>
        </p:txBody>
      </p:sp>
      <p:sp>
        <p:nvSpPr>
          <p:cNvPr id="9" name="Text 7"/>
          <p:cNvSpPr txBox="1"/>
          <p:nvPr/>
        </p:nvSpPr>
        <p:spPr>
          <a:xfrm>
            <a:off x="960120" y="3017520"/>
            <a:ext cx="3291840" cy="256032"/>
          </a:xfrm>
          <a:prstGeom prst="rect">
            <a:avLst/>
          </a:prstGeom>
          <a:noFill/>
          <a:ln/>
        </p:spPr>
        <p:txBody>
          <a:bodyPr wrap="square" lIns="0" tIns="0" rIns="0" bIns="0" rtlCol="0" anchor="ctr"/>
          <a:lstStyle/>
          <a:p>
            <a:pPr indent="0" marL="0">
              <a:lnSpc>
                <a:spcPct val="118000"/>
              </a:lnSpc>
              <a:buNone/>
            </a:pPr>
            <a:r>
              <a:rPr lang="en-US" sz="1150" dirty="0">
                <a:solidFill>
                  <a:srgbClr val="48535F"/>
                </a:solidFill>
                <a:latin typeface="Calibri" pitchFamily="34" charset="0"/>
                <a:ea typeface="Calibri" pitchFamily="34" charset="-122"/>
                <a:cs typeface="Calibri" pitchFamily="34" charset="-120"/>
              </a:rPr>
              <a:t>Binary cross-entropy</a:t>
            </a:r>
            <a:endParaRPr lang="en-US" sz="1150" dirty="0"/>
          </a:p>
        </p:txBody>
      </p:sp>
      <p:sp>
        <p:nvSpPr>
          <p:cNvPr id="10" name="Text 8"/>
          <p:cNvSpPr txBox="1"/>
          <p:nvPr/>
        </p:nvSpPr>
        <p:spPr>
          <a:xfrm>
            <a:off x="4297680" y="3017520"/>
            <a:ext cx="1554480" cy="256032"/>
          </a:xfrm>
          <a:prstGeom prst="rect">
            <a:avLst/>
          </a:prstGeom>
          <a:noFill/>
          <a:ln/>
        </p:spPr>
        <p:txBody>
          <a:bodyPr wrap="square" lIns="0" tIns="0" rIns="0" bIns="0" rtlCol="0" anchor="ctr"/>
          <a:lstStyle/>
          <a:p>
            <a:pPr algn="r" indent="0" marL="0">
              <a:lnSpc>
                <a:spcPct val="118000"/>
              </a:lnSpc>
              <a:buNone/>
            </a:pPr>
            <a:r>
              <a:rPr lang="en-US" sz="1150" b="1" dirty="0">
                <a:solidFill>
                  <a:srgbClr val="8A949E"/>
                </a:solidFill>
                <a:latin typeface="Calibri" pitchFamily="34" charset="0"/>
                <a:ea typeface="Calibri" pitchFamily="34" charset="-122"/>
                <a:cs typeface="Calibri" pitchFamily="34" charset="-120"/>
              </a:rPr>
              <a:t>0.31</a:t>
            </a:r>
            <a:endParaRPr lang="en-US" sz="1150" dirty="0"/>
          </a:p>
        </p:txBody>
      </p:sp>
      <p:sp>
        <p:nvSpPr>
          <p:cNvPr id="11" name="Text 9"/>
          <p:cNvSpPr txBox="1"/>
          <p:nvPr/>
        </p:nvSpPr>
        <p:spPr>
          <a:xfrm>
            <a:off x="960120" y="3419856"/>
            <a:ext cx="3291840" cy="256032"/>
          </a:xfrm>
          <a:prstGeom prst="rect">
            <a:avLst/>
          </a:prstGeom>
          <a:noFill/>
          <a:ln/>
        </p:spPr>
        <p:txBody>
          <a:bodyPr wrap="square" lIns="0" tIns="0" rIns="0" bIns="0" rtlCol="0" anchor="ctr"/>
          <a:lstStyle/>
          <a:p>
            <a:pPr indent="0" marL="0">
              <a:lnSpc>
                <a:spcPct val="118000"/>
              </a:lnSpc>
              <a:buNone/>
            </a:pPr>
            <a:r>
              <a:rPr lang="en-US" sz="1150" dirty="0">
                <a:solidFill>
                  <a:srgbClr val="48535F"/>
                </a:solidFill>
                <a:latin typeface="Calibri" pitchFamily="34" charset="0"/>
                <a:ea typeface="Calibri" pitchFamily="34" charset="-122"/>
                <a:cs typeface="Calibri" pitchFamily="34" charset="-120"/>
              </a:rPr>
              <a:t>Focal</a:t>
            </a:r>
            <a:endParaRPr lang="en-US" sz="1150" dirty="0"/>
          </a:p>
        </p:txBody>
      </p:sp>
      <p:sp>
        <p:nvSpPr>
          <p:cNvPr id="12" name="Text 10"/>
          <p:cNvSpPr txBox="1"/>
          <p:nvPr/>
        </p:nvSpPr>
        <p:spPr>
          <a:xfrm>
            <a:off x="4297680" y="3419856"/>
            <a:ext cx="1554480" cy="256032"/>
          </a:xfrm>
          <a:prstGeom prst="rect">
            <a:avLst/>
          </a:prstGeom>
          <a:noFill/>
          <a:ln/>
        </p:spPr>
        <p:txBody>
          <a:bodyPr wrap="square" lIns="0" tIns="0" rIns="0" bIns="0" rtlCol="0" anchor="ctr"/>
          <a:lstStyle/>
          <a:p>
            <a:pPr algn="r" indent="0" marL="0">
              <a:lnSpc>
                <a:spcPct val="118000"/>
              </a:lnSpc>
              <a:buNone/>
            </a:pPr>
            <a:r>
              <a:rPr lang="en-US" sz="1150" b="1" dirty="0">
                <a:solidFill>
                  <a:srgbClr val="8A949E"/>
                </a:solidFill>
                <a:latin typeface="Calibri" pitchFamily="34" charset="0"/>
                <a:ea typeface="Calibri" pitchFamily="34" charset="-122"/>
                <a:cs typeface="Calibri" pitchFamily="34" charset="-120"/>
              </a:rPr>
              <a:t>0.23</a:t>
            </a:r>
            <a:endParaRPr lang="en-US" sz="1150" dirty="0"/>
          </a:p>
        </p:txBody>
      </p:sp>
      <p:sp>
        <p:nvSpPr>
          <p:cNvPr id="13" name="Text 11"/>
          <p:cNvSpPr txBox="1"/>
          <p:nvPr/>
        </p:nvSpPr>
        <p:spPr>
          <a:xfrm>
            <a:off x="960120" y="3822192"/>
            <a:ext cx="3291840" cy="256032"/>
          </a:xfrm>
          <a:prstGeom prst="rect">
            <a:avLst/>
          </a:prstGeom>
          <a:noFill/>
          <a:ln/>
        </p:spPr>
        <p:txBody>
          <a:bodyPr wrap="square" lIns="0" tIns="0" rIns="0" bIns="0" rtlCol="0" anchor="ctr"/>
          <a:lstStyle/>
          <a:p>
            <a:pPr indent="0" marL="0">
              <a:lnSpc>
                <a:spcPct val="118000"/>
              </a:lnSpc>
              <a:buNone/>
            </a:pPr>
            <a:r>
              <a:rPr lang="en-US" sz="1150" dirty="0">
                <a:solidFill>
                  <a:srgbClr val="48535F"/>
                </a:solidFill>
                <a:latin typeface="Calibri" pitchFamily="34" charset="0"/>
                <a:ea typeface="Calibri" pitchFamily="34" charset="-122"/>
                <a:cs typeface="Calibri" pitchFamily="34" charset="-120"/>
              </a:rPr>
              <a:t>BCE + Dice</a:t>
            </a:r>
            <a:endParaRPr lang="en-US" sz="1150" dirty="0"/>
          </a:p>
        </p:txBody>
      </p:sp>
      <p:sp>
        <p:nvSpPr>
          <p:cNvPr id="14" name="Text 12"/>
          <p:cNvSpPr txBox="1"/>
          <p:nvPr/>
        </p:nvSpPr>
        <p:spPr>
          <a:xfrm>
            <a:off x="4297680" y="3822192"/>
            <a:ext cx="1554480" cy="256032"/>
          </a:xfrm>
          <a:prstGeom prst="rect">
            <a:avLst/>
          </a:prstGeom>
          <a:noFill/>
          <a:ln/>
        </p:spPr>
        <p:txBody>
          <a:bodyPr wrap="square" lIns="0" tIns="0" rIns="0" bIns="0" rtlCol="0" anchor="ctr"/>
          <a:lstStyle/>
          <a:p>
            <a:pPr algn="r" indent="0" marL="0">
              <a:lnSpc>
                <a:spcPct val="118000"/>
              </a:lnSpc>
              <a:buNone/>
            </a:pPr>
            <a:r>
              <a:rPr lang="en-US" sz="1150" b="1" dirty="0">
                <a:solidFill>
                  <a:srgbClr val="8A949E"/>
                </a:solidFill>
                <a:latin typeface="Calibri" pitchFamily="34" charset="0"/>
                <a:ea typeface="Calibri" pitchFamily="34" charset="-122"/>
                <a:cs typeface="Calibri" pitchFamily="34" charset="-120"/>
              </a:rPr>
              <a:t>0.65</a:t>
            </a:r>
            <a:endParaRPr lang="en-US" sz="1150" dirty="0"/>
          </a:p>
        </p:txBody>
      </p:sp>
      <p:sp>
        <p:nvSpPr>
          <p:cNvPr id="15" name="Shape 13"/>
          <p:cNvSpPr/>
          <p:nvPr/>
        </p:nvSpPr>
        <p:spPr>
          <a:xfrm>
            <a:off x="868680" y="4187952"/>
            <a:ext cx="5120640" cy="292608"/>
          </a:xfrm>
          <a:prstGeom prst="rect">
            <a:avLst/>
          </a:prstGeom>
          <a:solidFill>
            <a:srgbClr val="E6F0EE"/>
          </a:solidFill>
          <a:ln w="12700">
            <a:solidFill>
              <a:srgbClr val="E6F0EE"/>
            </a:solidFill>
            <a:prstDash val="solid"/>
          </a:ln>
        </p:spPr>
      </p:sp>
      <p:sp>
        <p:nvSpPr>
          <p:cNvPr id="16" name="Text 14"/>
          <p:cNvSpPr txBox="1"/>
          <p:nvPr/>
        </p:nvSpPr>
        <p:spPr>
          <a:xfrm>
            <a:off x="960120" y="4224528"/>
            <a:ext cx="3291840" cy="256032"/>
          </a:xfrm>
          <a:prstGeom prst="rect">
            <a:avLst/>
          </a:prstGeom>
          <a:noFill/>
          <a:ln/>
        </p:spPr>
        <p:txBody>
          <a:bodyPr wrap="square" lIns="0" tIns="0" rIns="0" bIns="0" rtlCol="0" anchor="ctr"/>
          <a:lstStyle/>
          <a:p>
            <a:pPr indent="0" marL="0">
              <a:lnSpc>
                <a:spcPct val="118000"/>
              </a:lnSpc>
              <a:buNone/>
            </a:pPr>
            <a:r>
              <a:rPr lang="en-US" sz="1150" dirty="0">
                <a:solidFill>
                  <a:srgbClr val="1C2530"/>
                </a:solidFill>
                <a:latin typeface="Calibri" pitchFamily="34" charset="0"/>
                <a:ea typeface="Calibri" pitchFamily="34" charset="-122"/>
                <a:cs typeface="Calibri" pitchFamily="34" charset="-120"/>
              </a:rPr>
              <a:t>Tversky</a:t>
            </a:r>
            <a:endParaRPr lang="en-US" sz="1150" dirty="0"/>
          </a:p>
        </p:txBody>
      </p:sp>
      <p:sp>
        <p:nvSpPr>
          <p:cNvPr id="17" name="Text 15"/>
          <p:cNvSpPr txBox="1"/>
          <p:nvPr/>
        </p:nvSpPr>
        <p:spPr>
          <a:xfrm>
            <a:off x="4297680" y="4224528"/>
            <a:ext cx="1554480" cy="256032"/>
          </a:xfrm>
          <a:prstGeom prst="rect">
            <a:avLst/>
          </a:prstGeom>
          <a:noFill/>
          <a:ln/>
        </p:spPr>
        <p:txBody>
          <a:bodyPr wrap="square" lIns="0" tIns="0" rIns="0" bIns="0" rtlCol="0" anchor="ctr"/>
          <a:lstStyle/>
          <a:p>
            <a:pPr algn="r" indent="0" marL="0">
              <a:lnSpc>
                <a:spcPct val="118000"/>
              </a:lnSpc>
              <a:buNone/>
            </a:pPr>
            <a:r>
              <a:rPr lang="en-US" sz="1150" b="1" dirty="0">
                <a:solidFill>
                  <a:srgbClr val="0F6E63"/>
                </a:solidFill>
                <a:latin typeface="Calibri" pitchFamily="34" charset="0"/>
                <a:ea typeface="Calibri" pitchFamily="34" charset="-122"/>
                <a:cs typeface="Calibri" pitchFamily="34" charset="-120"/>
              </a:rPr>
              <a:t>0.99</a:t>
            </a:r>
            <a:endParaRPr lang="en-US" sz="1150" dirty="0"/>
          </a:p>
        </p:txBody>
      </p:sp>
      <p:sp>
        <p:nvSpPr>
          <p:cNvPr id="18" name="Shape 16"/>
          <p:cNvSpPr/>
          <p:nvPr/>
        </p:nvSpPr>
        <p:spPr>
          <a:xfrm>
            <a:off x="868680" y="4590288"/>
            <a:ext cx="5120640" cy="292608"/>
          </a:xfrm>
          <a:prstGeom prst="rect">
            <a:avLst/>
          </a:prstGeom>
          <a:solidFill>
            <a:srgbClr val="E6F0EE"/>
          </a:solidFill>
          <a:ln w="12700">
            <a:solidFill>
              <a:srgbClr val="E6F0EE"/>
            </a:solidFill>
            <a:prstDash val="solid"/>
          </a:ln>
        </p:spPr>
      </p:sp>
      <p:sp>
        <p:nvSpPr>
          <p:cNvPr id="19" name="Text 17"/>
          <p:cNvSpPr txBox="1"/>
          <p:nvPr/>
        </p:nvSpPr>
        <p:spPr>
          <a:xfrm>
            <a:off x="960120" y="4626864"/>
            <a:ext cx="3291840" cy="256032"/>
          </a:xfrm>
          <a:prstGeom prst="rect">
            <a:avLst/>
          </a:prstGeom>
          <a:noFill/>
          <a:ln/>
        </p:spPr>
        <p:txBody>
          <a:bodyPr wrap="square" lIns="0" tIns="0" rIns="0" bIns="0" rtlCol="0" anchor="ctr"/>
          <a:lstStyle/>
          <a:p>
            <a:pPr indent="0" marL="0">
              <a:lnSpc>
                <a:spcPct val="118000"/>
              </a:lnSpc>
              <a:buNone/>
            </a:pPr>
            <a:r>
              <a:rPr lang="en-US" sz="1150" dirty="0">
                <a:solidFill>
                  <a:srgbClr val="1C2530"/>
                </a:solidFill>
                <a:latin typeface="Calibri" pitchFamily="34" charset="0"/>
                <a:ea typeface="Calibri" pitchFamily="34" charset="-122"/>
                <a:cs typeface="Calibri" pitchFamily="34" charset="-120"/>
              </a:rPr>
              <a:t>Dice</a:t>
            </a:r>
            <a:endParaRPr lang="en-US" sz="1150" dirty="0"/>
          </a:p>
        </p:txBody>
      </p:sp>
      <p:sp>
        <p:nvSpPr>
          <p:cNvPr id="20" name="Text 18"/>
          <p:cNvSpPr txBox="1"/>
          <p:nvPr/>
        </p:nvSpPr>
        <p:spPr>
          <a:xfrm>
            <a:off x="4297680" y="4626864"/>
            <a:ext cx="1554480" cy="256032"/>
          </a:xfrm>
          <a:prstGeom prst="rect">
            <a:avLst/>
          </a:prstGeom>
          <a:noFill/>
          <a:ln/>
        </p:spPr>
        <p:txBody>
          <a:bodyPr wrap="square" lIns="0" tIns="0" rIns="0" bIns="0" rtlCol="0" anchor="ctr"/>
          <a:lstStyle/>
          <a:p>
            <a:pPr algn="r" indent="0" marL="0">
              <a:lnSpc>
                <a:spcPct val="118000"/>
              </a:lnSpc>
              <a:buNone/>
            </a:pPr>
            <a:r>
              <a:rPr lang="en-US" sz="1150" b="1" dirty="0">
                <a:solidFill>
                  <a:srgbClr val="0F6E63"/>
                </a:solidFill>
                <a:latin typeface="Calibri" pitchFamily="34" charset="0"/>
                <a:ea typeface="Calibri" pitchFamily="34" charset="-122"/>
                <a:cs typeface="Calibri" pitchFamily="34" charset="-120"/>
              </a:rPr>
              <a:t>0.99</a:t>
            </a:r>
            <a:endParaRPr lang="en-US" sz="1150" dirty="0"/>
          </a:p>
        </p:txBody>
      </p:sp>
      <p:sp>
        <p:nvSpPr>
          <p:cNvPr id="21" name="Shape 19"/>
          <p:cNvSpPr/>
          <p:nvPr/>
        </p:nvSpPr>
        <p:spPr>
          <a:xfrm>
            <a:off x="868680" y="4992624"/>
            <a:ext cx="5120640" cy="292608"/>
          </a:xfrm>
          <a:prstGeom prst="rect">
            <a:avLst/>
          </a:prstGeom>
          <a:solidFill>
            <a:srgbClr val="E6F0EE"/>
          </a:solidFill>
          <a:ln w="12700">
            <a:solidFill>
              <a:srgbClr val="E6F0EE"/>
            </a:solidFill>
            <a:prstDash val="solid"/>
          </a:ln>
        </p:spPr>
      </p:sp>
      <p:sp>
        <p:nvSpPr>
          <p:cNvPr id="22" name="Text 20"/>
          <p:cNvSpPr txBox="1"/>
          <p:nvPr/>
        </p:nvSpPr>
        <p:spPr>
          <a:xfrm>
            <a:off x="960120" y="5029200"/>
            <a:ext cx="3291840" cy="256032"/>
          </a:xfrm>
          <a:prstGeom prst="rect">
            <a:avLst/>
          </a:prstGeom>
          <a:noFill/>
          <a:ln/>
        </p:spPr>
        <p:txBody>
          <a:bodyPr wrap="square" lIns="0" tIns="0" rIns="0" bIns="0" rtlCol="0" anchor="ctr"/>
          <a:lstStyle/>
          <a:p>
            <a:pPr indent="0" marL="0">
              <a:lnSpc>
                <a:spcPct val="118000"/>
              </a:lnSpc>
              <a:buNone/>
            </a:pPr>
            <a:r>
              <a:rPr lang="en-US" sz="1150" dirty="0">
                <a:solidFill>
                  <a:srgbClr val="1C2530"/>
                </a:solidFill>
                <a:latin typeface="Calibri" pitchFamily="34" charset="0"/>
                <a:ea typeface="Calibri" pitchFamily="34" charset="-122"/>
                <a:cs typeface="Calibri" pitchFamily="34" charset="-120"/>
              </a:rPr>
              <a:t>Focal Tversky</a:t>
            </a:r>
            <a:endParaRPr lang="en-US" sz="1150" dirty="0"/>
          </a:p>
        </p:txBody>
      </p:sp>
      <p:sp>
        <p:nvSpPr>
          <p:cNvPr id="23" name="Text 21"/>
          <p:cNvSpPr txBox="1"/>
          <p:nvPr/>
        </p:nvSpPr>
        <p:spPr>
          <a:xfrm>
            <a:off x="4297680" y="5029200"/>
            <a:ext cx="1554480" cy="256032"/>
          </a:xfrm>
          <a:prstGeom prst="rect">
            <a:avLst/>
          </a:prstGeom>
          <a:noFill/>
          <a:ln/>
        </p:spPr>
        <p:txBody>
          <a:bodyPr wrap="square" lIns="0" tIns="0" rIns="0" bIns="0" rtlCol="0" anchor="ctr"/>
          <a:lstStyle/>
          <a:p>
            <a:pPr algn="r" indent="0" marL="0">
              <a:lnSpc>
                <a:spcPct val="118000"/>
              </a:lnSpc>
              <a:buNone/>
            </a:pPr>
            <a:r>
              <a:rPr lang="en-US" sz="1150" b="1" dirty="0">
                <a:solidFill>
                  <a:srgbClr val="0F6E63"/>
                </a:solidFill>
                <a:latin typeface="Calibri" pitchFamily="34" charset="0"/>
                <a:ea typeface="Calibri" pitchFamily="34" charset="-122"/>
                <a:cs typeface="Calibri" pitchFamily="34" charset="-120"/>
              </a:rPr>
              <a:t>0.99</a:t>
            </a:r>
            <a:endParaRPr lang="en-US" sz="1150" dirty="0"/>
          </a:p>
        </p:txBody>
      </p:sp>
      <p:sp>
        <p:nvSpPr>
          <p:cNvPr id="24" name="Shape 22"/>
          <p:cNvSpPr/>
          <p:nvPr/>
        </p:nvSpPr>
        <p:spPr>
          <a:xfrm>
            <a:off x="6537960" y="2066544"/>
            <a:ext cx="4782312" cy="3602736"/>
          </a:xfrm>
          <a:prstGeom prst="roundRect">
            <a:avLst>
              <a:gd name="adj" fmla="val 1523"/>
            </a:avLst>
          </a:prstGeom>
          <a:solidFill>
            <a:srgbClr val="FFFFFF"/>
          </a:solidFill>
          <a:ln w="9525">
            <a:solidFill>
              <a:srgbClr val="DDD8D2"/>
            </a:solidFill>
            <a:prstDash val="solid"/>
          </a:ln>
        </p:spPr>
      </p:sp>
      <p:sp>
        <p:nvSpPr>
          <p:cNvPr id="25" name="Text 23"/>
          <p:cNvSpPr txBox="1"/>
          <p:nvPr/>
        </p:nvSpPr>
        <p:spPr>
          <a:xfrm>
            <a:off x="6839712" y="2249424"/>
            <a:ext cx="4206240" cy="274320"/>
          </a:xfrm>
          <a:prstGeom prst="rect">
            <a:avLst/>
          </a:prstGeom>
          <a:noFill/>
          <a:ln/>
        </p:spPr>
        <p:txBody>
          <a:bodyPr wrap="square" lIns="0" tIns="0" rIns="0" bIns="0" rtlCol="0" anchor="ctr"/>
          <a:lstStyle/>
          <a:p>
            <a:pPr indent="0" marL="0">
              <a:lnSpc>
                <a:spcPct val="118000"/>
              </a:lnSpc>
              <a:buNone/>
            </a:pPr>
            <a:r>
              <a:rPr lang="en-US" sz="1050" b="1" spc="140" kern="0" dirty="0">
                <a:solidFill>
                  <a:srgbClr val="0F6E63"/>
                </a:solidFill>
                <a:latin typeface="Calibri" pitchFamily="34" charset="0"/>
                <a:ea typeface="Calibri" pitchFamily="34" charset="-122"/>
                <a:cs typeface="Calibri" pitchFamily="34" charset="-120"/>
              </a:rPr>
              <a:t>WHY IT MATTERS</a:t>
            </a:r>
            <a:endParaRPr lang="en-US" sz="1050" dirty="0"/>
          </a:p>
        </p:txBody>
      </p:sp>
      <p:sp>
        <p:nvSpPr>
          <p:cNvPr id="26" name="Text 24"/>
          <p:cNvSpPr txBox="1"/>
          <p:nvPr/>
        </p:nvSpPr>
        <p:spPr>
          <a:xfrm>
            <a:off x="6839712" y="2670048"/>
            <a:ext cx="4206240" cy="2743200"/>
          </a:xfrm>
          <a:prstGeom prst="rect">
            <a:avLst/>
          </a:prstGeom>
          <a:noFill/>
          <a:ln/>
        </p:spPr>
        <p:txBody>
          <a:bodyPr wrap="square" lIns="0" tIns="0" rIns="0" bIns="0" rtlCol="0" anchor="ctr"/>
          <a:lstStyle/>
          <a:p>
            <a:pPr marL="177800" indent="-177800">
              <a:lnSpc>
                <a:spcPct val="120000"/>
              </a:lnSpc>
              <a:spcAft>
                <a:spcPts val="500"/>
              </a:spcAft>
              <a:buSzPct val="100000"/>
              <a:buChar char="•"/>
            </a:pPr>
            <a:r>
              <a:rPr lang="en-US" sz="1100" dirty="0">
                <a:solidFill>
                  <a:srgbClr val="48535F"/>
                </a:solidFill>
                <a:latin typeface="Calibri" pitchFamily="34" charset="0"/>
                <a:ea typeface="Calibri" pitchFamily="34" charset="-122"/>
                <a:cs typeface="Calibri" pitchFamily="34" charset="-120"/>
              </a:rPr>
              <a:t>Cross-entropy barely penalises predicting nothing — 0.31 is a mediocre score, not a failing one.</a:t>
            </a:r>
            <a:endParaRPr lang="en-US" sz="1100" dirty="0"/>
          </a:p>
          <a:p>
            <a:pPr marL="177800" indent="-177800">
              <a:lnSpc>
                <a:spcPct val="120000"/>
              </a:lnSpc>
              <a:spcAft>
                <a:spcPts val="500"/>
              </a:spcAft>
              <a:buSzPct val="100000"/>
              <a:buChar char="•"/>
            </a:pPr>
            <a:r>
              <a:rPr lang="en-US" sz="1100" dirty="0">
                <a:solidFill>
                  <a:srgbClr val="48535F"/>
                </a:solidFill>
                <a:latin typeface="Calibri" pitchFamily="34" charset="0"/>
                <a:ea typeface="Calibri" pitchFamily="34" charset="-122"/>
                <a:cs typeface="Calibri" pitchFamily="34" charset="-120"/>
              </a:rPr>
              <a:t>Overlap-based losses score the same model at 0.99, because an empty prediction has zero intersection.</a:t>
            </a:r>
            <a:endParaRPr lang="en-US" sz="1100" dirty="0"/>
          </a:p>
          <a:p>
            <a:pPr marL="177800" indent="-177800">
              <a:lnSpc>
                <a:spcPct val="120000"/>
              </a:lnSpc>
              <a:spcAft>
                <a:spcPts val="500"/>
              </a:spcAft>
              <a:buSzPct val="100000"/>
              <a:buChar char="•"/>
            </a:pPr>
            <a:r>
              <a:rPr lang="en-US" sz="1100" dirty="0">
                <a:solidFill>
                  <a:srgbClr val="48535F"/>
                </a:solidFill>
                <a:latin typeface="Calibri" pitchFamily="34" charset="0"/>
                <a:ea typeface="Calibri" pitchFamily="34" charset="-122"/>
                <a:cs typeface="Calibri" pitchFamily="34" charset="-120"/>
              </a:rPr>
              <a:t>Tversky lets false negatives be punished harder than false positives, which is the right trade: a missed crack is a missed structural signal.</a:t>
            </a:r>
            <a:endParaRPr lang="en-US" sz="1100" dirty="0"/>
          </a:p>
          <a:p>
            <a:pPr marL="177800" indent="-177800">
              <a:lnSpc>
                <a:spcPct val="120000"/>
              </a:lnSpc>
              <a:spcAft>
                <a:spcPts val="500"/>
              </a:spcAft>
              <a:buSzPct val="100000"/>
              <a:buChar char="•"/>
            </a:pPr>
            <a:r>
              <a:rPr lang="en-US" sz="1100" dirty="0">
                <a:solidFill>
                  <a:srgbClr val="48535F"/>
                </a:solidFill>
                <a:latin typeface="Calibri" pitchFamily="34" charset="0"/>
                <a:ea typeface="Calibri" pitchFamily="34" charset="-122"/>
                <a:cs typeface="Calibri" pitchFamily="34" charset="-120"/>
              </a:rPr>
              <a:t>Comparing all six on real data is the core experiment of this project.</a:t>
            </a:r>
            <a:endParaRPr lang="en-US" sz="1100" dirty="0"/>
          </a:p>
        </p:txBody>
      </p:sp>
      <p:sp>
        <p:nvSpPr>
          <p:cNvPr id="27" name="Text 25"/>
          <p:cNvSpPr txBox="1"/>
          <p:nvPr/>
        </p:nvSpPr>
        <p:spPr>
          <a:xfrm>
            <a:off x="566928" y="6419088"/>
            <a:ext cx="7315200" cy="201168"/>
          </a:xfrm>
          <a:prstGeom prst="rect">
            <a:avLst/>
          </a:prstGeom>
          <a:noFill/>
          <a:ln/>
        </p:spPr>
        <p:txBody>
          <a:bodyPr wrap="square" lIns="0" tIns="0" rIns="0" bIns="0" rtlCol="0" anchor="ctr"/>
          <a:lstStyle/>
          <a:p>
            <a:pPr indent="0" marL="0">
              <a:buNone/>
            </a:pPr>
            <a:r>
              <a:rPr lang="en-US" sz="900" dirty="0">
                <a:solidFill>
                  <a:srgbClr val="8A949E"/>
                </a:solidFill>
                <a:latin typeface="Calibri" pitchFamily="34" charset="0"/>
                <a:ea typeface="Calibri" pitchFamily="34" charset="-122"/>
                <a:cs typeface="Calibri" pitchFamily="34" charset="-120"/>
              </a:rPr>
              <a:t>Crack Segmentation for Structural Monitoring</a:t>
            </a:r>
            <a:endParaRPr lang="en-US" sz="900" dirty="0"/>
          </a:p>
        </p:txBody>
      </p:sp>
      <p:sp>
        <p:nvSpPr>
          <p:cNvPr id="28" name="Text 26"/>
          <p:cNvSpPr txBox="1"/>
          <p:nvPr/>
        </p:nvSpPr>
        <p:spPr>
          <a:xfrm>
            <a:off x="11064240" y="6419088"/>
            <a:ext cx="548640" cy="201168"/>
          </a:xfrm>
          <a:prstGeom prst="rect">
            <a:avLst/>
          </a:prstGeom>
          <a:noFill/>
          <a:ln/>
        </p:spPr>
        <p:txBody>
          <a:bodyPr wrap="square" lIns="0" tIns="0" rIns="0" bIns="0" rtlCol="0" anchor="ctr"/>
          <a:lstStyle/>
          <a:p>
            <a:pPr algn="r" indent="0" marL="0">
              <a:buNone/>
            </a:pPr>
            <a:r>
              <a:rPr lang="en-US" sz="900" dirty="0">
                <a:solidFill>
                  <a:srgbClr val="8A949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8"/>
        </a:solidFill>
      </p:bgPr>
    </p:bg>
    <p:spTree>
      <p:nvGrpSpPr>
        <p:cNvPr id="1" name=""/>
        <p:cNvGrpSpPr/>
        <p:nvPr/>
      </p:nvGrpSpPr>
      <p:grpSpPr>
        <a:xfrm>
          <a:off x="0" y="0"/>
          <a:ext cx="0" cy="0"/>
          <a:chOff x="0" y="0"/>
          <a:chExt cx="0" cy="0"/>
        </a:xfrm>
      </p:grpSpPr>
      <p:sp>
        <p:nvSpPr>
          <p:cNvPr id="2" name="Text 0"/>
          <p:cNvSpPr txBox="1"/>
          <p:nvPr/>
        </p:nvSpPr>
        <p:spPr>
          <a:xfrm>
            <a:off x="566928" y="384048"/>
            <a:ext cx="11064240" cy="219456"/>
          </a:xfrm>
          <a:prstGeom prst="rect">
            <a:avLst/>
          </a:prstGeom>
          <a:noFill/>
          <a:ln/>
        </p:spPr>
        <p:txBody>
          <a:bodyPr wrap="square" lIns="0" tIns="0" rIns="0" bIns="0" rtlCol="0" anchor="ctr"/>
          <a:lstStyle/>
          <a:p>
            <a:pPr indent="0" marL="0">
              <a:buNone/>
            </a:pPr>
            <a:r>
              <a:rPr lang="en-US" sz="1050" b="1" spc="220" kern="0" dirty="0">
                <a:solidFill>
                  <a:srgbClr val="0F6E63"/>
                </a:solidFill>
                <a:latin typeface="Calibri" pitchFamily="34" charset="0"/>
                <a:ea typeface="Calibri" pitchFamily="34" charset="-122"/>
                <a:cs typeface="Calibri" pitchFamily="34" charset="-120"/>
              </a:rPr>
              <a:t>METHOD</a:t>
            </a:r>
            <a:endParaRPr lang="en-US" sz="1050" dirty="0"/>
          </a:p>
        </p:txBody>
      </p:sp>
      <p:sp>
        <p:nvSpPr>
          <p:cNvPr id="3" name="Text 1"/>
          <p:cNvSpPr txBox="1"/>
          <p:nvPr/>
        </p:nvSpPr>
        <p:spPr>
          <a:xfrm>
            <a:off x="566928" y="640080"/>
            <a:ext cx="11064240" cy="475488"/>
          </a:xfrm>
          <a:prstGeom prst="rect">
            <a:avLst/>
          </a:prstGeom>
          <a:noFill/>
          <a:ln/>
        </p:spPr>
        <p:txBody>
          <a:bodyPr wrap="square" lIns="0" tIns="0" rIns="0" bIns="0" rtlCol="0" anchor="ctr"/>
          <a:lstStyle/>
          <a:p>
            <a:pPr indent="0" marL="0">
              <a:buNone/>
            </a:pPr>
            <a:r>
              <a:rPr lang="en-US" sz="2600" dirty="0">
                <a:solidFill>
                  <a:srgbClr val="1C2530"/>
                </a:solidFill>
                <a:latin typeface="Georgia" pitchFamily="34" charset="0"/>
                <a:ea typeface="Georgia" pitchFamily="34" charset="-122"/>
                <a:cs typeface="Georgia" pitchFamily="34" charset="-120"/>
              </a:rPr>
              <a:t>U-Net, written from scratch</a:t>
            </a:r>
            <a:endParaRPr lang="en-US" sz="2600" dirty="0"/>
          </a:p>
        </p:txBody>
      </p:sp>
      <p:sp>
        <p:nvSpPr>
          <p:cNvPr id="4" name="Shape 2"/>
          <p:cNvSpPr/>
          <p:nvPr/>
        </p:nvSpPr>
        <p:spPr>
          <a:xfrm>
            <a:off x="566928" y="1207008"/>
            <a:ext cx="777240" cy="32004"/>
          </a:xfrm>
          <a:prstGeom prst="rect">
            <a:avLst/>
          </a:prstGeom>
          <a:solidFill>
            <a:srgbClr val="0F6E63"/>
          </a:solidFill>
          <a:ln w="12700">
            <a:solidFill>
              <a:srgbClr val="0F6E63"/>
            </a:solidFill>
            <a:prstDash val="solid"/>
          </a:ln>
        </p:spPr>
      </p:sp>
      <p:sp>
        <p:nvSpPr>
          <p:cNvPr id="5" name="Text 3"/>
          <p:cNvSpPr txBox="1"/>
          <p:nvPr/>
        </p:nvSpPr>
        <p:spPr>
          <a:xfrm>
            <a:off x="566928" y="1481328"/>
            <a:ext cx="10607040" cy="365760"/>
          </a:xfrm>
          <a:prstGeom prst="rect">
            <a:avLst/>
          </a:prstGeom>
          <a:noFill/>
          <a:ln/>
        </p:spPr>
        <p:txBody>
          <a:bodyPr wrap="square" lIns="0" tIns="0" rIns="0" bIns="0" rtlCol="0" anchor="ctr"/>
          <a:lstStyle/>
          <a:p>
            <a:pPr indent="0" marL="0">
              <a:lnSpc>
                <a:spcPct val="118000"/>
              </a:lnSpc>
              <a:buNone/>
            </a:pPr>
            <a:r>
              <a:rPr lang="en-US" sz="1300" dirty="0">
                <a:solidFill>
                  <a:srgbClr val="48535F"/>
                </a:solidFill>
                <a:latin typeface="Calibri" pitchFamily="34" charset="0"/>
                <a:ea typeface="Calibri" pitchFamily="34" charset="-122"/>
                <a:cs typeface="Calibri" pitchFamily="34" charset="-120"/>
              </a:rPr>
              <a:t>An encoder compresses the image, a decoder expands it back to full resolution, and skip connections carry fine detail across. Thin structures need those skips — without them a one-pixel crack does not survive the bottleneck.</a:t>
            </a:r>
            <a:endParaRPr lang="en-US" sz="1300" dirty="0"/>
          </a:p>
        </p:txBody>
      </p:sp>
      <p:sp>
        <p:nvSpPr>
          <p:cNvPr id="6" name="Shape 4"/>
          <p:cNvSpPr/>
          <p:nvPr/>
        </p:nvSpPr>
        <p:spPr>
          <a:xfrm>
            <a:off x="566928" y="2029968"/>
            <a:ext cx="5221224" cy="2450592"/>
          </a:xfrm>
          <a:prstGeom prst="roundRect">
            <a:avLst>
              <a:gd name="adj" fmla="val 2239"/>
            </a:avLst>
          </a:prstGeom>
          <a:solidFill>
            <a:srgbClr val="FFFFFF"/>
          </a:solidFill>
          <a:ln w="9525">
            <a:solidFill>
              <a:srgbClr val="DDD8D2"/>
            </a:solidFill>
            <a:prstDash val="solid"/>
          </a:ln>
        </p:spPr>
      </p:sp>
      <p:sp>
        <p:nvSpPr>
          <p:cNvPr id="7" name="Shape 5"/>
          <p:cNvSpPr/>
          <p:nvPr/>
        </p:nvSpPr>
        <p:spPr>
          <a:xfrm>
            <a:off x="1298448" y="2468880"/>
            <a:ext cx="658368" cy="420624"/>
          </a:xfrm>
          <a:prstGeom prst="roundRect">
            <a:avLst>
              <a:gd name="adj" fmla="val 13043"/>
            </a:avLst>
          </a:prstGeom>
          <a:solidFill>
            <a:srgbClr val="FFFFFF"/>
          </a:solidFill>
          <a:ln w="9525">
            <a:solidFill>
              <a:srgbClr val="BCD3CF"/>
            </a:solidFill>
            <a:prstDash val="solid"/>
          </a:ln>
        </p:spPr>
      </p:sp>
      <p:sp>
        <p:nvSpPr>
          <p:cNvPr id="8" name="Text 6"/>
          <p:cNvSpPr txBox="1"/>
          <p:nvPr/>
        </p:nvSpPr>
        <p:spPr>
          <a:xfrm>
            <a:off x="1298448" y="2578608"/>
            <a:ext cx="658368" cy="219456"/>
          </a:xfrm>
          <a:prstGeom prst="rect">
            <a:avLst/>
          </a:prstGeom>
          <a:noFill/>
          <a:ln/>
        </p:spPr>
        <p:txBody>
          <a:bodyPr wrap="square" lIns="0" tIns="0" rIns="0" bIns="0" rtlCol="0" anchor="ctr"/>
          <a:lstStyle/>
          <a:p>
            <a:pPr algn="ctr" indent="0" marL="0">
              <a:lnSpc>
                <a:spcPct val="118000"/>
              </a:lnSpc>
              <a:buNone/>
            </a:pPr>
            <a:r>
              <a:rPr lang="en-US" sz="1100" b="1" dirty="0">
                <a:solidFill>
                  <a:srgbClr val="1C2530"/>
                </a:solidFill>
                <a:latin typeface="Calibri" pitchFamily="34" charset="0"/>
                <a:ea typeface="Calibri" pitchFamily="34" charset="-122"/>
                <a:cs typeface="Calibri" pitchFamily="34" charset="-120"/>
              </a:rPr>
              <a:t>3</a:t>
            </a:r>
            <a:endParaRPr lang="en-US" sz="1100" dirty="0"/>
          </a:p>
        </p:txBody>
      </p:sp>
      <p:sp>
        <p:nvSpPr>
          <p:cNvPr id="9" name="Text 7"/>
          <p:cNvSpPr txBox="1"/>
          <p:nvPr/>
        </p:nvSpPr>
        <p:spPr>
          <a:xfrm>
            <a:off x="1956816" y="2569464"/>
            <a:ext cx="210312" cy="219456"/>
          </a:xfrm>
          <a:prstGeom prst="rect">
            <a:avLst/>
          </a:prstGeom>
          <a:noFill/>
          <a:ln/>
        </p:spPr>
        <p:txBody>
          <a:bodyPr wrap="square" lIns="0" tIns="0" rIns="0" bIns="0" rtlCol="0" anchor="ctr"/>
          <a:lstStyle/>
          <a:p>
            <a:pPr algn="ctr" indent="0" marL="0">
              <a:lnSpc>
                <a:spcPct val="118000"/>
              </a:lnSpc>
              <a:buNone/>
            </a:pPr>
            <a:r>
              <a:rPr lang="en-US" sz="1200" dirty="0">
                <a:solidFill>
                  <a:srgbClr val="8A949E"/>
                </a:solidFill>
                <a:latin typeface="Calibri" pitchFamily="34" charset="0"/>
                <a:ea typeface="Calibri" pitchFamily="34" charset="-122"/>
                <a:cs typeface="Calibri" pitchFamily="34" charset="-120"/>
              </a:rPr>
              <a:t>›</a:t>
            </a:r>
            <a:endParaRPr lang="en-US" sz="1200" dirty="0"/>
          </a:p>
        </p:txBody>
      </p:sp>
      <p:sp>
        <p:nvSpPr>
          <p:cNvPr id="10" name="Shape 8"/>
          <p:cNvSpPr/>
          <p:nvPr/>
        </p:nvSpPr>
        <p:spPr>
          <a:xfrm>
            <a:off x="2167128" y="2468880"/>
            <a:ext cx="658368" cy="420624"/>
          </a:xfrm>
          <a:prstGeom prst="roundRect">
            <a:avLst>
              <a:gd name="adj" fmla="val 13043"/>
            </a:avLst>
          </a:prstGeom>
          <a:solidFill>
            <a:srgbClr val="E6F0EE"/>
          </a:solidFill>
          <a:ln w="9525">
            <a:solidFill>
              <a:srgbClr val="BCD3CF"/>
            </a:solidFill>
            <a:prstDash val="solid"/>
          </a:ln>
        </p:spPr>
      </p:sp>
      <p:sp>
        <p:nvSpPr>
          <p:cNvPr id="11" name="Text 9"/>
          <p:cNvSpPr txBox="1"/>
          <p:nvPr/>
        </p:nvSpPr>
        <p:spPr>
          <a:xfrm>
            <a:off x="2167128" y="2578608"/>
            <a:ext cx="658368" cy="219456"/>
          </a:xfrm>
          <a:prstGeom prst="rect">
            <a:avLst/>
          </a:prstGeom>
          <a:noFill/>
          <a:ln/>
        </p:spPr>
        <p:txBody>
          <a:bodyPr wrap="square" lIns="0" tIns="0" rIns="0" bIns="0" rtlCol="0" anchor="ctr"/>
          <a:lstStyle/>
          <a:p>
            <a:pPr algn="ctr" indent="0" marL="0">
              <a:lnSpc>
                <a:spcPct val="118000"/>
              </a:lnSpc>
              <a:buNone/>
            </a:pPr>
            <a:r>
              <a:rPr lang="en-US" sz="1100" b="1" dirty="0">
                <a:solidFill>
                  <a:srgbClr val="1C2530"/>
                </a:solidFill>
                <a:latin typeface="Calibri" pitchFamily="34" charset="0"/>
                <a:ea typeface="Calibri" pitchFamily="34" charset="-122"/>
                <a:cs typeface="Calibri" pitchFamily="34" charset="-120"/>
              </a:rPr>
              <a:t>32</a:t>
            </a:r>
            <a:endParaRPr lang="en-US" sz="1100" dirty="0"/>
          </a:p>
        </p:txBody>
      </p:sp>
      <p:sp>
        <p:nvSpPr>
          <p:cNvPr id="12" name="Text 10"/>
          <p:cNvSpPr txBox="1"/>
          <p:nvPr/>
        </p:nvSpPr>
        <p:spPr>
          <a:xfrm>
            <a:off x="2825496" y="2569464"/>
            <a:ext cx="210312" cy="219456"/>
          </a:xfrm>
          <a:prstGeom prst="rect">
            <a:avLst/>
          </a:prstGeom>
          <a:noFill/>
          <a:ln/>
        </p:spPr>
        <p:txBody>
          <a:bodyPr wrap="square" lIns="0" tIns="0" rIns="0" bIns="0" rtlCol="0" anchor="ctr"/>
          <a:lstStyle/>
          <a:p>
            <a:pPr algn="ctr" indent="0" marL="0">
              <a:lnSpc>
                <a:spcPct val="118000"/>
              </a:lnSpc>
              <a:buNone/>
            </a:pPr>
            <a:r>
              <a:rPr lang="en-US" sz="1200" dirty="0">
                <a:solidFill>
                  <a:srgbClr val="8A949E"/>
                </a:solidFill>
                <a:latin typeface="Calibri" pitchFamily="34" charset="0"/>
                <a:ea typeface="Calibri" pitchFamily="34" charset="-122"/>
                <a:cs typeface="Calibri" pitchFamily="34" charset="-120"/>
              </a:rPr>
              <a:t>›</a:t>
            </a:r>
            <a:endParaRPr lang="en-US" sz="1200" dirty="0"/>
          </a:p>
        </p:txBody>
      </p:sp>
      <p:sp>
        <p:nvSpPr>
          <p:cNvPr id="13" name="Shape 11"/>
          <p:cNvSpPr/>
          <p:nvPr/>
        </p:nvSpPr>
        <p:spPr>
          <a:xfrm>
            <a:off x="3035808" y="2468880"/>
            <a:ext cx="658368" cy="420624"/>
          </a:xfrm>
          <a:prstGeom prst="roundRect">
            <a:avLst>
              <a:gd name="adj" fmla="val 13043"/>
            </a:avLst>
          </a:prstGeom>
          <a:solidFill>
            <a:srgbClr val="E6F0EE"/>
          </a:solidFill>
          <a:ln w="9525">
            <a:solidFill>
              <a:srgbClr val="BCD3CF"/>
            </a:solidFill>
            <a:prstDash val="solid"/>
          </a:ln>
        </p:spPr>
      </p:sp>
      <p:sp>
        <p:nvSpPr>
          <p:cNvPr id="14" name="Text 12"/>
          <p:cNvSpPr txBox="1"/>
          <p:nvPr/>
        </p:nvSpPr>
        <p:spPr>
          <a:xfrm>
            <a:off x="3035808" y="2578608"/>
            <a:ext cx="658368" cy="219456"/>
          </a:xfrm>
          <a:prstGeom prst="rect">
            <a:avLst/>
          </a:prstGeom>
          <a:noFill/>
          <a:ln/>
        </p:spPr>
        <p:txBody>
          <a:bodyPr wrap="square" lIns="0" tIns="0" rIns="0" bIns="0" rtlCol="0" anchor="ctr"/>
          <a:lstStyle/>
          <a:p>
            <a:pPr algn="ctr" indent="0" marL="0">
              <a:lnSpc>
                <a:spcPct val="118000"/>
              </a:lnSpc>
              <a:buNone/>
            </a:pPr>
            <a:r>
              <a:rPr lang="en-US" sz="1100" b="1" dirty="0">
                <a:solidFill>
                  <a:srgbClr val="1C2530"/>
                </a:solidFill>
                <a:latin typeface="Calibri" pitchFamily="34" charset="0"/>
                <a:ea typeface="Calibri" pitchFamily="34" charset="-122"/>
                <a:cs typeface="Calibri" pitchFamily="34" charset="-120"/>
              </a:rPr>
              <a:t>64</a:t>
            </a:r>
            <a:endParaRPr lang="en-US" sz="1100" dirty="0"/>
          </a:p>
        </p:txBody>
      </p:sp>
      <p:sp>
        <p:nvSpPr>
          <p:cNvPr id="15" name="Text 13"/>
          <p:cNvSpPr txBox="1"/>
          <p:nvPr/>
        </p:nvSpPr>
        <p:spPr>
          <a:xfrm>
            <a:off x="3694176" y="2569464"/>
            <a:ext cx="210312" cy="219456"/>
          </a:xfrm>
          <a:prstGeom prst="rect">
            <a:avLst/>
          </a:prstGeom>
          <a:noFill/>
          <a:ln/>
        </p:spPr>
        <p:txBody>
          <a:bodyPr wrap="square" lIns="0" tIns="0" rIns="0" bIns="0" rtlCol="0" anchor="ctr"/>
          <a:lstStyle/>
          <a:p>
            <a:pPr algn="ctr" indent="0" marL="0">
              <a:lnSpc>
                <a:spcPct val="118000"/>
              </a:lnSpc>
              <a:buNone/>
            </a:pPr>
            <a:r>
              <a:rPr lang="en-US" sz="1200" dirty="0">
                <a:solidFill>
                  <a:srgbClr val="8A949E"/>
                </a:solidFill>
                <a:latin typeface="Calibri" pitchFamily="34" charset="0"/>
                <a:ea typeface="Calibri" pitchFamily="34" charset="-122"/>
                <a:cs typeface="Calibri" pitchFamily="34" charset="-120"/>
              </a:rPr>
              <a:t>›</a:t>
            </a:r>
            <a:endParaRPr lang="en-US" sz="1200" dirty="0"/>
          </a:p>
        </p:txBody>
      </p:sp>
      <p:sp>
        <p:nvSpPr>
          <p:cNvPr id="16" name="Shape 14"/>
          <p:cNvSpPr/>
          <p:nvPr/>
        </p:nvSpPr>
        <p:spPr>
          <a:xfrm>
            <a:off x="3904488" y="2468880"/>
            <a:ext cx="658368" cy="420624"/>
          </a:xfrm>
          <a:prstGeom prst="roundRect">
            <a:avLst>
              <a:gd name="adj" fmla="val 13043"/>
            </a:avLst>
          </a:prstGeom>
          <a:solidFill>
            <a:srgbClr val="E6F0EE"/>
          </a:solidFill>
          <a:ln w="9525">
            <a:solidFill>
              <a:srgbClr val="BCD3CF"/>
            </a:solidFill>
            <a:prstDash val="solid"/>
          </a:ln>
        </p:spPr>
      </p:sp>
      <p:sp>
        <p:nvSpPr>
          <p:cNvPr id="17" name="Text 15"/>
          <p:cNvSpPr txBox="1"/>
          <p:nvPr/>
        </p:nvSpPr>
        <p:spPr>
          <a:xfrm>
            <a:off x="3904488" y="2578608"/>
            <a:ext cx="658368" cy="219456"/>
          </a:xfrm>
          <a:prstGeom prst="rect">
            <a:avLst/>
          </a:prstGeom>
          <a:noFill/>
          <a:ln/>
        </p:spPr>
        <p:txBody>
          <a:bodyPr wrap="square" lIns="0" tIns="0" rIns="0" bIns="0" rtlCol="0" anchor="ctr"/>
          <a:lstStyle/>
          <a:p>
            <a:pPr algn="ctr" indent="0" marL="0">
              <a:lnSpc>
                <a:spcPct val="118000"/>
              </a:lnSpc>
              <a:buNone/>
            </a:pPr>
            <a:r>
              <a:rPr lang="en-US" sz="1100" b="1" dirty="0">
                <a:solidFill>
                  <a:srgbClr val="1C2530"/>
                </a:solidFill>
                <a:latin typeface="Calibri" pitchFamily="34" charset="0"/>
                <a:ea typeface="Calibri" pitchFamily="34" charset="-122"/>
                <a:cs typeface="Calibri" pitchFamily="34" charset="-120"/>
              </a:rPr>
              <a:t>128</a:t>
            </a:r>
            <a:endParaRPr lang="en-US" sz="1100" dirty="0"/>
          </a:p>
        </p:txBody>
      </p:sp>
      <p:sp>
        <p:nvSpPr>
          <p:cNvPr id="18" name="Text 16"/>
          <p:cNvSpPr txBox="1"/>
          <p:nvPr/>
        </p:nvSpPr>
        <p:spPr>
          <a:xfrm>
            <a:off x="4562856" y="2569464"/>
            <a:ext cx="210312" cy="219456"/>
          </a:xfrm>
          <a:prstGeom prst="rect">
            <a:avLst/>
          </a:prstGeom>
          <a:noFill/>
          <a:ln/>
        </p:spPr>
        <p:txBody>
          <a:bodyPr wrap="square" lIns="0" tIns="0" rIns="0" bIns="0" rtlCol="0" anchor="ctr"/>
          <a:lstStyle/>
          <a:p>
            <a:pPr algn="ctr" indent="0" marL="0">
              <a:lnSpc>
                <a:spcPct val="118000"/>
              </a:lnSpc>
              <a:buNone/>
            </a:pPr>
            <a:r>
              <a:rPr lang="en-US" sz="1200" dirty="0">
                <a:solidFill>
                  <a:srgbClr val="8A949E"/>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4773168" y="2468880"/>
            <a:ext cx="658368" cy="420624"/>
          </a:xfrm>
          <a:prstGeom prst="roundRect">
            <a:avLst>
              <a:gd name="adj" fmla="val 13043"/>
            </a:avLst>
          </a:prstGeom>
          <a:solidFill>
            <a:srgbClr val="E6F0EE"/>
          </a:solidFill>
          <a:ln w="9525">
            <a:solidFill>
              <a:srgbClr val="BCD3CF"/>
            </a:solidFill>
            <a:prstDash val="solid"/>
          </a:ln>
        </p:spPr>
      </p:sp>
      <p:sp>
        <p:nvSpPr>
          <p:cNvPr id="20" name="Text 18"/>
          <p:cNvSpPr txBox="1"/>
          <p:nvPr/>
        </p:nvSpPr>
        <p:spPr>
          <a:xfrm>
            <a:off x="4773168" y="2578608"/>
            <a:ext cx="658368" cy="219456"/>
          </a:xfrm>
          <a:prstGeom prst="rect">
            <a:avLst/>
          </a:prstGeom>
          <a:noFill/>
          <a:ln/>
        </p:spPr>
        <p:txBody>
          <a:bodyPr wrap="square" lIns="0" tIns="0" rIns="0" bIns="0" rtlCol="0" anchor="ctr"/>
          <a:lstStyle/>
          <a:p>
            <a:pPr algn="ctr" indent="0" marL="0">
              <a:lnSpc>
                <a:spcPct val="118000"/>
              </a:lnSpc>
              <a:buNone/>
            </a:pPr>
            <a:r>
              <a:rPr lang="en-US" sz="1100" b="1" dirty="0">
                <a:solidFill>
                  <a:srgbClr val="1C2530"/>
                </a:solidFill>
                <a:latin typeface="Calibri" pitchFamily="34" charset="0"/>
                <a:ea typeface="Calibri" pitchFamily="34" charset="-122"/>
                <a:cs typeface="Calibri" pitchFamily="34" charset="-120"/>
              </a:rPr>
              <a:t>256</a:t>
            </a:r>
            <a:endParaRPr lang="en-US" sz="1100" dirty="0"/>
          </a:p>
        </p:txBody>
      </p:sp>
      <p:sp>
        <p:nvSpPr>
          <p:cNvPr id="21" name="Shape 19"/>
          <p:cNvSpPr/>
          <p:nvPr/>
        </p:nvSpPr>
        <p:spPr>
          <a:xfrm>
            <a:off x="1298448" y="3584448"/>
            <a:ext cx="658368" cy="420624"/>
          </a:xfrm>
          <a:prstGeom prst="roundRect">
            <a:avLst>
              <a:gd name="adj" fmla="val 13043"/>
            </a:avLst>
          </a:prstGeom>
          <a:solidFill>
            <a:srgbClr val="E6F0EE"/>
          </a:solidFill>
          <a:ln w="9525">
            <a:solidFill>
              <a:srgbClr val="BCD3CF"/>
            </a:solidFill>
            <a:prstDash val="solid"/>
          </a:ln>
        </p:spPr>
      </p:sp>
      <p:sp>
        <p:nvSpPr>
          <p:cNvPr id="22" name="Text 20"/>
          <p:cNvSpPr txBox="1"/>
          <p:nvPr/>
        </p:nvSpPr>
        <p:spPr>
          <a:xfrm>
            <a:off x="1298448" y="3694176"/>
            <a:ext cx="658368" cy="219456"/>
          </a:xfrm>
          <a:prstGeom prst="rect">
            <a:avLst/>
          </a:prstGeom>
          <a:noFill/>
          <a:ln/>
        </p:spPr>
        <p:txBody>
          <a:bodyPr wrap="square" lIns="0" tIns="0" rIns="0" bIns="0" rtlCol="0" anchor="ctr"/>
          <a:lstStyle/>
          <a:p>
            <a:pPr algn="ctr" indent="0" marL="0">
              <a:lnSpc>
                <a:spcPct val="118000"/>
              </a:lnSpc>
              <a:buNone/>
            </a:pPr>
            <a:r>
              <a:rPr lang="en-US" sz="1100" b="1" dirty="0">
                <a:solidFill>
                  <a:srgbClr val="1C2530"/>
                </a:solidFill>
                <a:latin typeface="Calibri" pitchFamily="34" charset="0"/>
                <a:ea typeface="Calibri" pitchFamily="34" charset="-122"/>
                <a:cs typeface="Calibri" pitchFamily="34" charset="-120"/>
              </a:rPr>
              <a:t>256</a:t>
            </a:r>
            <a:endParaRPr lang="en-US" sz="1100" dirty="0"/>
          </a:p>
        </p:txBody>
      </p:sp>
      <p:sp>
        <p:nvSpPr>
          <p:cNvPr id="23" name="Shape 21"/>
          <p:cNvSpPr/>
          <p:nvPr/>
        </p:nvSpPr>
        <p:spPr>
          <a:xfrm>
            <a:off x="2167128" y="3584448"/>
            <a:ext cx="658368" cy="420624"/>
          </a:xfrm>
          <a:prstGeom prst="roundRect">
            <a:avLst>
              <a:gd name="adj" fmla="val 13043"/>
            </a:avLst>
          </a:prstGeom>
          <a:solidFill>
            <a:srgbClr val="E6F0EE"/>
          </a:solidFill>
          <a:ln w="9525">
            <a:solidFill>
              <a:srgbClr val="BCD3CF"/>
            </a:solidFill>
            <a:prstDash val="solid"/>
          </a:ln>
        </p:spPr>
      </p:sp>
      <p:sp>
        <p:nvSpPr>
          <p:cNvPr id="24" name="Text 22"/>
          <p:cNvSpPr txBox="1"/>
          <p:nvPr/>
        </p:nvSpPr>
        <p:spPr>
          <a:xfrm>
            <a:off x="2167128" y="3694176"/>
            <a:ext cx="658368" cy="219456"/>
          </a:xfrm>
          <a:prstGeom prst="rect">
            <a:avLst/>
          </a:prstGeom>
          <a:noFill/>
          <a:ln/>
        </p:spPr>
        <p:txBody>
          <a:bodyPr wrap="square" lIns="0" tIns="0" rIns="0" bIns="0" rtlCol="0" anchor="ctr"/>
          <a:lstStyle/>
          <a:p>
            <a:pPr algn="ctr" indent="0" marL="0">
              <a:lnSpc>
                <a:spcPct val="118000"/>
              </a:lnSpc>
              <a:buNone/>
            </a:pPr>
            <a:r>
              <a:rPr lang="en-US" sz="1100" b="1" dirty="0">
                <a:solidFill>
                  <a:srgbClr val="1C2530"/>
                </a:solidFill>
                <a:latin typeface="Calibri" pitchFamily="34" charset="0"/>
                <a:ea typeface="Calibri" pitchFamily="34" charset="-122"/>
                <a:cs typeface="Calibri" pitchFamily="34" charset="-120"/>
              </a:rPr>
              <a:t>128</a:t>
            </a:r>
            <a:endParaRPr lang="en-US" sz="1100" dirty="0"/>
          </a:p>
        </p:txBody>
      </p:sp>
      <p:sp>
        <p:nvSpPr>
          <p:cNvPr id="25" name="Text 23"/>
          <p:cNvSpPr txBox="1"/>
          <p:nvPr/>
        </p:nvSpPr>
        <p:spPr>
          <a:xfrm>
            <a:off x="1956816" y="3685032"/>
            <a:ext cx="210312" cy="219456"/>
          </a:xfrm>
          <a:prstGeom prst="rect">
            <a:avLst/>
          </a:prstGeom>
          <a:noFill/>
          <a:ln/>
        </p:spPr>
        <p:txBody>
          <a:bodyPr wrap="square" lIns="0" tIns="0" rIns="0" bIns="0" rtlCol="0" anchor="ctr"/>
          <a:lstStyle/>
          <a:p>
            <a:pPr algn="ctr" indent="0" marL="0">
              <a:lnSpc>
                <a:spcPct val="118000"/>
              </a:lnSpc>
              <a:buNone/>
            </a:pPr>
            <a:r>
              <a:rPr lang="en-US" sz="1200" dirty="0">
                <a:solidFill>
                  <a:srgbClr val="8A949E"/>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3035808" y="3584448"/>
            <a:ext cx="658368" cy="420624"/>
          </a:xfrm>
          <a:prstGeom prst="roundRect">
            <a:avLst>
              <a:gd name="adj" fmla="val 13043"/>
            </a:avLst>
          </a:prstGeom>
          <a:solidFill>
            <a:srgbClr val="E6F0EE"/>
          </a:solidFill>
          <a:ln w="9525">
            <a:solidFill>
              <a:srgbClr val="BCD3CF"/>
            </a:solidFill>
            <a:prstDash val="solid"/>
          </a:ln>
        </p:spPr>
      </p:sp>
      <p:sp>
        <p:nvSpPr>
          <p:cNvPr id="27" name="Text 25"/>
          <p:cNvSpPr txBox="1"/>
          <p:nvPr/>
        </p:nvSpPr>
        <p:spPr>
          <a:xfrm>
            <a:off x="3035808" y="3694176"/>
            <a:ext cx="658368" cy="219456"/>
          </a:xfrm>
          <a:prstGeom prst="rect">
            <a:avLst/>
          </a:prstGeom>
          <a:noFill/>
          <a:ln/>
        </p:spPr>
        <p:txBody>
          <a:bodyPr wrap="square" lIns="0" tIns="0" rIns="0" bIns="0" rtlCol="0" anchor="ctr"/>
          <a:lstStyle/>
          <a:p>
            <a:pPr algn="ctr" indent="0" marL="0">
              <a:lnSpc>
                <a:spcPct val="118000"/>
              </a:lnSpc>
              <a:buNone/>
            </a:pPr>
            <a:r>
              <a:rPr lang="en-US" sz="1100" b="1" dirty="0">
                <a:solidFill>
                  <a:srgbClr val="1C2530"/>
                </a:solidFill>
                <a:latin typeface="Calibri" pitchFamily="34" charset="0"/>
                <a:ea typeface="Calibri" pitchFamily="34" charset="-122"/>
                <a:cs typeface="Calibri" pitchFamily="34" charset="-120"/>
              </a:rPr>
              <a:t>64</a:t>
            </a:r>
            <a:endParaRPr lang="en-US" sz="1100" dirty="0"/>
          </a:p>
        </p:txBody>
      </p:sp>
      <p:sp>
        <p:nvSpPr>
          <p:cNvPr id="28" name="Text 26"/>
          <p:cNvSpPr txBox="1"/>
          <p:nvPr/>
        </p:nvSpPr>
        <p:spPr>
          <a:xfrm>
            <a:off x="2825496" y="3685032"/>
            <a:ext cx="210312" cy="219456"/>
          </a:xfrm>
          <a:prstGeom prst="rect">
            <a:avLst/>
          </a:prstGeom>
          <a:noFill/>
          <a:ln/>
        </p:spPr>
        <p:txBody>
          <a:bodyPr wrap="square" lIns="0" tIns="0" rIns="0" bIns="0" rtlCol="0" anchor="ctr"/>
          <a:lstStyle/>
          <a:p>
            <a:pPr algn="ctr" indent="0" marL="0">
              <a:lnSpc>
                <a:spcPct val="118000"/>
              </a:lnSpc>
              <a:buNone/>
            </a:pPr>
            <a:r>
              <a:rPr lang="en-US" sz="1200" dirty="0">
                <a:solidFill>
                  <a:srgbClr val="8A949E"/>
                </a:solidFill>
                <a:latin typeface="Calibri" pitchFamily="34" charset="0"/>
                <a:ea typeface="Calibri" pitchFamily="34" charset="-122"/>
                <a:cs typeface="Calibri" pitchFamily="34" charset="-120"/>
              </a:rPr>
              <a:t>‹</a:t>
            </a:r>
            <a:endParaRPr lang="en-US" sz="1200" dirty="0"/>
          </a:p>
        </p:txBody>
      </p:sp>
      <p:sp>
        <p:nvSpPr>
          <p:cNvPr id="29" name="Shape 27"/>
          <p:cNvSpPr/>
          <p:nvPr/>
        </p:nvSpPr>
        <p:spPr>
          <a:xfrm>
            <a:off x="3904488" y="3584448"/>
            <a:ext cx="658368" cy="420624"/>
          </a:xfrm>
          <a:prstGeom prst="roundRect">
            <a:avLst>
              <a:gd name="adj" fmla="val 13043"/>
            </a:avLst>
          </a:prstGeom>
          <a:solidFill>
            <a:srgbClr val="E6F0EE"/>
          </a:solidFill>
          <a:ln w="9525">
            <a:solidFill>
              <a:srgbClr val="BCD3CF"/>
            </a:solidFill>
            <a:prstDash val="solid"/>
          </a:ln>
        </p:spPr>
      </p:sp>
      <p:sp>
        <p:nvSpPr>
          <p:cNvPr id="30" name="Text 28"/>
          <p:cNvSpPr txBox="1"/>
          <p:nvPr/>
        </p:nvSpPr>
        <p:spPr>
          <a:xfrm>
            <a:off x="3904488" y="3694176"/>
            <a:ext cx="658368" cy="219456"/>
          </a:xfrm>
          <a:prstGeom prst="rect">
            <a:avLst/>
          </a:prstGeom>
          <a:noFill/>
          <a:ln/>
        </p:spPr>
        <p:txBody>
          <a:bodyPr wrap="square" lIns="0" tIns="0" rIns="0" bIns="0" rtlCol="0" anchor="ctr"/>
          <a:lstStyle/>
          <a:p>
            <a:pPr algn="ctr" indent="0" marL="0">
              <a:lnSpc>
                <a:spcPct val="118000"/>
              </a:lnSpc>
              <a:buNone/>
            </a:pPr>
            <a:r>
              <a:rPr lang="en-US" sz="1100" b="1" dirty="0">
                <a:solidFill>
                  <a:srgbClr val="1C2530"/>
                </a:solidFill>
                <a:latin typeface="Calibri" pitchFamily="34" charset="0"/>
                <a:ea typeface="Calibri" pitchFamily="34" charset="-122"/>
                <a:cs typeface="Calibri" pitchFamily="34" charset="-120"/>
              </a:rPr>
              <a:t>32</a:t>
            </a:r>
            <a:endParaRPr lang="en-US" sz="1100" dirty="0"/>
          </a:p>
        </p:txBody>
      </p:sp>
      <p:sp>
        <p:nvSpPr>
          <p:cNvPr id="31" name="Text 29"/>
          <p:cNvSpPr txBox="1"/>
          <p:nvPr/>
        </p:nvSpPr>
        <p:spPr>
          <a:xfrm>
            <a:off x="3694176" y="3685032"/>
            <a:ext cx="210312" cy="219456"/>
          </a:xfrm>
          <a:prstGeom prst="rect">
            <a:avLst/>
          </a:prstGeom>
          <a:noFill/>
          <a:ln/>
        </p:spPr>
        <p:txBody>
          <a:bodyPr wrap="square" lIns="0" tIns="0" rIns="0" bIns="0" rtlCol="0" anchor="ctr"/>
          <a:lstStyle/>
          <a:p>
            <a:pPr algn="ctr" indent="0" marL="0">
              <a:lnSpc>
                <a:spcPct val="118000"/>
              </a:lnSpc>
              <a:buNone/>
            </a:pPr>
            <a:r>
              <a:rPr lang="en-US" sz="1200" dirty="0">
                <a:solidFill>
                  <a:srgbClr val="8A949E"/>
                </a:solidFill>
                <a:latin typeface="Calibri" pitchFamily="34" charset="0"/>
                <a:ea typeface="Calibri" pitchFamily="34" charset="-122"/>
                <a:cs typeface="Calibri" pitchFamily="34" charset="-120"/>
              </a:rPr>
              <a:t>‹</a:t>
            </a:r>
            <a:endParaRPr lang="en-US" sz="1200" dirty="0"/>
          </a:p>
        </p:txBody>
      </p:sp>
      <p:sp>
        <p:nvSpPr>
          <p:cNvPr id="32" name="Shape 30"/>
          <p:cNvSpPr/>
          <p:nvPr/>
        </p:nvSpPr>
        <p:spPr>
          <a:xfrm>
            <a:off x="4773168" y="3584448"/>
            <a:ext cx="658368" cy="420624"/>
          </a:xfrm>
          <a:prstGeom prst="roundRect">
            <a:avLst>
              <a:gd name="adj" fmla="val 13043"/>
            </a:avLst>
          </a:prstGeom>
          <a:solidFill>
            <a:srgbClr val="FFFFFF"/>
          </a:solidFill>
          <a:ln w="9525">
            <a:solidFill>
              <a:srgbClr val="BCD3CF"/>
            </a:solidFill>
            <a:prstDash val="solid"/>
          </a:ln>
        </p:spPr>
      </p:sp>
      <p:sp>
        <p:nvSpPr>
          <p:cNvPr id="33" name="Text 31"/>
          <p:cNvSpPr txBox="1"/>
          <p:nvPr/>
        </p:nvSpPr>
        <p:spPr>
          <a:xfrm>
            <a:off x="4773168" y="3694176"/>
            <a:ext cx="658368" cy="219456"/>
          </a:xfrm>
          <a:prstGeom prst="rect">
            <a:avLst/>
          </a:prstGeom>
          <a:noFill/>
          <a:ln/>
        </p:spPr>
        <p:txBody>
          <a:bodyPr wrap="square" lIns="0" tIns="0" rIns="0" bIns="0" rtlCol="0" anchor="ctr"/>
          <a:lstStyle/>
          <a:p>
            <a:pPr algn="ctr" indent="0" marL="0">
              <a:lnSpc>
                <a:spcPct val="118000"/>
              </a:lnSpc>
              <a:buNone/>
            </a:pPr>
            <a:r>
              <a:rPr lang="en-US" sz="1100" b="1" dirty="0">
                <a:solidFill>
                  <a:srgbClr val="1C2530"/>
                </a:solidFill>
                <a:latin typeface="Calibri" pitchFamily="34" charset="0"/>
                <a:ea typeface="Calibri" pitchFamily="34" charset="-122"/>
                <a:cs typeface="Calibri" pitchFamily="34" charset="-120"/>
              </a:rPr>
              <a:t>1</a:t>
            </a:r>
            <a:endParaRPr lang="en-US" sz="1100" dirty="0"/>
          </a:p>
        </p:txBody>
      </p:sp>
      <p:sp>
        <p:nvSpPr>
          <p:cNvPr id="34" name="Text 32"/>
          <p:cNvSpPr txBox="1"/>
          <p:nvPr/>
        </p:nvSpPr>
        <p:spPr>
          <a:xfrm>
            <a:off x="4562856" y="3685032"/>
            <a:ext cx="210312" cy="219456"/>
          </a:xfrm>
          <a:prstGeom prst="rect">
            <a:avLst/>
          </a:prstGeom>
          <a:noFill/>
          <a:ln/>
        </p:spPr>
        <p:txBody>
          <a:bodyPr wrap="square" lIns="0" tIns="0" rIns="0" bIns="0" rtlCol="0" anchor="ctr"/>
          <a:lstStyle/>
          <a:p>
            <a:pPr algn="ctr" indent="0" marL="0">
              <a:lnSpc>
                <a:spcPct val="118000"/>
              </a:lnSpc>
              <a:buNone/>
            </a:pPr>
            <a:r>
              <a:rPr lang="en-US" sz="1200" dirty="0">
                <a:solidFill>
                  <a:srgbClr val="8A949E"/>
                </a:solidFill>
                <a:latin typeface="Calibri" pitchFamily="34" charset="0"/>
                <a:ea typeface="Calibri" pitchFamily="34" charset="-122"/>
                <a:cs typeface="Calibri" pitchFamily="34" charset="-120"/>
              </a:rPr>
              <a:t>‹</a:t>
            </a:r>
            <a:endParaRPr lang="en-US" sz="1200" dirty="0"/>
          </a:p>
        </p:txBody>
      </p:sp>
      <p:sp>
        <p:nvSpPr>
          <p:cNvPr id="35" name="Text 33"/>
          <p:cNvSpPr txBox="1"/>
          <p:nvPr/>
        </p:nvSpPr>
        <p:spPr>
          <a:xfrm>
            <a:off x="731520" y="2578608"/>
            <a:ext cx="512064" cy="219456"/>
          </a:xfrm>
          <a:prstGeom prst="rect">
            <a:avLst/>
          </a:prstGeom>
          <a:noFill/>
          <a:ln/>
        </p:spPr>
        <p:txBody>
          <a:bodyPr wrap="square" lIns="0" tIns="0" rIns="0" bIns="0" rtlCol="0" anchor="ctr"/>
          <a:lstStyle/>
          <a:p>
            <a:pPr algn="r" indent="0" marL="0">
              <a:lnSpc>
                <a:spcPct val="118000"/>
              </a:lnSpc>
              <a:buNone/>
            </a:pPr>
            <a:r>
              <a:rPr lang="en-US" sz="950" dirty="0">
                <a:solidFill>
                  <a:srgbClr val="8A949E"/>
                </a:solidFill>
                <a:latin typeface="Calibri" pitchFamily="34" charset="0"/>
                <a:ea typeface="Calibri" pitchFamily="34" charset="-122"/>
                <a:cs typeface="Calibri" pitchFamily="34" charset="-120"/>
              </a:rPr>
              <a:t>in</a:t>
            </a:r>
            <a:endParaRPr lang="en-US" sz="950" dirty="0"/>
          </a:p>
        </p:txBody>
      </p:sp>
      <p:sp>
        <p:nvSpPr>
          <p:cNvPr id="36" name="Text 34"/>
          <p:cNvSpPr txBox="1"/>
          <p:nvPr/>
        </p:nvSpPr>
        <p:spPr>
          <a:xfrm>
            <a:off x="731520" y="3694176"/>
            <a:ext cx="512064" cy="219456"/>
          </a:xfrm>
          <a:prstGeom prst="rect">
            <a:avLst/>
          </a:prstGeom>
          <a:noFill/>
          <a:ln/>
        </p:spPr>
        <p:txBody>
          <a:bodyPr wrap="square" lIns="0" tIns="0" rIns="0" bIns="0" rtlCol="0" anchor="ctr"/>
          <a:lstStyle/>
          <a:p>
            <a:pPr algn="r" indent="0" marL="0">
              <a:lnSpc>
                <a:spcPct val="118000"/>
              </a:lnSpc>
              <a:buNone/>
            </a:pPr>
            <a:r>
              <a:rPr lang="en-US" sz="950" dirty="0">
                <a:solidFill>
                  <a:srgbClr val="8A949E"/>
                </a:solidFill>
                <a:latin typeface="Calibri" pitchFamily="34" charset="0"/>
                <a:ea typeface="Calibri" pitchFamily="34" charset="-122"/>
                <a:cs typeface="Calibri" pitchFamily="34" charset="-120"/>
              </a:rPr>
              <a:t>out</a:t>
            </a:r>
            <a:endParaRPr lang="en-US" sz="950" dirty="0"/>
          </a:p>
        </p:txBody>
      </p:sp>
      <p:sp>
        <p:nvSpPr>
          <p:cNvPr id="37" name="Shape 35"/>
          <p:cNvSpPr/>
          <p:nvPr/>
        </p:nvSpPr>
        <p:spPr>
          <a:xfrm>
            <a:off x="2487168" y="2889504"/>
            <a:ext cx="18288" cy="694944"/>
          </a:xfrm>
          <a:prstGeom prst="rect">
            <a:avLst/>
          </a:prstGeom>
          <a:solidFill>
            <a:srgbClr val="C9DBD7"/>
          </a:solidFill>
          <a:ln w="12700">
            <a:solidFill>
              <a:srgbClr val="C9DBD7"/>
            </a:solidFill>
            <a:prstDash val="solid"/>
          </a:ln>
        </p:spPr>
      </p:sp>
      <p:sp>
        <p:nvSpPr>
          <p:cNvPr id="38" name="Shape 36"/>
          <p:cNvSpPr/>
          <p:nvPr/>
        </p:nvSpPr>
        <p:spPr>
          <a:xfrm>
            <a:off x="3355848" y="2889504"/>
            <a:ext cx="18288" cy="694944"/>
          </a:xfrm>
          <a:prstGeom prst="rect">
            <a:avLst/>
          </a:prstGeom>
          <a:solidFill>
            <a:srgbClr val="C9DBD7"/>
          </a:solidFill>
          <a:ln w="12700">
            <a:solidFill>
              <a:srgbClr val="C9DBD7"/>
            </a:solidFill>
            <a:prstDash val="solid"/>
          </a:ln>
        </p:spPr>
      </p:sp>
      <p:sp>
        <p:nvSpPr>
          <p:cNvPr id="39" name="Shape 37"/>
          <p:cNvSpPr/>
          <p:nvPr/>
        </p:nvSpPr>
        <p:spPr>
          <a:xfrm>
            <a:off x="4224528" y="2889504"/>
            <a:ext cx="18288" cy="694944"/>
          </a:xfrm>
          <a:prstGeom prst="rect">
            <a:avLst/>
          </a:prstGeom>
          <a:solidFill>
            <a:srgbClr val="C9DBD7"/>
          </a:solidFill>
          <a:ln w="12700">
            <a:solidFill>
              <a:srgbClr val="C9DBD7"/>
            </a:solidFill>
            <a:prstDash val="solid"/>
          </a:ln>
        </p:spPr>
      </p:sp>
      <p:sp>
        <p:nvSpPr>
          <p:cNvPr id="40" name="Text 38"/>
          <p:cNvSpPr txBox="1"/>
          <p:nvPr/>
        </p:nvSpPr>
        <p:spPr>
          <a:xfrm>
            <a:off x="822960" y="4096512"/>
            <a:ext cx="4754880" cy="457200"/>
          </a:xfrm>
          <a:prstGeom prst="rect">
            <a:avLst/>
          </a:prstGeom>
          <a:noFill/>
          <a:ln/>
        </p:spPr>
        <p:txBody>
          <a:bodyPr wrap="square" lIns="0" tIns="0" rIns="0" bIns="0" rtlCol="0" anchor="ctr"/>
          <a:lstStyle/>
          <a:p>
            <a:pPr algn="ctr" indent="0" marL="0">
              <a:lnSpc>
                <a:spcPct val="118000"/>
              </a:lnSpc>
              <a:buNone/>
            </a:pPr>
            <a:r>
              <a:rPr lang="en-US" sz="1050" dirty="0">
                <a:solidFill>
                  <a:srgbClr val="48535F"/>
                </a:solidFill>
                <a:latin typeface="Calibri" pitchFamily="34" charset="0"/>
                <a:ea typeface="Calibri" pitchFamily="34" charset="-122"/>
                <a:cs typeface="Calibri" pitchFamily="34" charset="-120"/>
              </a:rPr>
              <a:t>Vertical ties are skip connections. Channel widths at base 32, depth 4 — 7.8M parameters.</a:t>
            </a:r>
            <a:endParaRPr lang="en-US" sz="1050" dirty="0"/>
          </a:p>
        </p:txBody>
      </p:sp>
      <p:sp>
        <p:nvSpPr>
          <p:cNvPr id="41" name="Shape 39"/>
          <p:cNvSpPr/>
          <p:nvPr/>
        </p:nvSpPr>
        <p:spPr>
          <a:xfrm>
            <a:off x="6099048" y="2029968"/>
            <a:ext cx="5221224" cy="2450592"/>
          </a:xfrm>
          <a:prstGeom prst="roundRect">
            <a:avLst>
              <a:gd name="adj" fmla="val 2239"/>
            </a:avLst>
          </a:prstGeom>
          <a:solidFill>
            <a:srgbClr val="FFFFFF"/>
          </a:solidFill>
          <a:ln w="9525">
            <a:solidFill>
              <a:srgbClr val="DDD8D2"/>
            </a:solidFill>
            <a:prstDash val="solid"/>
          </a:ln>
        </p:spPr>
      </p:sp>
      <p:sp>
        <p:nvSpPr>
          <p:cNvPr id="42" name="Text 40"/>
          <p:cNvSpPr txBox="1"/>
          <p:nvPr/>
        </p:nvSpPr>
        <p:spPr>
          <a:xfrm>
            <a:off x="6355080" y="2231136"/>
            <a:ext cx="4663440" cy="274320"/>
          </a:xfrm>
          <a:prstGeom prst="rect">
            <a:avLst/>
          </a:prstGeom>
          <a:noFill/>
          <a:ln/>
        </p:spPr>
        <p:txBody>
          <a:bodyPr wrap="square" lIns="0" tIns="0" rIns="0" bIns="0" rtlCol="0" anchor="ctr"/>
          <a:lstStyle/>
          <a:p>
            <a:pPr indent="0" marL="0">
              <a:lnSpc>
                <a:spcPct val="118000"/>
              </a:lnSpc>
              <a:buNone/>
            </a:pPr>
            <a:r>
              <a:rPr lang="en-US" sz="1050" b="1" spc="140" kern="0" dirty="0">
                <a:solidFill>
                  <a:srgbClr val="0F6E63"/>
                </a:solidFill>
                <a:latin typeface="Calibri" pitchFamily="34" charset="0"/>
                <a:ea typeface="Calibri" pitchFamily="34" charset="-122"/>
                <a:cs typeface="Calibri" pitchFamily="34" charset="-120"/>
              </a:rPr>
              <a:t>DESIGN DECISIONS</a:t>
            </a:r>
            <a:endParaRPr lang="en-US" sz="1050" dirty="0"/>
          </a:p>
        </p:txBody>
      </p:sp>
      <p:sp>
        <p:nvSpPr>
          <p:cNvPr id="43" name="Text 41"/>
          <p:cNvSpPr txBox="1"/>
          <p:nvPr/>
        </p:nvSpPr>
        <p:spPr>
          <a:xfrm>
            <a:off x="6355080" y="2578608"/>
            <a:ext cx="4709160" cy="1783080"/>
          </a:xfrm>
          <a:prstGeom prst="rect">
            <a:avLst/>
          </a:prstGeom>
          <a:noFill/>
          <a:ln/>
        </p:spPr>
        <p:txBody>
          <a:bodyPr wrap="square" lIns="0" tIns="0" rIns="0" bIns="0" rtlCol="0" anchor="ctr"/>
          <a:lstStyle/>
          <a:p>
            <a:pPr marL="177800" indent="-177800">
              <a:lnSpc>
                <a:spcPct val="120000"/>
              </a:lnSpc>
              <a:spcAft>
                <a:spcPts val="500"/>
              </a:spcAft>
              <a:buSzPct val="100000"/>
              <a:buChar char="•"/>
            </a:pPr>
            <a:r>
              <a:rPr lang="en-US" sz="1100" dirty="0">
                <a:solidFill>
                  <a:srgbClr val="48535F"/>
                </a:solidFill>
                <a:latin typeface="Calibri" pitchFamily="34" charset="0"/>
                <a:ea typeface="Calibri" pitchFamily="34" charset="-122"/>
                <a:cs typeface="Calibri" pitchFamily="34" charset="-120"/>
              </a:rPr>
              <a:t>Returns logits, never probabilities. Each loss applies its own sigmoid; a double sigmoid trains without error and quietly halves the learning signal.</a:t>
            </a:r>
            <a:endParaRPr lang="en-US" sz="1100" dirty="0"/>
          </a:p>
          <a:p>
            <a:pPr marL="177800" indent="-177800">
              <a:lnSpc>
                <a:spcPct val="120000"/>
              </a:lnSpc>
              <a:spcAft>
                <a:spcPts val="500"/>
              </a:spcAft>
              <a:buSzPct val="100000"/>
              <a:buChar char="•"/>
            </a:pPr>
            <a:r>
              <a:rPr lang="en-US" sz="1100" dirty="0">
                <a:solidFill>
                  <a:srgbClr val="48535F"/>
                </a:solidFill>
                <a:latin typeface="Calibri" pitchFamily="34" charset="0"/>
                <a:ea typeface="Calibri" pitchFamily="34" charset="-122"/>
                <a:cs typeface="Calibri" pitchFamily="34" charset="-120"/>
              </a:rPr>
              <a:t>Trains on a free Colab GPU at base 32, so capacity is an ablation rather than a hardware constraint.</a:t>
            </a:r>
            <a:endParaRPr lang="en-US" sz="1100" dirty="0"/>
          </a:p>
          <a:p>
            <a:pPr marL="177800" indent="-177800">
              <a:lnSpc>
                <a:spcPct val="120000"/>
              </a:lnSpc>
              <a:spcAft>
                <a:spcPts val="500"/>
              </a:spcAft>
              <a:buSzPct val="100000"/>
              <a:buChar char="•"/>
            </a:pPr>
            <a:r>
              <a:rPr lang="en-US" sz="1100" dirty="0">
                <a:solidFill>
                  <a:srgbClr val="48535F"/>
                </a:solidFill>
                <a:latin typeface="Calibri" pitchFamily="34" charset="0"/>
                <a:ea typeface="Calibri" pitchFamily="34" charset="-122"/>
                <a:cs typeface="Calibri" pitchFamily="34" charset="-120"/>
              </a:rPr>
              <a:t>Both upsampling modes implemented, so bilinear versus transposed convolution can be measured, not assumed.</a:t>
            </a:r>
            <a:endParaRPr lang="en-US" sz="1100" dirty="0"/>
          </a:p>
        </p:txBody>
      </p:sp>
      <p:sp>
        <p:nvSpPr>
          <p:cNvPr id="44" name="Shape 42"/>
          <p:cNvSpPr/>
          <p:nvPr/>
        </p:nvSpPr>
        <p:spPr>
          <a:xfrm>
            <a:off x="566928" y="4681728"/>
            <a:ext cx="10753344" cy="1024128"/>
          </a:xfrm>
          <a:prstGeom prst="roundRect">
            <a:avLst>
              <a:gd name="adj" fmla="val 5357"/>
            </a:avLst>
          </a:prstGeom>
          <a:solidFill>
            <a:srgbClr val="E6F0EE"/>
          </a:solidFill>
          <a:ln w="9525">
            <a:solidFill>
              <a:srgbClr val="BCD3CF"/>
            </a:solidFill>
            <a:prstDash val="solid"/>
          </a:ln>
        </p:spPr>
      </p:sp>
      <p:sp>
        <p:nvSpPr>
          <p:cNvPr id="45" name="Text 43"/>
          <p:cNvSpPr txBox="1"/>
          <p:nvPr/>
        </p:nvSpPr>
        <p:spPr>
          <a:xfrm>
            <a:off x="841248" y="4882896"/>
            <a:ext cx="10241280" cy="640080"/>
          </a:xfrm>
          <a:prstGeom prst="rect">
            <a:avLst/>
          </a:prstGeom>
          <a:noFill/>
          <a:ln/>
        </p:spPr>
        <p:txBody>
          <a:bodyPr wrap="square" lIns="0" tIns="0" rIns="0" bIns="0" rtlCol="0" anchor="ctr"/>
          <a:lstStyle/>
          <a:p>
            <a:pPr indent="0" marL="0">
              <a:lnSpc>
                <a:spcPct val="118000"/>
              </a:lnSpc>
              <a:buNone/>
            </a:pPr>
            <a:r>
              <a:rPr lang="en-US" sz="1200" dirty="0">
                <a:solidFill>
                  <a:srgbClr val="48535F"/>
                </a:solidFill>
                <a:latin typeface="Calibri" pitchFamily="34" charset="0"/>
                <a:ea typeface="Calibri" pitchFamily="34" charset="-122"/>
                <a:cs typeface="Calibri" pitchFamily="34" charset="-120"/>
              </a:rPr>
              <a:t>Augmentation is constrained by the subject: flips and rotations are safe, but a scale change can erase a one-pixel crack while leaving its mask intact, teaching the model that blank wall means crack. Masks use nearest-neighbour interpolation. Measured: 1 px cracks still fade in about 90% of draws. That does not matter on DeepCrack (median crack 5.9 px) but would for hairline cracks.</a:t>
            </a:r>
            <a:endParaRPr lang="en-US" sz="1200" dirty="0"/>
          </a:p>
        </p:txBody>
      </p:sp>
      <p:sp>
        <p:nvSpPr>
          <p:cNvPr id="46" name="Text 44"/>
          <p:cNvSpPr txBox="1"/>
          <p:nvPr/>
        </p:nvSpPr>
        <p:spPr>
          <a:xfrm>
            <a:off x="566928" y="6419088"/>
            <a:ext cx="7315200" cy="201168"/>
          </a:xfrm>
          <a:prstGeom prst="rect">
            <a:avLst/>
          </a:prstGeom>
          <a:noFill/>
          <a:ln/>
        </p:spPr>
        <p:txBody>
          <a:bodyPr wrap="square" lIns="0" tIns="0" rIns="0" bIns="0" rtlCol="0" anchor="ctr"/>
          <a:lstStyle/>
          <a:p>
            <a:pPr indent="0" marL="0">
              <a:buNone/>
            </a:pPr>
            <a:r>
              <a:rPr lang="en-US" sz="900" dirty="0">
                <a:solidFill>
                  <a:srgbClr val="8A949E"/>
                </a:solidFill>
                <a:latin typeface="Calibri" pitchFamily="34" charset="0"/>
                <a:ea typeface="Calibri" pitchFamily="34" charset="-122"/>
                <a:cs typeface="Calibri" pitchFamily="34" charset="-120"/>
              </a:rPr>
              <a:t>Crack Segmentation for Structural Monitoring</a:t>
            </a:r>
            <a:endParaRPr lang="en-US" sz="900" dirty="0"/>
          </a:p>
        </p:txBody>
      </p:sp>
      <p:sp>
        <p:nvSpPr>
          <p:cNvPr id="47" name="Text 45"/>
          <p:cNvSpPr txBox="1"/>
          <p:nvPr/>
        </p:nvSpPr>
        <p:spPr>
          <a:xfrm>
            <a:off x="11064240" y="6419088"/>
            <a:ext cx="548640" cy="201168"/>
          </a:xfrm>
          <a:prstGeom prst="rect">
            <a:avLst/>
          </a:prstGeom>
          <a:noFill/>
          <a:ln/>
        </p:spPr>
        <p:txBody>
          <a:bodyPr wrap="square" lIns="0" tIns="0" rIns="0" bIns="0" rtlCol="0" anchor="ctr"/>
          <a:lstStyle/>
          <a:p>
            <a:pPr algn="r" indent="0" marL="0">
              <a:buNone/>
            </a:pPr>
            <a:r>
              <a:rPr lang="en-US" sz="900" dirty="0">
                <a:solidFill>
                  <a:srgbClr val="8A949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8"/>
        </a:solidFill>
      </p:bgPr>
    </p:bg>
    <p:spTree>
      <p:nvGrpSpPr>
        <p:cNvPr id="1" name=""/>
        <p:cNvGrpSpPr/>
        <p:nvPr/>
      </p:nvGrpSpPr>
      <p:grpSpPr>
        <a:xfrm>
          <a:off x="0" y="0"/>
          <a:ext cx="0" cy="0"/>
          <a:chOff x="0" y="0"/>
          <a:chExt cx="0" cy="0"/>
        </a:xfrm>
      </p:grpSpPr>
      <p:sp>
        <p:nvSpPr>
          <p:cNvPr id="2" name="Text 0"/>
          <p:cNvSpPr txBox="1"/>
          <p:nvPr/>
        </p:nvSpPr>
        <p:spPr>
          <a:xfrm>
            <a:off x="566928" y="384048"/>
            <a:ext cx="11064240" cy="219456"/>
          </a:xfrm>
          <a:prstGeom prst="rect">
            <a:avLst/>
          </a:prstGeom>
          <a:noFill/>
          <a:ln/>
        </p:spPr>
        <p:txBody>
          <a:bodyPr wrap="square" lIns="0" tIns="0" rIns="0" bIns="0" rtlCol="0" anchor="ctr"/>
          <a:lstStyle/>
          <a:p>
            <a:pPr indent="0" marL="0">
              <a:buNone/>
            </a:pPr>
            <a:r>
              <a:rPr lang="en-US" sz="1050" b="1" spc="220" kern="0" dirty="0">
                <a:solidFill>
                  <a:srgbClr val="0F6E63"/>
                </a:solidFill>
                <a:latin typeface="Calibri" pitchFamily="34" charset="0"/>
                <a:ea typeface="Calibri" pitchFamily="34" charset="-122"/>
                <a:cs typeface="Calibri" pitchFamily="34" charset="-120"/>
              </a:rPr>
              <a:t>EVALUATION</a:t>
            </a:r>
            <a:endParaRPr lang="en-US" sz="1050" dirty="0"/>
          </a:p>
        </p:txBody>
      </p:sp>
      <p:sp>
        <p:nvSpPr>
          <p:cNvPr id="3" name="Text 1"/>
          <p:cNvSpPr txBox="1"/>
          <p:nvPr/>
        </p:nvSpPr>
        <p:spPr>
          <a:xfrm>
            <a:off x="566928" y="640080"/>
            <a:ext cx="11064240" cy="475488"/>
          </a:xfrm>
          <a:prstGeom prst="rect">
            <a:avLst/>
          </a:prstGeom>
          <a:noFill/>
          <a:ln/>
        </p:spPr>
        <p:txBody>
          <a:bodyPr wrap="square" lIns="0" tIns="0" rIns="0" bIns="0" rtlCol="0" anchor="ctr"/>
          <a:lstStyle/>
          <a:p>
            <a:pPr indent="0" marL="0">
              <a:buNone/>
            </a:pPr>
            <a:r>
              <a:rPr lang="en-US" sz="2600" dirty="0">
                <a:solidFill>
                  <a:srgbClr val="1C2530"/>
                </a:solidFill>
                <a:latin typeface="Georgia" pitchFamily="34" charset="0"/>
                <a:ea typeface="Georgia" pitchFamily="34" charset="-122"/>
                <a:cs typeface="Georgia" pitchFamily="34" charset="-120"/>
              </a:rPr>
              <a:t>Measuring it honestly</a:t>
            </a:r>
            <a:endParaRPr lang="en-US" sz="2600" dirty="0"/>
          </a:p>
        </p:txBody>
      </p:sp>
      <p:sp>
        <p:nvSpPr>
          <p:cNvPr id="4" name="Shape 2"/>
          <p:cNvSpPr/>
          <p:nvPr/>
        </p:nvSpPr>
        <p:spPr>
          <a:xfrm>
            <a:off x="566928" y="1207008"/>
            <a:ext cx="777240" cy="32004"/>
          </a:xfrm>
          <a:prstGeom prst="rect">
            <a:avLst/>
          </a:prstGeom>
          <a:solidFill>
            <a:srgbClr val="0F6E63"/>
          </a:solidFill>
          <a:ln w="12700">
            <a:solidFill>
              <a:srgbClr val="0F6E63"/>
            </a:solidFill>
            <a:prstDash val="solid"/>
          </a:ln>
        </p:spPr>
      </p:sp>
      <p:sp>
        <p:nvSpPr>
          <p:cNvPr id="5" name="Text 3"/>
          <p:cNvSpPr txBox="1"/>
          <p:nvPr/>
        </p:nvSpPr>
        <p:spPr>
          <a:xfrm>
            <a:off x="566928" y="1481328"/>
            <a:ext cx="10607040" cy="365760"/>
          </a:xfrm>
          <a:prstGeom prst="rect">
            <a:avLst/>
          </a:prstGeom>
          <a:noFill/>
          <a:ln/>
        </p:spPr>
        <p:txBody>
          <a:bodyPr wrap="square" lIns="0" tIns="0" rIns="0" bIns="0" rtlCol="0" anchor="ctr"/>
          <a:lstStyle/>
          <a:p>
            <a:pPr indent="0" marL="0">
              <a:lnSpc>
                <a:spcPct val="118000"/>
              </a:lnSpc>
              <a:buNone/>
            </a:pPr>
            <a:r>
              <a:rPr lang="en-US" sz="1300" dirty="0">
                <a:solidFill>
                  <a:srgbClr val="48535F"/>
                </a:solidFill>
                <a:latin typeface="Calibri" pitchFamily="34" charset="0"/>
                <a:ea typeface="Calibri" pitchFamily="34" charset="-122"/>
                <a:cs typeface="Calibri" pitchFamily="34" charset="-120"/>
              </a:rPr>
              <a:t>With 2 to 3% positive pixels, the choice of metric and the choice of protocol decide whether the numbers mean anything. Three decisions were made deliberately.</a:t>
            </a:r>
            <a:endParaRPr lang="en-US" sz="1300" dirty="0"/>
          </a:p>
        </p:txBody>
      </p:sp>
      <p:sp>
        <p:nvSpPr>
          <p:cNvPr id="6" name="Shape 4"/>
          <p:cNvSpPr/>
          <p:nvPr/>
        </p:nvSpPr>
        <p:spPr>
          <a:xfrm>
            <a:off x="566928" y="2029968"/>
            <a:ext cx="3401568" cy="3621024"/>
          </a:xfrm>
          <a:prstGeom prst="roundRect">
            <a:avLst>
              <a:gd name="adj" fmla="val 1613"/>
            </a:avLst>
          </a:prstGeom>
          <a:solidFill>
            <a:srgbClr val="FFFFFF"/>
          </a:solidFill>
          <a:ln w="9525">
            <a:solidFill>
              <a:srgbClr val="DDD8D2"/>
            </a:solidFill>
            <a:prstDash val="solid"/>
          </a:ln>
        </p:spPr>
      </p:sp>
      <p:sp>
        <p:nvSpPr>
          <p:cNvPr id="7" name="Text 5"/>
          <p:cNvSpPr txBox="1"/>
          <p:nvPr/>
        </p:nvSpPr>
        <p:spPr>
          <a:xfrm>
            <a:off x="822960" y="2231136"/>
            <a:ext cx="2926080" cy="274320"/>
          </a:xfrm>
          <a:prstGeom prst="rect">
            <a:avLst/>
          </a:prstGeom>
          <a:noFill/>
          <a:ln/>
        </p:spPr>
        <p:txBody>
          <a:bodyPr wrap="square" lIns="0" tIns="0" rIns="0" bIns="0" rtlCol="0" anchor="ctr"/>
          <a:lstStyle/>
          <a:p>
            <a:pPr indent="0" marL="0">
              <a:lnSpc>
                <a:spcPct val="118000"/>
              </a:lnSpc>
              <a:buNone/>
            </a:pPr>
            <a:r>
              <a:rPr lang="en-US" sz="1400" b="1" dirty="0">
                <a:solidFill>
                  <a:srgbClr val="1C2530"/>
                </a:solidFill>
                <a:latin typeface="Georgia" pitchFamily="34" charset="0"/>
                <a:ea typeface="Georgia" pitchFamily="34" charset="-122"/>
                <a:cs typeface="Georgia" pitchFamily="34" charset="-120"/>
              </a:rPr>
              <a:t>Metrics</a:t>
            </a:r>
            <a:endParaRPr lang="en-US" sz="1400" dirty="0"/>
          </a:p>
        </p:txBody>
      </p:sp>
      <p:sp>
        <p:nvSpPr>
          <p:cNvPr id="8" name="Text 6"/>
          <p:cNvSpPr txBox="1"/>
          <p:nvPr/>
        </p:nvSpPr>
        <p:spPr>
          <a:xfrm>
            <a:off x="822960" y="2596896"/>
            <a:ext cx="2889504" cy="1051560"/>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IoU, Dice, precision and recall — reported per image and averaged, so a few heavily cracked images cannot dominate the score.</a:t>
            </a:r>
            <a:endParaRPr lang="en-US" sz="1100" dirty="0"/>
          </a:p>
        </p:txBody>
      </p:sp>
      <p:sp>
        <p:nvSpPr>
          <p:cNvPr id="9" name="Shape 7"/>
          <p:cNvSpPr/>
          <p:nvPr/>
        </p:nvSpPr>
        <p:spPr>
          <a:xfrm>
            <a:off x="822960" y="3712464"/>
            <a:ext cx="502920" cy="22860"/>
          </a:xfrm>
          <a:prstGeom prst="rect">
            <a:avLst/>
          </a:prstGeom>
          <a:solidFill>
            <a:srgbClr val="DDD8D2"/>
          </a:solidFill>
          <a:ln w="12700">
            <a:solidFill>
              <a:srgbClr val="DDD8D2"/>
            </a:solidFill>
            <a:prstDash val="solid"/>
          </a:ln>
        </p:spPr>
      </p:sp>
      <p:sp>
        <p:nvSpPr>
          <p:cNvPr id="10" name="Text 8"/>
          <p:cNvSpPr txBox="1"/>
          <p:nvPr/>
        </p:nvSpPr>
        <p:spPr>
          <a:xfrm>
            <a:off x="822960" y="3895344"/>
            <a:ext cx="2889504" cy="1554480"/>
          </a:xfrm>
          <a:prstGeom prst="rect">
            <a:avLst/>
          </a:prstGeom>
          <a:noFill/>
          <a:ln/>
        </p:spPr>
        <p:txBody>
          <a:bodyPr wrap="square" lIns="0" tIns="0" rIns="0" bIns="0" rtlCol="0" anchor="ctr"/>
          <a:lstStyle/>
          <a:p>
            <a:pPr indent="0" marL="0">
              <a:lnSpc>
                <a:spcPct val="118000"/>
              </a:lnSpc>
              <a:buNone/>
            </a:pPr>
            <a:r>
              <a:rPr lang="en-US" sz="1050" i="1" dirty="0">
                <a:solidFill>
                  <a:srgbClr val="8A949E"/>
                </a:solidFill>
                <a:latin typeface="Calibri" pitchFamily="34" charset="0"/>
                <a:ea typeface="Calibri" pitchFamily="34" charset="-122"/>
                <a:cs typeface="Calibri" pitchFamily="34" charset="-120"/>
              </a:rPr>
              <a:t>Pixel accuracy is reported only to show how misleading it is: the do-nothing model scores 0.966 on the test set.</a:t>
            </a:r>
            <a:endParaRPr lang="en-US" sz="1050" dirty="0"/>
          </a:p>
        </p:txBody>
      </p:sp>
      <p:sp>
        <p:nvSpPr>
          <p:cNvPr id="11" name="Shape 9"/>
          <p:cNvSpPr/>
          <p:nvPr/>
        </p:nvSpPr>
        <p:spPr>
          <a:xfrm>
            <a:off x="4242816" y="2029968"/>
            <a:ext cx="3401568" cy="3621024"/>
          </a:xfrm>
          <a:prstGeom prst="roundRect">
            <a:avLst>
              <a:gd name="adj" fmla="val 1613"/>
            </a:avLst>
          </a:prstGeom>
          <a:solidFill>
            <a:srgbClr val="FFFFFF"/>
          </a:solidFill>
          <a:ln w="9525">
            <a:solidFill>
              <a:srgbClr val="DDD8D2"/>
            </a:solidFill>
            <a:prstDash val="solid"/>
          </a:ln>
        </p:spPr>
      </p:sp>
      <p:sp>
        <p:nvSpPr>
          <p:cNvPr id="12" name="Text 10"/>
          <p:cNvSpPr txBox="1"/>
          <p:nvPr/>
        </p:nvSpPr>
        <p:spPr>
          <a:xfrm>
            <a:off x="4498848" y="2231136"/>
            <a:ext cx="2926080" cy="274320"/>
          </a:xfrm>
          <a:prstGeom prst="rect">
            <a:avLst/>
          </a:prstGeom>
          <a:noFill/>
          <a:ln/>
        </p:spPr>
        <p:txBody>
          <a:bodyPr wrap="square" lIns="0" tIns="0" rIns="0" bIns="0" rtlCol="0" anchor="ctr"/>
          <a:lstStyle/>
          <a:p>
            <a:pPr indent="0" marL="0">
              <a:lnSpc>
                <a:spcPct val="118000"/>
              </a:lnSpc>
              <a:buNone/>
            </a:pPr>
            <a:r>
              <a:rPr lang="en-US" sz="1400" b="1" dirty="0">
                <a:solidFill>
                  <a:srgbClr val="1C2530"/>
                </a:solidFill>
                <a:latin typeface="Georgia" pitchFamily="34" charset="0"/>
                <a:ea typeface="Georgia" pitchFamily="34" charset="-122"/>
                <a:cs typeface="Georgia" pitchFamily="34" charset="-120"/>
              </a:rPr>
              <a:t>Threshold</a:t>
            </a:r>
            <a:endParaRPr lang="en-US" sz="1400" dirty="0"/>
          </a:p>
        </p:txBody>
      </p:sp>
      <p:sp>
        <p:nvSpPr>
          <p:cNvPr id="13" name="Text 11"/>
          <p:cNvSpPr txBox="1"/>
          <p:nvPr/>
        </p:nvSpPr>
        <p:spPr>
          <a:xfrm>
            <a:off x="4498848" y="2596896"/>
            <a:ext cx="2889504" cy="1051560"/>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The default 0.5 is rarely optimal on imbalanced data. A sweep selects it on the validation split, then it is applied once to test.</a:t>
            </a:r>
            <a:endParaRPr lang="en-US" sz="1100" dirty="0"/>
          </a:p>
        </p:txBody>
      </p:sp>
      <p:sp>
        <p:nvSpPr>
          <p:cNvPr id="14" name="Shape 12"/>
          <p:cNvSpPr/>
          <p:nvPr/>
        </p:nvSpPr>
        <p:spPr>
          <a:xfrm>
            <a:off x="4498848" y="3712464"/>
            <a:ext cx="502920" cy="22860"/>
          </a:xfrm>
          <a:prstGeom prst="rect">
            <a:avLst/>
          </a:prstGeom>
          <a:solidFill>
            <a:srgbClr val="DDD8D2"/>
          </a:solidFill>
          <a:ln w="12700">
            <a:solidFill>
              <a:srgbClr val="DDD8D2"/>
            </a:solidFill>
            <a:prstDash val="solid"/>
          </a:ln>
        </p:spPr>
      </p:sp>
      <p:sp>
        <p:nvSpPr>
          <p:cNvPr id="15" name="Text 13"/>
          <p:cNvSpPr txBox="1"/>
          <p:nvPr/>
        </p:nvSpPr>
        <p:spPr>
          <a:xfrm>
            <a:off x="4498848" y="3895344"/>
            <a:ext cx="2889504" cy="1554480"/>
          </a:xfrm>
          <a:prstGeom prst="rect">
            <a:avLst/>
          </a:prstGeom>
          <a:noFill/>
          <a:ln/>
        </p:spPr>
        <p:txBody>
          <a:bodyPr wrap="square" lIns="0" tIns="0" rIns="0" bIns="0" rtlCol="0" anchor="ctr"/>
          <a:lstStyle/>
          <a:p>
            <a:pPr indent="0" marL="0">
              <a:lnSpc>
                <a:spcPct val="118000"/>
              </a:lnSpc>
              <a:buNone/>
            </a:pPr>
            <a:r>
              <a:rPr lang="en-US" sz="1050" i="1" dirty="0">
                <a:solidFill>
                  <a:srgbClr val="8A949E"/>
                </a:solidFill>
                <a:latin typeface="Calibri" pitchFamily="34" charset="0"/>
                <a:ea typeface="Calibri" pitchFamily="34" charset="-122"/>
                <a:cs typeface="Calibri" pitchFamily="34" charset="-120"/>
              </a:rPr>
              <a:t>Tuning on test and reporting test is leakage, and it is an easy mistake to make by accident.</a:t>
            </a:r>
            <a:endParaRPr lang="en-US" sz="1050" dirty="0"/>
          </a:p>
        </p:txBody>
      </p:sp>
      <p:sp>
        <p:nvSpPr>
          <p:cNvPr id="16" name="Shape 14"/>
          <p:cNvSpPr/>
          <p:nvPr/>
        </p:nvSpPr>
        <p:spPr>
          <a:xfrm>
            <a:off x="7918704" y="2029968"/>
            <a:ext cx="3401568" cy="3621024"/>
          </a:xfrm>
          <a:prstGeom prst="roundRect">
            <a:avLst>
              <a:gd name="adj" fmla="val 1613"/>
            </a:avLst>
          </a:prstGeom>
          <a:solidFill>
            <a:srgbClr val="FFFFFF"/>
          </a:solidFill>
          <a:ln w="9525">
            <a:solidFill>
              <a:srgbClr val="DDD8D2"/>
            </a:solidFill>
            <a:prstDash val="solid"/>
          </a:ln>
        </p:spPr>
      </p:sp>
      <p:sp>
        <p:nvSpPr>
          <p:cNvPr id="17" name="Text 15"/>
          <p:cNvSpPr txBox="1"/>
          <p:nvPr/>
        </p:nvSpPr>
        <p:spPr>
          <a:xfrm>
            <a:off x="8174736" y="2231136"/>
            <a:ext cx="2926080" cy="274320"/>
          </a:xfrm>
          <a:prstGeom prst="rect">
            <a:avLst/>
          </a:prstGeom>
          <a:noFill/>
          <a:ln/>
        </p:spPr>
        <p:txBody>
          <a:bodyPr wrap="square" lIns="0" tIns="0" rIns="0" bIns="0" rtlCol="0" anchor="ctr"/>
          <a:lstStyle/>
          <a:p>
            <a:pPr indent="0" marL="0">
              <a:lnSpc>
                <a:spcPct val="118000"/>
              </a:lnSpc>
              <a:buNone/>
            </a:pPr>
            <a:r>
              <a:rPr lang="en-US" sz="1400" b="1" dirty="0">
                <a:solidFill>
                  <a:srgbClr val="1C2530"/>
                </a:solidFill>
                <a:latin typeface="Georgia" pitchFamily="34" charset="0"/>
                <a:ea typeface="Georgia" pitchFamily="34" charset="-122"/>
                <a:cs typeface="Georgia" pitchFamily="34" charset="-120"/>
              </a:rPr>
              <a:t>Splits</a:t>
            </a:r>
            <a:endParaRPr lang="en-US" sz="1400" dirty="0"/>
          </a:p>
        </p:txBody>
      </p:sp>
      <p:sp>
        <p:nvSpPr>
          <p:cNvPr id="18" name="Text 16"/>
          <p:cNvSpPr txBox="1"/>
          <p:nvPr/>
        </p:nvSpPr>
        <p:spPr>
          <a:xfrm>
            <a:off x="8174736" y="2596896"/>
            <a:ext cx="2889504" cy="1051560"/>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Train, validation and test are assigned by hashing the filename, not by shuffling with a seed.</a:t>
            </a:r>
            <a:endParaRPr lang="en-US" sz="1100" dirty="0"/>
          </a:p>
        </p:txBody>
      </p:sp>
      <p:sp>
        <p:nvSpPr>
          <p:cNvPr id="19" name="Shape 17"/>
          <p:cNvSpPr/>
          <p:nvPr/>
        </p:nvSpPr>
        <p:spPr>
          <a:xfrm>
            <a:off x="8174736" y="3712464"/>
            <a:ext cx="502920" cy="22860"/>
          </a:xfrm>
          <a:prstGeom prst="rect">
            <a:avLst/>
          </a:prstGeom>
          <a:solidFill>
            <a:srgbClr val="DDD8D2"/>
          </a:solidFill>
          <a:ln w="12700">
            <a:solidFill>
              <a:srgbClr val="DDD8D2"/>
            </a:solidFill>
            <a:prstDash val="solid"/>
          </a:ln>
        </p:spPr>
      </p:sp>
      <p:sp>
        <p:nvSpPr>
          <p:cNvPr id="20" name="Text 18"/>
          <p:cNvSpPr txBox="1"/>
          <p:nvPr/>
        </p:nvSpPr>
        <p:spPr>
          <a:xfrm>
            <a:off x="8174736" y="3895344"/>
            <a:ext cx="2889504" cy="1554480"/>
          </a:xfrm>
          <a:prstGeom prst="rect">
            <a:avLst/>
          </a:prstGeom>
          <a:noFill/>
          <a:ln/>
        </p:spPr>
        <p:txBody>
          <a:bodyPr wrap="square" lIns="0" tIns="0" rIns="0" bIns="0" rtlCol="0" anchor="ctr"/>
          <a:lstStyle/>
          <a:p>
            <a:pPr indent="0" marL="0">
              <a:lnSpc>
                <a:spcPct val="118000"/>
              </a:lnSpc>
              <a:buNone/>
            </a:pPr>
            <a:r>
              <a:rPr lang="en-US" sz="1050" i="1" dirty="0">
                <a:solidFill>
                  <a:srgbClr val="8A949E"/>
                </a:solidFill>
                <a:latin typeface="Calibri" pitchFamily="34" charset="0"/>
                <a:ea typeface="Calibri" pitchFamily="34" charset="-122"/>
                <a:cs typeface="Calibri" pitchFamily="34" charset="-120"/>
              </a:rPr>
              <a:t>An image lands in the same split every run, even after files are added. A re-shuffle that leaks test into train is very hard to spot from metrics alone.</a:t>
            </a:r>
            <a:endParaRPr lang="en-US" sz="1050" dirty="0"/>
          </a:p>
        </p:txBody>
      </p:sp>
      <p:sp>
        <p:nvSpPr>
          <p:cNvPr id="21" name="Text 19"/>
          <p:cNvSpPr txBox="1"/>
          <p:nvPr/>
        </p:nvSpPr>
        <p:spPr>
          <a:xfrm>
            <a:off x="566928" y="6419088"/>
            <a:ext cx="7315200" cy="201168"/>
          </a:xfrm>
          <a:prstGeom prst="rect">
            <a:avLst/>
          </a:prstGeom>
          <a:noFill/>
          <a:ln/>
        </p:spPr>
        <p:txBody>
          <a:bodyPr wrap="square" lIns="0" tIns="0" rIns="0" bIns="0" rtlCol="0" anchor="ctr"/>
          <a:lstStyle/>
          <a:p>
            <a:pPr indent="0" marL="0">
              <a:buNone/>
            </a:pPr>
            <a:r>
              <a:rPr lang="en-US" sz="900" dirty="0">
                <a:solidFill>
                  <a:srgbClr val="8A949E"/>
                </a:solidFill>
                <a:latin typeface="Calibri" pitchFamily="34" charset="0"/>
                <a:ea typeface="Calibri" pitchFamily="34" charset="-122"/>
                <a:cs typeface="Calibri" pitchFamily="34" charset="-120"/>
              </a:rPr>
              <a:t>Crack Segmentation for Structural Monitoring</a:t>
            </a:r>
            <a:endParaRPr lang="en-US" sz="900" dirty="0"/>
          </a:p>
        </p:txBody>
      </p:sp>
      <p:sp>
        <p:nvSpPr>
          <p:cNvPr id="22" name="Text 20"/>
          <p:cNvSpPr txBox="1"/>
          <p:nvPr/>
        </p:nvSpPr>
        <p:spPr>
          <a:xfrm>
            <a:off x="11064240" y="6419088"/>
            <a:ext cx="548640" cy="201168"/>
          </a:xfrm>
          <a:prstGeom prst="rect">
            <a:avLst/>
          </a:prstGeom>
          <a:noFill/>
          <a:ln/>
        </p:spPr>
        <p:txBody>
          <a:bodyPr wrap="square" lIns="0" tIns="0" rIns="0" bIns="0" rtlCol="0" anchor="ctr"/>
          <a:lstStyle/>
          <a:p>
            <a:pPr algn="r" indent="0" marL="0">
              <a:buNone/>
            </a:pPr>
            <a:r>
              <a:rPr lang="en-US" sz="900" dirty="0">
                <a:solidFill>
                  <a:srgbClr val="8A949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8"/>
        </a:solidFill>
      </p:bgPr>
    </p:bg>
    <p:spTree>
      <p:nvGrpSpPr>
        <p:cNvPr id="1" name=""/>
        <p:cNvGrpSpPr/>
        <p:nvPr/>
      </p:nvGrpSpPr>
      <p:grpSpPr>
        <a:xfrm>
          <a:off x="0" y="0"/>
          <a:ext cx="0" cy="0"/>
          <a:chOff x="0" y="0"/>
          <a:chExt cx="0" cy="0"/>
        </a:xfrm>
      </p:grpSpPr>
      <p:sp>
        <p:nvSpPr>
          <p:cNvPr id="2" name="Text 0"/>
          <p:cNvSpPr txBox="1"/>
          <p:nvPr/>
        </p:nvSpPr>
        <p:spPr>
          <a:xfrm>
            <a:off x="566928" y="384048"/>
            <a:ext cx="11064240" cy="219456"/>
          </a:xfrm>
          <a:prstGeom prst="rect">
            <a:avLst/>
          </a:prstGeom>
          <a:noFill/>
          <a:ln/>
        </p:spPr>
        <p:txBody>
          <a:bodyPr wrap="square" lIns="0" tIns="0" rIns="0" bIns="0" rtlCol="0" anchor="ctr"/>
          <a:lstStyle/>
          <a:p>
            <a:pPr indent="0" marL="0">
              <a:buNone/>
            </a:pPr>
            <a:r>
              <a:rPr lang="en-US" sz="1050" b="1" spc="220" kern="0" dirty="0">
                <a:solidFill>
                  <a:srgbClr val="0F6E63"/>
                </a:solidFill>
                <a:latin typeface="Calibri" pitchFamily="34" charset="0"/>
                <a:ea typeface="Calibri" pitchFamily="34" charset="-122"/>
                <a:cs typeface="Calibri" pitchFamily="34" charset="-120"/>
              </a:rPr>
              <a:t>THE DIFFERENTIATOR</a:t>
            </a:r>
            <a:endParaRPr lang="en-US" sz="1050" dirty="0"/>
          </a:p>
        </p:txBody>
      </p:sp>
      <p:sp>
        <p:nvSpPr>
          <p:cNvPr id="3" name="Text 1"/>
          <p:cNvSpPr txBox="1"/>
          <p:nvPr/>
        </p:nvSpPr>
        <p:spPr>
          <a:xfrm>
            <a:off x="566928" y="640080"/>
            <a:ext cx="11064240" cy="475488"/>
          </a:xfrm>
          <a:prstGeom prst="rect">
            <a:avLst/>
          </a:prstGeom>
          <a:noFill/>
          <a:ln/>
        </p:spPr>
        <p:txBody>
          <a:bodyPr wrap="square" lIns="0" tIns="0" rIns="0" bIns="0" rtlCol="0" anchor="ctr"/>
          <a:lstStyle/>
          <a:p>
            <a:pPr indent="0" marL="0">
              <a:buNone/>
            </a:pPr>
            <a:r>
              <a:rPr lang="en-US" sz="2600" dirty="0">
                <a:solidFill>
                  <a:srgbClr val="1C2530"/>
                </a:solidFill>
                <a:latin typeface="Georgia" pitchFamily="34" charset="0"/>
                <a:ea typeface="Georgia" pitchFamily="34" charset="-122"/>
                <a:cs typeface="Georgia" pitchFamily="34" charset="-120"/>
              </a:rPr>
              <a:t>From a mask to a millimetre</a:t>
            </a:r>
            <a:endParaRPr lang="en-US" sz="2600" dirty="0"/>
          </a:p>
        </p:txBody>
      </p:sp>
      <p:sp>
        <p:nvSpPr>
          <p:cNvPr id="4" name="Shape 2"/>
          <p:cNvSpPr/>
          <p:nvPr/>
        </p:nvSpPr>
        <p:spPr>
          <a:xfrm>
            <a:off x="566928" y="1207008"/>
            <a:ext cx="777240" cy="32004"/>
          </a:xfrm>
          <a:prstGeom prst="rect">
            <a:avLst/>
          </a:prstGeom>
          <a:solidFill>
            <a:srgbClr val="0F6E63"/>
          </a:solidFill>
          <a:ln w="12700">
            <a:solidFill>
              <a:srgbClr val="0F6E63"/>
            </a:solidFill>
            <a:prstDash val="solid"/>
          </a:ln>
        </p:spPr>
      </p:sp>
      <p:sp>
        <p:nvSpPr>
          <p:cNvPr id="5" name="Text 3"/>
          <p:cNvSpPr txBox="1"/>
          <p:nvPr/>
        </p:nvSpPr>
        <p:spPr>
          <a:xfrm>
            <a:off x="566928" y="1481328"/>
            <a:ext cx="10607040" cy="365760"/>
          </a:xfrm>
          <a:prstGeom prst="rect">
            <a:avLst/>
          </a:prstGeom>
          <a:noFill/>
          <a:ln/>
        </p:spPr>
        <p:txBody>
          <a:bodyPr wrap="square" lIns="0" tIns="0" rIns="0" bIns="0" rtlCol="0" anchor="ctr"/>
          <a:lstStyle/>
          <a:p>
            <a:pPr indent="0" marL="0">
              <a:lnSpc>
                <a:spcPct val="118000"/>
              </a:lnSpc>
              <a:buNone/>
            </a:pPr>
            <a:r>
              <a:rPr lang="en-US" sz="1300" dirty="0">
                <a:solidFill>
                  <a:srgbClr val="48535F"/>
                </a:solidFill>
                <a:latin typeface="Calibri" pitchFamily="34" charset="0"/>
                <a:ea typeface="Calibri" pitchFamily="34" charset="-122"/>
                <a:cs typeface="Calibri" pitchFamily="34" charset="-120"/>
              </a:rPr>
              <a:t>A segmentation network cannot measure crack width. Recovering a physical number takes three further steps, and each introduces error that has to be stated.</a:t>
            </a:r>
            <a:endParaRPr lang="en-US" sz="1300" dirty="0"/>
          </a:p>
        </p:txBody>
      </p:sp>
      <p:sp>
        <p:nvSpPr>
          <p:cNvPr id="6" name="Shape 4"/>
          <p:cNvSpPr/>
          <p:nvPr/>
        </p:nvSpPr>
        <p:spPr>
          <a:xfrm>
            <a:off x="566928" y="2029968"/>
            <a:ext cx="2542032" cy="1426464"/>
          </a:xfrm>
          <a:prstGeom prst="roundRect">
            <a:avLst>
              <a:gd name="adj" fmla="val 3846"/>
            </a:avLst>
          </a:prstGeom>
          <a:solidFill>
            <a:srgbClr val="FFFFFF"/>
          </a:solidFill>
          <a:ln w="9525">
            <a:solidFill>
              <a:srgbClr val="DDD8D2"/>
            </a:solidFill>
            <a:prstDash val="solid"/>
          </a:ln>
        </p:spPr>
      </p:sp>
      <p:sp>
        <p:nvSpPr>
          <p:cNvPr id="7" name="Text 5"/>
          <p:cNvSpPr txBox="1"/>
          <p:nvPr/>
        </p:nvSpPr>
        <p:spPr>
          <a:xfrm>
            <a:off x="786384" y="2194560"/>
            <a:ext cx="2103120" cy="237744"/>
          </a:xfrm>
          <a:prstGeom prst="rect">
            <a:avLst/>
          </a:prstGeom>
          <a:noFill/>
          <a:ln/>
        </p:spPr>
        <p:txBody>
          <a:bodyPr wrap="square" lIns="0" tIns="0" rIns="0" bIns="0" rtlCol="0" anchor="ctr"/>
          <a:lstStyle/>
          <a:p>
            <a:pPr indent="0" marL="0">
              <a:lnSpc>
                <a:spcPct val="118000"/>
              </a:lnSpc>
              <a:buNone/>
            </a:pPr>
            <a:r>
              <a:rPr lang="en-US" sz="1250" b="1" dirty="0">
                <a:solidFill>
                  <a:srgbClr val="1C2530"/>
                </a:solidFill>
                <a:latin typeface="Calibri" pitchFamily="34" charset="0"/>
                <a:ea typeface="Calibri" pitchFamily="34" charset="-122"/>
                <a:cs typeface="Calibri" pitchFamily="34" charset="-120"/>
              </a:rPr>
              <a:t>Skeletonise</a:t>
            </a:r>
            <a:endParaRPr lang="en-US" sz="1250" dirty="0"/>
          </a:p>
        </p:txBody>
      </p:sp>
      <p:sp>
        <p:nvSpPr>
          <p:cNvPr id="8" name="Text 6"/>
          <p:cNvSpPr txBox="1"/>
          <p:nvPr/>
        </p:nvSpPr>
        <p:spPr>
          <a:xfrm>
            <a:off x="786384" y="2523744"/>
            <a:ext cx="2103120" cy="841248"/>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Reduce the mask to a one-pixel centreline running along the crack.</a:t>
            </a:r>
            <a:endParaRPr lang="en-US" sz="1100" dirty="0"/>
          </a:p>
        </p:txBody>
      </p:sp>
      <p:sp>
        <p:nvSpPr>
          <p:cNvPr id="9" name="Shape 7"/>
          <p:cNvSpPr/>
          <p:nvPr/>
        </p:nvSpPr>
        <p:spPr>
          <a:xfrm>
            <a:off x="3310128" y="2029968"/>
            <a:ext cx="2542032" cy="1426464"/>
          </a:xfrm>
          <a:prstGeom prst="roundRect">
            <a:avLst>
              <a:gd name="adj" fmla="val 3846"/>
            </a:avLst>
          </a:prstGeom>
          <a:solidFill>
            <a:srgbClr val="FFFFFF"/>
          </a:solidFill>
          <a:ln w="9525">
            <a:solidFill>
              <a:srgbClr val="DDD8D2"/>
            </a:solidFill>
            <a:prstDash val="solid"/>
          </a:ln>
        </p:spPr>
      </p:sp>
      <p:sp>
        <p:nvSpPr>
          <p:cNvPr id="10" name="Text 8"/>
          <p:cNvSpPr txBox="1"/>
          <p:nvPr/>
        </p:nvSpPr>
        <p:spPr>
          <a:xfrm>
            <a:off x="3529584" y="2194560"/>
            <a:ext cx="2103120" cy="237744"/>
          </a:xfrm>
          <a:prstGeom prst="rect">
            <a:avLst/>
          </a:prstGeom>
          <a:noFill/>
          <a:ln/>
        </p:spPr>
        <p:txBody>
          <a:bodyPr wrap="square" lIns="0" tIns="0" rIns="0" bIns="0" rtlCol="0" anchor="ctr"/>
          <a:lstStyle/>
          <a:p>
            <a:pPr indent="0" marL="0">
              <a:lnSpc>
                <a:spcPct val="118000"/>
              </a:lnSpc>
              <a:buNone/>
            </a:pPr>
            <a:r>
              <a:rPr lang="en-US" sz="1250" b="1" dirty="0">
                <a:solidFill>
                  <a:srgbClr val="1C2530"/>
                </a:solidFill>
                <a:latin typeface="Calibri" pitchFamily="34" charset="0"/>
                <a:ea typeface="Calibri" pitchFamily="34" charset="-122"/>
                <a:cs typeface="Calibri" pitchFamily="34" charset="-120"/>
              </a:rPr>
              <a:t>Distance transform</a:t>
            </a:r>
            <a:endParaRPr lang="en-US" sz="1250" dirty="0"/>
          </a:p>
        </p:txBody>
      </p:sp>
      <p:sp>
        <p:nvSpPr>
          <p:cNvPr id="11" name="Text 9"/>
          <p:cNvSpPr txBox="1"/>
          <p:nvPr/>
        </p:nvSpPr>
        <p:spPr>
          <a:xfrm>
            <a:off x="3529584" y="2523744"/>
            <a:ext cx="2103120" cy="841248"/>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At every crack pixel, the distance to the nearest background pixel.</a:t>
            </a:r>
            <a:endParaRPr lang="en-US" sz="1100" dirty="0"/>
          </a:p>
        </p:txBody>
      </p:sp>
      <p:sp>
        <p:nvSpPr>
          <p:cNvPr id="12" name="Shape 10"/>
          <p:cNvSpPr/>
          <p:nvPr/>
        </p:nvSpPr>
        <p:spPr>
          <a:xfrm>
            <a:off x="6053328" y="2029968"/>
            <a:ext cx="2542032" cy="1426464"/>
          </a:xfrm>
          <a:prstGeom prst="roundRect">
            <a:avLst>
              <a:gd name="adj" fmla="val 3846"/>
            </a:avLst>
          </a:prstGeom>
          <a:solidFill>
            <a:srgbClr val="FFFFFF"/>
          </a:solidFill>
          <a:ln w="9525">
            <a:solidFill>
              <a:srgbClr val="DDD8D2"/>
            </a:solidFill>
            <a:prstDash val="solid"/>
          </a:ln>
        </p:spPr>
      </p:sp>
      <p:sp>
        <p:nvSpPr>
          <p:cNvPr id="13" name="Text 11"/>
          <p:cNvSpPr txBox="1"/>
          <p:nvPr/>
        </p:nvSpPr>
        <p:spPr>
          <a:xfrm>
            <a:off x="6272784" y="2194560"/>
            <a:ext cx="2103120" cy="237744"/>
          </a:xfrm>
          <a:prstGeom prst="rect">
            <a:avLst/>
          </a:prstGeom>
          <a:noFill/>
          <a:ln/>
        </p:spPr>
        <p:txBody>
          <a:bodyPr wrap="square" lIns="0" tIns="0" rIns="0" bIns="0" rtlCol="0" anchor="ctr"/>
          <a:lstStyle/>
          <a:p>
            <a:pPr indent="0" marL="0">
              <a:lnSpc>
                <a:spcPct val="118000"/>
              </a:lnSpc>
              <a:buNone/>
            </a:pPr>
            <a:r>
              <a:rPr lang="en-US" sz="1250" b="1" dirty="0">
                <a:solidFill>
                  <a:srgbClr val="1C2530"/>
                </a:solidFill>
                <a:latin typeface="Calibri" pitchFamily="34" charset="0"/>
                <a:ea typeface="Calibri" pitchFamily="34" charset="-122"/>
                <a:cs typeface="Calibri" pitchFamily="34" charset="-120"/>
              </a:rPr>
              <a:t>Width</a:t>
            </a:r>
            <a:endParaRPr lang="en-US" sz="1250" dirty="0"/>
          </a:p>
        </p:txBody>
      </p:sp>
      <p:sp>
        <p:nvSpPr>
          <p:cNvPr id="14" name="Text 12"/>
          <p:cNvSpPr txBox="1"/>
          <p:nvPr/>
        </p:nvSpPr>
        <p:spPr>
          <a:xfrm>
            <a:off x="6272784" y="2523744"/>
            <a:ext cx="2103120" cy="841248"/>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On the centreline, width = 2d − 1 pixels.</a:t>
            </a:r>
            <a:endParaRPr lang="en-US" sz="1100" dirty="0"/>
          </a:p>
        </p:txBody>
      </p:sp>
      <p:sp>
        <p:nvSpPr>
          <p:cNvPr id="15" name="Shape 13"/>
          <p:cNvSpPr/>
          <p:nvPr/>
        </p:nvSpPr>
        <p:spPr>
          <a:xfrm>
            <a:off x="8796528" y="2029968"/>
            <a:ext cx="2542032" cy="1426464"/>
          </a:xfrm>
          <a:prstGeom prst="roundRect">
            <a:avLst>
              <a:gd name="adj" fmla="val 3846"/>
            </a:avLst>
          </a:prstGeom>
          <a:solidFill>
            <a:srgbClr val="FFFFFF"/>
          </a:solidFill>
          <a:ln w="9525">
            <a:solidFill>
              <a:srgbClr val="DDD8D2"/>
            </a:solidFill>
            <a:prstDash val="solid"/>
          </a:ln>
        </p:spPr>
      </p:sp>
      <p:sp>
        <p:nvSpPr>
          <p:cNvPr id="16" name="Text 14"/>
          <p:cNvSpPr txBox="1"/>
          <p:nvPr/>
        </p:nvSpPr>
        <p:spPr>
          <a:xfrm>
            <a:off x="9015984" y="2194560"/>
            <a:ext cx="2103120" cy="237744"/>
          </a:xfrm>
          <a:prstGeom prst="rect">
            <a:avLst/>
          </a:prstGeom>
          <a:noFill/>
          <a:ln/>
        </p:spPr>
        <p:txBody>
          <a:bodyPr wrap="square" lIns="0" tIns="0" rIns="0" bIns="0" rtlCol="0" anchor="ctr"/>
          <a:lstStyle/>
          <a:p>
            <a:pPr indent="0" marL="0">
              <a:lnSpc>
                <a:spcPct val="118000"/>
              </a:lnSpc>
              <a:buNone/>
            </a:pPr>
            <a:r>
              <a:rPr lang="en-US" sz="1250" b="1" dirty="0">
                <a:solidFill>
                  <a:srgbClr val="1C2530"/>
                </a:solidFill>
                <a:latin typeface="Calibri" pitchFamily="34" charset="0"/>
                <a:ea typeface="Calibri" pitchFamily="34" charset="-122"/>
                <a:cs typeface="Calibri" pitchFamily="34" charset="-120"/>
              </a:rPr>
              <a:t>Scale</a:t>
            </a:r>
            <a:endParaRPr lang="en-US" sz="1250" dirty="0"/>
          </a:p>
        </p:txBody>
      </p:sp>
      <p:sp>
        <p:nvSpPr>
          <p:cNvPr id="17" name="Text 15"/>
          <p:cNvSpPr txBox="1"/>
          <p:nvPr/>
        </p:nvSpPr>
        <p:spPr>
          <a:xfrm>
            <a:off x="9015984" y="2523744"/>
            <a:ext cx="2103120" cy="841248"/>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Multiply by mm-per-pixel from the surveyed reference.</a:t>
            </a:r>
            <a:endParaRPr lang="en-US" sz="1100" dirty="0"/>
          </a:p>
        </p:txBody>
      </p:sp>
      <p:sp>
        <p:nvSpPr>
          <p:cNvPr id="18" name="Shape 16"/>
          <p:cNvSpPr/>
          <p:nvPr/>
        </p:nvSpPr>
        <p:spPr>
          <a:xfrm>
            <a:off x="566928" y="3675888"/>
            <a:ext cx="5715000" cy="2029968"/>
          </a:xfrm>
          <a:prstGeom prst="roundRect">
            <a:avLst>
              <a:gd name="adj" fmla="val 2703"/>
            </a:avLst>
          </a:prstGeom>
          <a:solidFill>
            <a:srgbClr val="FFFFFF"/>
          </a:solidFill>
          <a:ln w="9525">
            <a:solidFill>
              <a:srgbClr val="A8443A"/>
            </a:solidFill>
            <a:prstDash val="solid"/>
          </a:ln>
        </p:spPr>
      </p:sp>
      <p:sp>
        <p:nvSpPr>
          <p:cNvPr id="19" name="Text 17"/>
          <p:cNvSpPr txBox="1"/>
          <p:nvPr/>
        </p:nvSpPr>
        <p:spPr>
          <a:xfrm>
            <a:off x="841248" y="3858768"/>
            <a:ext cx="5212080" cy="274320"/>
          </a:xfrm>
          <a:prstGeom prst="rect">
            <a:avLst/>
          </a:prstGeom>
          <a:noFill/>
          <a:ln/>
        </p:spPr>
        <p:txBody>
          <a:bodyPr wrap="square" lIns="0" tIns="0" rIns="0" bIns="0" rtlCol="0" anchor="ctr"/>
          <a:lstStyle/>
          <a:p>
            <a:pPr indent="0" marL="0">
              <a:lnSpc>
                <a:spcPct val="118000"/>
              </a:lnSpc>
              <a:buNone/>
            </a:pPr>
            <a:r>
              <a:rPr lang="en-US" sz="1050" b="1" spc="140" kern="0" dirty="0">
                <a:solidFill>
                  <a:srgbClr val="A8443A"/>
                </a:solidFill>
                <a:latin typeface="Calibri" pitchFamily="34" charset="0"/>
                <a:ea typeface="Calibri" pitchFamily="34" charset="-122"/>
                <a:cs typeface="Calibri" pitchFamily="34" charset="-120"/>
              </a:rPr>
              <a:t>CALIBRATION, MEASURED</a:t>
            </a:r>
            <a:endParaRPr lang="en-US" sz="1050" dirty="0"/>
          </a:p>
        </p:txBody>
      </p:sp>
      <p:sp>
        <p:nvSpPr>
          <p:cNvPr id="20" name="Text 18"/>
          <p:cNvSpPr txBox="1"/>
          <p:nvPr/>
        </p:nvSpPr>
        <p:spPr>
          <a:xfrm>
            <a:off x="841248" y="4169664"/>
            <a:ext cx="5212080" cy="1371600"/>
          </a:xfrm>
          <a:prstGeom prst="rect">
            <a:avLst/>
          </a:prstGeom>
          <a:noFill/>
          <a:ln/>
        </p:spPr>
        <p:txBody>
          <a:bodyPr wrap="square" lIns="0" tIns="0" rIns="0" bIns="0" rtlCol="0" anchor="ctr"/>
          <a:lstStyle/>
          <a:p>
            <a:pPr indent="0" marL="0">
              <a:lnSpc>
                <a:spcPct val="118000"/>
              </a:lnSpc>
              <a:buNone/>
            </a:pPr>
            <a:r>
              <a:rPr lang="en-US" sz="1100" dirty="0">
                <a:solidFill>
                  <a:srgbClr val="1C2530"/>
                </a:solidFill>
                <a:latin typeface="Consolas" pitchFamily="34" charset="0"/>
                <a:ea typeface="Consolas" pitchFamily="34" charset="-122"/>
                <a:cs typeface="Consolas" pitchFamily="34" charset="-120"/>
              </a:rPr>
              <a:t>true width   1   2   3   4   5   6   7
estimate     1   1   3   3   5   5   7
</a:t>
            </a:r>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Odd widths are exact; even widths read one pixel short. Absolute widths therefore carry ±1 px of quantisation error.</a:t>
            </a:r>
            <a:endParaRPr lang="en-US" sz="1200" dirty="0"/>
          </a:p>
        </p:txBody>
      </p:sp>
      <p:sp>
        <p:nvSpPr>
          <p:cNvPr id="21" name="Shape 19"/>
          <p:cNvSpPr/>
          <p:nvPr/>
        </p:nvSpPr>
        <p:spPr>
          <a:xfrm>
            <a:off x="6537960" y="3675888"/>
            <a:ext cx="4782312" cy="2029968"/>
          </a:xfrm>
          <a:prstGeom prst="roundRect">
            <a:avLst>
              <a:gd name="adj" fmla="val 2703"/>
            </a:avLst>
          </a:prstGeom>
          <a:solidFill>
            <a:srgbClr val="E6F0EE"/>
          </a:solidFill>
          <a:ln w="9525">
            <a:solidFill>
              <a:srgbClr val="BCD3CF"/>
            </a:solidFill>
            <a:prstDash val="solid"/>
          </a:ln>
        </p:spPr>
      </p:sp>
      <p:sp>
        <p:nvSpPr>
          <p:cNvPr id="22" name="Text 20"/>
          <p:cNvSpPr txBox="1"/>
          <p:nvPr/>
        </p:nvSpPr>
        <p:spPr>
          <a:xfrm>
            <a:off x="6812280" y="3858768"/>
            <a:ext cx="4297680" cy="274320"/>
          </a:xfrm>
          <a:prstGeom prst="rect">
            <a:avLst/>
          </a:prstGeom>
          <a:noFill/>
          <a:ln/>
        </p:spPr>
        <p:txBody>
          <a:bodyPr wrap="square" lIns="0" tIns="0" rIns="0" bIns="0" rtlCol="0" anchor="ctr"/>
          <a:lstStyle/>
          <a:p>
            <a:pPr indent="0" marL="0">
              <a:lnSpc>
                <a:spcPct val="118000"/>
              </a:lnSpc>
              <a:buNone/>
            </a:pPr>
            <a:r>
              <a:rPr lang="en-US" sz="1050" b="1" spc="140" kern="0" dirty="0">
                <a:solidFill>
                  <a:srgbClr val="0F6E63"/>
                </a:solidFill>
                <a:latin typeface="Calibri" pitchFamily="34" charset="0"/>
                <a:ea typeface="Calibri" pitchFamily="34" charset="-122"/>
                <a:cs typeface="Calibri" pitchFamily="34" charset="-120"/>
              </a:rPr>
              <a:t>WHAT THAT MEANS IN PRACTICE</a:t>
            </a:r>
            <a:endParaRPr lang="en-US" sz="1050" dirty="0"/>
          </a:p>
        </p:txBody>
      </p:sp>
      <p:sp>
        <p:nvSpPr>
          <p:cNvPr id="23" name="Text 21"/>
          <p:cNvSpPr txBox="1"/>
          <p:nvPr/>
        </p:nvSpPr>
        <p:spPr>
          <a:xfrm>
            <a:off x="6812280" y="4169664"/>
            <a:ext cx="4297680" cy="1371600"/>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At 0.5 mm per pixel, a reported “+2.0 mm” is really +2.0 ± 0.5 mm. Alert thresholds must sit above that floor. Stating the limit is worth more than hiding it — an engineer acting on these numbers needs to know when not to trust them.</a:t>
            </a:r>
            <a:endParaRPr lang="en-US" sz="1100" dirty="0"/>
          </a:p>
        </p:txBody>
      </p:sp>
      <p:sp>
        <p:nvSpPr>
          <p:cNvPr id="24" name="Text 22"/>
          <p:cNvSpPr txBox="1"/>
          <p:nvPr/>
        </p:nvSpPr>
        <p:spPr>
          <a:xfrm>
            <a:off x="566928" y="6419088"/>
            <a:ext cx="7315200" cy="201168"/>
          </a:xfrm>
          <a:prstGeom prst="rect">
            <a:avLst/>
          </a:prstGeom>
          <a:noFill/>
          <a:ln/>
        </p:spPr>
        <p:txBody>
          <a:bodyPr wrap="square" lIns="0" tIns="0" rIns="0" bIns="0" rtlCol="0" anchor="ctr"/>
          <a:lstStyle/>
          <a:p>
            <a:pPr indent="0" marL="0">
              <a:buNone/>
            </a:pPr>
            <a:r>
              <a:rPr lang="en-US" sz="900" dirty="0">
                <a:solidFill>
                  <a:srgbClr val="8A949E"/>
                </a:solidFill>
                <a:latin typeface="Calibri" pitchFamily="34" charset="0"/>
                <a:ea typeface="Calibri" pitchFamily="34" charset="-122"/>
                <a:cs typeface="Calibri" pitchFamily="34" charset="-120"/>
              </a:rPr>
              <a:t>Crack Segmentation for Structural Monitoring</a:t>
            </a:r>
            <a:endParaRPr lang="en-US" sz="900" dirty="0"/>
          </a:p>
        </p:txBody>
      </p:sp>
      <p:sp>
        <p:nvSpPr>
          <p:cNvPr id="25" name="Text 23"/>
          <p:cNvSpPr txBox="1"/>
          <p:nvPr/>
        </p:nvSpPr>
        <p:spPr>
          <a:xfrm>
            <a:off x="11064240" y="6419088"/>
            <a:ext cx="548640" cy="201168"/>
          </a:xfrm>
          <a:prstGeom prst="rect">
            <a:avLst/>
          </a:prstGeom>
          <a:noFill/>
          <a:ln/>
        </p:spPr>
        <p:txBody>
          <a:bodyPr wrap="square" lIns="0" tIns="0" rIns="0" bIns="0" rtlCol="0" anchor="ctr"/>
          <a:lstStyle/>
          <a:p>
            <a:pPr algn="r" indent="0" marL="0">
              <a:buNone/>
            </a:pPr>
            <a:r>
              <a:rPr lang="en-US" sz="900" dirty="0">
                <a:solidFill>
                  <a:srgbClr val="8A949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8"/>
        </a:solidFill>
      </p:bgPr>
    </p:bg>
    <p:spTree>
      <p:nvGrpSpPr>
        <p:cNvPr id="1" name=""/>
        <p:cNvGrpSpPr/>
        <p:nvPr/>
      </p:nvGrpSpPr>
      <p:grpSpPr>
        <a:xfrm>
          <a:off x="0" y="0"/>
          <a:ext cx="0" cy="0"/>
          <a:chOff x="0" y="0"/>
          <a:chExt cx="0" cy="0"/>
        </a:xfrm>
      </p:grpSpPr>
      <p:sp>
        <p:nvSpPr>
          <p:cNvPr id="2" name="Text 0"/>
          <p:cNvSpPr txBox="1"/>
          <p:nvPr/>
        </p:nvSpPr>
        <p:spPr>
          <a:xfrm>
            <a:off x="566928" y="384048"/>
            <a:ext cx="11064240" cy="219456"/>
          </a:xfrm>
          <a:prstGeom prst="rect">
            <a:avLst/>
          </a:prstGeom>
          <a:noFill/>
          <a:ln/>
        </p:spPr>
        <p:txBody>
          <a:bodyPr wrap="square" lIns="0" tIns="0" rIns="0" bIns="0" rtlCol="0" anchor="ctr"/>
          <a:lstStyle/>
          <a:p>
            <a:pPr indent="0" marL="0">
              <a:buNone/>
            </a:pPr>
            <a:r>
              <a:rPr lang="en-US" sz="1050" b="1" spc="220" kern="0" dirty="0">
                <a:solidFill>
                  <a:srgbClr val="0F6E63"/>
                </a:solidFill>
                <a:latin typeface="Calibri" pitchFamily="34" charset="0"/>
                <a:ea typeface="Calibri" pitchFamily="34" charset="-122"/>
                <a:cs typeface="Calibri" pitchFamily="34" charset="-120"/>
              </a:rPr>
              <a:t>RESULTS</a:t>
            </a:r>
            <a:endParaRPr lang="en-US" sz="1050" dirty="0"/>
          </a:p>
        </p:txBody>
      </p:sp>
      <p:sp>
        <p:nvSpPr>
          <p:cNvPr id="3" name="Text 1"/>
          <p:cNvSpPr txBox="1"/>
          <p:nvPr/>
        </p:nvSpPr>
        <p:spPr>
          <a:xfrm>
            <a:off x="566928" y="640080"/>
            <a:ext cx="11064240" cy="475488"/>
          </a:xfrm>
          <a:prstGeom prst="rect">
            <a:avLst/>
          </a:prstGeom>
          <a:noFill/>
          <a:ln/>
        </p:spPr>
        <p:txBody>
          <a:bodyPr wrap="square" lIns="0" tIns="0" rIns="0" bIns="0" rtlCol="0" anchor="ctr"/>
          <a:lstStyle/>
          <a:p>
            <a:pPr indent="0" marL="0">
              <a:buNone/>
            </a:pPr>
            <a:r>
              <a:rPr lang="en-US" sz="2600" dirty="0">
                <a:solidFill>
                  <a:srgbClr val="1C2530"/>
                </a:solidFill>
                <a:latin typeface="Georgia" pitchFamily="34" charset="0"/>
                <a:ea typeface="Georgia" pitchFamily="34" charset="-122"/>
                <a:cs typeface="Georgia" pitchFamily="34" charset="-120"/>
              </a:rPr>
              <a:t>Loss comparison on DeepCrack</a:t>
            </a:r>
            <a:endParaRPr lang="en-US" sz="2600" dirty="0"/>
          </a:p>
        </p:txBody>
      </p:sp>
      <p:sp>
        <p:nvSpPr>
          <p:cNvPr id="4" name="Shape 2"/>
          <p:cNvSpPr/>
          <p:nvPr/>
        </p:nvSpPr>
        <p:spPr>
          <a:xfrm>
            <a:off x="566928" y="1207008"/>
            <a:ext cx="777240" cy="32004"/>
          </a:xfrm>
          <a:prstGeom prst="rect">
            <a:avLst/>
          </a:prstGeom>
          <a:solidFill>
            <a:srgbClr val="0F6E63"/>
          </a:solidFill>
          <a:ln w="12700">
            <a:solidFill>
              <a:srgbClr val="0F6E63"/>
            </a:solidFill>
            <a:prstDash val="solid"/>
          </a:ln>
        </p:spPr>
      </p:sp>
      <p:sp>
        <p:nvSpPr>
          <p:cNvPr id="5" name="Text 3"/>
          <p:cNvSpPr txBox="1"/>
          <p:nvPr/>
        </p:nvSpPr>
        <p:spPr>
          <a:xfrm>
            <a:off x="566928" y="1481328"/>
            <a:ext cx="10607040" cy="365760"/>
          </a:xfrm>
          <a:prstGeom prst="rect">
            <a:avLst/>
          </a:prstGeom>
          <a:noFill/>
          <a:ln/>
        </p:spPr>
        <p:txBody>
          <a:bodyPr wrap="square" lIns="0" tIns="0" rIns="0" bIns="0" rtlCol="0" anchor="ctr"/>
          <a:lstStyle/>
          <a:p>
            <a:pPr indent="0" marL="0">
              <a:lnSpc>
                <a:spcPct val="118000"/>
              </a:lnSpc>
              <a:buNone/>
            </a:pPr>
            <a:r>
              <a:rPr lang="en-US" sz="1300" dirty="0">
                <a:solidFill>
                  <a:srgbClr val="48535F"/>
                </a:solidFill>
                <a:latin typeface="Calibri" pitchFamily="34" charset="0"/>
                <a:ea typeface="Calibri" pitchFamily="34" charset="-122"/>
                <a:cs typeface="Calibri" pitchFamily="34" charset="-120"/>
              </a:rPr>
              <a:t>The identical U-Net trained six times, changing only the loss function. Scores are on 85 held-out test images, with the threshold chosen on validation only. Each loss was trained once.</a:t>
            </a:r>
            <a:endParaRPr lang="en-US" sz="1300" dirty="0"/>
          </a:p>
        </p:txBody>
      </p:sp>
      <p:sp>
        <p:nvSpPr>
          <p:cNvPr id="6" name="Text 4"/>
          <p:cNvSpPr txBox="1"/>
          <p:nvPr/>
        </p:nvSpPr>
        <p:spPr>
          <a:xfrm>
            <a:off x="566928" y="2103120"/>
            <a:ext cx="3108960" cy="256032"/>
          </a:xfrm>
          <a:prstGeom prst="rect">
            <a:avLst/>
          </a:prstGeom>
          <a:noFill/>
          <a:ln/>
        </p:spPr>
        <p:txBody>
          <a:bodyPr wrap="square" lIns="0" tIns="0" rIns="0" bIns="0" rtlCol="0" anchor="ctr"/>
          <a:lstStyle/>
          <a:p>
            <a:pPr algn="l" indent="0" marL="0">
              <a:lnSpc>
                <a:spcPct val="118000"/>
              </a:lnSpc>
              <a:buNone/>
            </a:pPr>
            <a:r>
              <a:rPr lang="en-US" sz="1100" b="1" spc="120" kern="0" dirty="0">
                <a:solidFill>
                  <a:srgbClr val="0F6E63"/>
                </a:solidFill>
                <a:latin typeface="Calibri" pitchFamily="34" charset="0"/>
                <a:ea typeface="Calibri" pitchFamily="34" charset="-122"/>
                <a:cs typeface="Calibri" pitchFamily="34" charset="-120"/>
              </a:rPr>
              <a:t>Loss</a:t>
            </a:r>
            <a:endParaRPr lang="en-US" sz="1100" dirty="0"/>
          </a:p>
        </p:txBody>
      </p:sp>
      <p:sp>
        <p:nvSpPr>
          <p:cNvPr id="7" name="Text 5"/>
          <p:cNvSpPr txBox="1"/>
          <p:nvPr/>
        </p:nvSpPr>
        <p:spPr>
          <a:xfrm>
            <a:off x="3675888" y="2103120"/>
            <a:ext cx="1691640" cy="256032"/>
          </a:xfrm>
          <a:prstGeom prst="rect">
            <a:avLst/>
          </a:prstGeom>
          <a:noFill/>
          <a:ln/>
        </p:spPr>
        <p:txBody>
          <a:bodyPr wrap="square" lIns="0" tIns="0" rIns="0" bIns="0" rtlCol="0" anchor="ctr"/>
          <a:lstStyle/>
          <a:p>
            <a:pPr algn="ctr" indent="0" marL="0">
              <a:lnSpc>
                <a:spcPct val="118000"/>
              </a:lnSpc>
              <a:buNone/>
            </a:pPr>
            <a:r>
              <a:rPr lang="en-US" sz="1100" b="1" spc="120" kern="0" dirty="0">
                <a:solidFill>
                  <a:srgbClr val="0F6E63"/>
                </a:solidFill>
                <a:latin typeface="Calibri" pitchFamily="34" charset="0"/>
                <a:ea typeface="Calibri" pitchFamily="34" charset="-122"/>
                <a:cs typeface="Calibri" pitchFamily="34" charset="-120"/>
              </a:rPr>
              <a:t>IoU</a:t>
            </a:r>
            <a:endParaRPr lang="en-US" sz="1100" dirty="0"/>
          </a:p>
        </p:txBody>
      </p:sp>
      <p:sp>
        <p:nvSpPr>
          <p:cNvPr id="8" name="Text 6"/>
          <p:cNvSpPr txBox="1"/>
          <p:nvPr/>
        </p:nvSpPr>
        <p:spPr>
          <a:xfrm>
            <a:off x="5367528" y="2103120"/>
            <a:ext cx="1691640" cy="256032"/>
          </a:xfrm>
          <a:prstGeom prst="rect">
            <a:avLst/>
          </a:prstGeom>
          <a:noFill/>
          <a:ln/>
        </p:spPr>
        <p:txBody>
          <a:bodyPr wrap="square" lIns="0" tIns="0" rIns="0" bIns="0" rtlCol="0" anchor="ctr"/>
          <a:lstStyle/>
          <a:p>
            <a:pPr algn="ctr" indent="0" marL="0">
              <a:lnSpc>
                <a:spcPct val="118000"/>
              </a:lnSpc>
              <a:buNone/>
            </a:pPr>
            <a:r>
              <a:rPr lang="en-US" sz="1100" b="1" spc="120" kern="0" dirty="0">
                <a:solidFill>
                  <a:srgbClr val="0F6E63"/>
                </a:solidFill>
                <a:latin typeface="Calibri" pitchFamily="34" charset="0"/>
                <a:ea typeface="Calibri" pitchFamily="34" charset="-122"/>
                <a:cs typeface="Calibri" pitchFamily="34" charset="-120"/>
              </a:rPr>
              <a:t>Dice</a:t>
            </a:r>
            <a:endParaRPr lang="en-US" sz="1100" dirty="0"/>
          </a:p>
        </p:txBody>
      </p:sp>
      <p:sp>
        <p:nvSpPr>
          <p:cNvPr id="9" name="Text 7"/>
          <p:cNvSpPr txBox="1"/>
          <p:nvPr/>
        </p:nvSpPr>
        <p:spPr>
          <a:xfrm>
            <a:off x="7059168" y="2103120"/>
            <a:ext cx="1783080" cy="256032"/>
          </a:xfrm>
          <a:prstGeom prst="rect">
            <a:avLst/>
          </a:prstGeom>
          <a:noFill/>
          <a:ln/>
        </p:spPr>
        <p:txBody>
          <a:bodyPr wrap="square" lIns="0" tIns="0" rIns="0" bIns="0" rtlCol="0" anchor="ctr"/>
          <a:lstStyle/>
          <a:p>
            <a:pPr algn="ctr" indent="0" marL="0">
              <a:lnSpc>
                <a:spcPct val="118000"/>
              </a:lnSpc>
              <a:buNone/>
            </a:pPr>
            <a:r>
              <a:rPr lang="en-US" sz="1100" b="1" spc="120" kern="0" dirty="0">
                <a:solidFill>
                  <a:srgbClr val="0F6E63"/>
                </a:solidFill>
                <a:latin typeface="Calibri" pitchFamily="34" charset="0"/>
                <a:ea typeface="Calibri" pitchFamily="34" charset="-122"/>
                <a:cs typeface="Calibri" pitchFamily="34" charset="-120"/>
              </a:rPr>
              <a:t>Precision</a:t>
            </a:r>
            <a:endParaRPr lang="en-US" sz="1100" dirty="0"/>
          </a:p>
        </p:txBody>
      </p:sp>
      <p:sp>
        <p:nvSpPr>
          <p:cNvPr id="10" name="Text 8"/>
          <p:cNvSpPr txBox="1"/>
          <p:nvPr/>
        </p:nvSpPr>
        <p:spPr>
          <a:xfrm>
            <a:off x="8842248" y="2103120"/>
            <a:ext cx="1783080" cy="256032"/>
          </a:xfrm>
          <a:prstGeom prst="rect">
            <a:avLst/>
          </a:prstGeom>
          <a:noFill/>
          <a:ln/>
        </p:spPr>
        <p:txBody>
          <a:bodyPr wrap="square" lIns="0" tIns="0" rIns="0" bIns="0" rtlCol="0" anchor="ctr"/>
          <a:lstStyle/>
          <a:p>
            <a:pPr algn="ctr" indent="0" marL="0">
              <a:lnSpc>
                <a:spcPct val="118000"/>
              </a:lnSpc>
              <a:buNone/>
            </a:pPr>
            <a:r>
              <a:rPr lang="en-US" sz="1100" b="1" spc="120" kern="0" dirty="0">
                <a:solidFill>
                  <a:srgbClr val="0F6E63"/>
                </a:solidFill>
                <a:latin typeface="Calibri" pitchFamily="34" charset="0"/>
                <a:ea typeface="Calibri" pitchFamily="34" charset="-122"/>
                <a:cs typeface="Calibri" pitchFamily="34" charset="-120"/>
              </a:rPr>
              <a:t>Recall</a:t>
            </a:r>
            <a:endParaRPr lang="en-US" sz="1100" dirty="0"/>
          </a:p>
        </p:txBody>
      </p:sp>
      <p:sp>
        <p:nvSpPr>
          <p:cNvPr id="11" name="Shape 9"/>
          <p:cNvSpPr/>
          <p:nvPr/>
        </p:nvSpPr>
        <p:spPr>
          <a:xfrm>
            <a:off x="566928" y="2395728"/>
            <a:ext cx="10058400" cy="18288"/>
          </a:xfrm>
          <a:prstGeom prst="rect">
            <a:avLst/>
          </a:prstGeom>
          <a:solidFill>
            <a:srgbClr val="DDD8D2"/>
          </a:solidFill>
          <a:ln w="12700">
            <a:solidFill>
              <a:srgbClr val="DDD8D2"/>
            </a:solidFill>
            <a:prstDash val="solid"/>
          </a:ln>
        </p:spPr>
      </p:sp>
      <p:sp>
        <p:nvSpPr>
          <p:cNvPr id="12" name="Text 10"/>
          <p:cNvSpPr txBox="1"/>
          <p:nvPr/>
        </p:nvSpPr>
        <p:spPr>
          <a:xfrm>
            <a:off x="566928" y="2615184"/>
            <a:ext cx="3108960" cy="256032"/>
          </a:xfrm>
          <a:prstGeom prst="rect">
            <a:avLst/>
          </a:prstGeom>
          <a:noFill/>
          <a:ln/>
        </p:spPr>
        <p:txBody>
          <a:bodyPr wrap="square" lIns="0" tIns="0" rIns="0" bIns="0" rtlCol="0" anchor="ctr"/>
          <a:lstStyle/>
          <a:p>
            <a:pPr indent="0" marL="0">
              <a:lnSpc>
                <a:spcPct val="118000"/>
              </a:lnSpc>
              <a:buNone/>
            </a:pPr>
            <a:r>
              <a:rPr lang="en-US" sz="1150" dirty="0">
                <a:solidFill>
                  <a:srgbClr val="1C2530"/>
                </a:solidFill>
                <a:latin typeface="Calibri" pitchFamily="34" charset="0"/>
                <a:ea typeface="Calibri" pitchFamily="34" charset="-122"/>
                <a:cs typeface="Calibri" pitchFamily="34" charset="-120"/>
              </a:rPr>
              <a:t>Binary cross-entropy</a:t>
            </a:r>
            <a:endParaRPr lang="en-US" sz="1150" dirty="0"/>
          </a:p>
        </p:txBody>
      </p:sp>
      <p:sp>
        <p:nvSpPr>
          <p:cNvPr id="13" name="Text 11"/>
          <p:cNvSpPr txBox="1"/>
          <p:nvPr/>
        </p:nvSpPr>
        <p:spPr>
          <a:xfrm>
            <a:off x="3675888" y="2615184"/>
            <a:ext cx="169164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0.601</a:t>
            </a:r>
            <a:endParaRPr lang="en-US" sz="1150" dirty="0"/>
          </a:p>
        </p:txBody>
      </p:sp>
      <p:sp>
        <p:nvSpPr>
          <p:cNvPr id="14" name="Text 12"/>
          <p:cNvSpPr txBox="1"/>
          <p:nvPr/>
        </p:nvSpPr>
        <p:spPr>
          <a:xfrm>
            <a:off x="5367528" y="2615184"/>
            <a:ext cx="169164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0.717</a:t>
            </a:r>
            <a:endParaRPr lang="en-US" sz="1150" dirty="0"/>
          </a:p>
        </p:txBody>
      </p:sp>
      <p:sp>
        <p:nvSpPr>
          <p:cNvPr id="15" name="Text 13"/>
          <p:cNvSpPr txBox="1"/>
          <p:nvPr/>
        </p:nvSpPr>
        <p:spPr>
          <a:xfrm>
            <a:off x="7059168" y="2615184"/>
            <a:ext cx="178308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0.704</a:t>
            </a:r>
            <a:endParaRPr lang="en-US" sz="1150" dirty="0"/>
          </a:p>
        </p:txBody>
      </p:sp>
      <p:sp>
        <p:nvSpPr>
          <p:cNvPr id="16" name="Text 14"/>
          <p:cNvSpPr txBox="1"/>
          <p:nvPr/>
        </p:nvSpPr>
        <p:spPr>
          <a:xfrm>
            <a:off x="8842248" y="2615184"/>
            <a:ext cx="178308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0.781</a:t>
            </a:r>
            <a:endParaRPr lang="en-US" sz="1150" dirty="0"/>
          </a:p>
        </p:txBody>
      </p:sp>
      <p:sp>
        <p:nvSpPr>
          <p:cNvPr id="17" name="Shape 15"/>
          <p:cNvSpPr/>
          <p:nvPr/>
        </p:nvSpPr>
        <p:spPr>
          <a:xfrm>
            <a:off x="566928" y="3017520"/>
            <a:ext cx="10058400" cy="365760"/>
          </a:xfrm>
          <a:prstGeom prst="rect">
            <a:avLst/>
          </a:prstGeom>
          <a:solidFill>
            <a:srgbClr val="F2F0EC"/>
          </a:solidFill>
          <a:ln w="12700">
            <a:solidFill>
              <a:srgbClr val="F2F0EC"/>
            </a:solidFill>
            <a:prstDash val="solid"/>
          </a:ln>
        </p:spPr>
      </p:sp>
      <p:sp>
        <p:nvSpPr>
          <p:cNvPr id="18" name="Text 16"/>
          <p:cNvSpPr txBox="1"/>
          <p:nvPr/>
        </p:nvSpPr>
        <p:spPr>
          <a:xfrm>
            <a:off x="566928" y="3072384"/>
            <a:ext cx="3108960" cy="256032"/>
          </a:xfrm>
          <a:prstGeom prst="rect">
            <a:avLst/>
          </a:prstGeom>
          <a:noFill/>
          <a:ln/>
        </p:spPr>
        <p:txBody>
          <a:bodyPr wrap="square" lIns="0" tIns="0" rIns="0" bIns="0" rtlCol="0" anchor="ctr"/>
          <a:lstStyle/>
          <a:p>
            <a:pPr indent="0" marL="0">
              <a:lnSpc>
                <a:spcPct val="118000"/>
              </a:lnSpc>
              <a:buNone/>
            </a:pPr>
            <a:r>
              <a:rPr lang="en-US" sz="1150" dirty="0">
                <a:solidFill>
                  <a:srgbClr val="1C2530"/>
                </a:solidFill>
                <a:latin typeface="Calibri" pitchFamily="34" charset="0"/>
                <a:ea typeface="Calibri" pitchFamily="34" charset="-122"/>
                <a:cs typeface="Calibri" pitchFamily="34" charset="-120"/>
              </a:rPr>
              <a:t>Dice</a:t>
            </a:r>
            <a:endParaRPr lang="en-US" sz="1150" dirty="0"/>
          </a:p>
        </p:txBody>
      </p:sp>
      <p:sp>
        <p:nvSpPr>
          <p:cNvPr id="19" name="Text 17"/>
          <p:cNvSpPr txBox="1"/>
          <p:nvPr/>
        </p:nvSpPr>
        <p:spPr>
          <a:xfrm>
            <a:off x="3675888" y="3072384"/>
            <a:ext cx="169164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0.644</a:t>
            </a:r>
            <a:endParaRPr lang="en-US" sz="1150" dirty="0"/>
          </a:p>
        </p:txBody>
      </p:sp>
      <p:sp>
        <p:nvSpPr>
          <p:cNvPr id="20" name="Text 18"/>
          <p:cNvSpPr txBox="1"/>
          <p:nvPr/>
        </p:nvSpPr>
        <p:spPr>
          <a:xfrm>
            <a:off x="5367528" y="3072384"/>
            <a:ext cx="169164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0.764</a:t>
            </a:r>
            <a:endParaRPr lang="en-US" sz="1150" dirty="0"/>
          </a:p>
        </p:txBody>
      </p:sp>
      <p:sp>
        <p:nvSpPr>
          <p:cNvPr id="21" name="Text 19"/>
          <p:cNvSpPr txBox="1"/>
          <p:nvPr/>
        </p:nvSpPr>
        <p:spPr>
          <a:xfrm>
            <a:off x="7059168" y="3072384"/>
            <a:ext cx="178308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0.731</a:t>
            </a:r>
            <a:endParaRPr lang="en-US" sz="1150" dirty="0"/>
          </a:p>
        </p:txBody>
      </p:sp>
      <p:sp>
        <p:nvSpPr>
          <p:cNvPr id="22" name="Text 20"/>
          <p:cNvSpPr txBox="1"/>
          <p:nvPr/>
        </p:nvSpPr>
        <p:spPr>
          <a:xfrm>
            <a:off x="8842248" y="3072384"/>
            <a:ext cx="178308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0.837</a:t>
            </a:r>
            <a:endParaRPr lang="en-US" sz="1150" dirty="0"/>
          </a:p>
        </p:txBody>
      </p:sp>
      <p:sp>
        <p:nvSpPr>
          <p:cNvPr id="23" name="Text 21"/>
          <p:cNvSpPr txBox="1"/>
          <p:nvPr/>
        </p:nvSpPr>
        <p:spPr>
          <a:xfrm>
            <a:off x="566928" y="3529584"/>
            <a:ext cx="3108960" cy="256032"/>
          </a:xfrm>
          <a:prstGeom prst="rect">
            <a:avLst/>
          </a:prstGeom>
          <a:noFill/>
          <a:ln/>
        </p:spPr>
        <p:txBody>
          <a:bodyPr wrap="square" lIns="0" tIns="0" rIns="0" bIns="0" rtlCol="0" anchor="ctr"/>
          <a:lstStyle/>
          <a:p>
            <a:pPr indent="0" marL="0">
              <a:lnSpc>
                <a:spcPct val="118000"/>
              </a:lnSpc>
              <a:buNone/>
            </a:pPr>
            <a:r>
              <a:rPr lang="en-US" sz="1150" dirty="0">
                <a:solidFill>
                  <a:srgbClr val="1C2530"/>
                </a:solidFill>
                <a:latin typeface="Calibri" pitchFamily="34" charset="0"/>
                <a:ea typeface="Calibri" pitchFamily="34" charset="-122"/>
                <a:cs typeface="Calibri" pitchFamily="34" charset="-120"/>
              </a:rPr>
              <a:t>BCE + Dice</a:t>
            </a:r>
            <a:endParaRPr lang="en-US" sz="1150" dirty="0"/>
          </a:p>
        </p:txBody>
      </p:sp>
      <p:sp>
        <p:nvSpPr>
          <p:cNvPr id="24" name="Text 22"/>
          <p:cNvSpPr txBox="1"/>
          <p:nvPr/>
        </p:nvSpPr>
        <p:spPr>
          <a:xfrm>
            <a:off x="3675888" y="3529584"/>
            <a:ext cx="169164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0.636</a:t>
            </a:r>
            <a:endParaRPr lang="en-US" sz="1150" dirty="0"/>
          </a:p>
        </p:txBody>
      </p:sp>
      <p:sp>
        <p:nvSpPr>
          <p:cNvPr id="25" name="Text 23"/>
          <p:cNvSpPr txBox="1"/>
          <p:nvPr/>
        </p:nvSpPr>
        <p:spPr>
          <a:xfrm>
            <a:off x="5367528" y="3529584"/>
            <a:ext cx="169164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0.755</a:t>
            </a:r>
            <a:endParaRPr lang="en-US" sz="1150" dirty="0"/>
          </a:p>
        </p:txBody>
      </p:sp>
      <p:sp>
        <p:nvSpPr>
          <p:cNvPr id="26" name="Text 24"/>
          <p:cNvSpPr txBox="1"/>
          <p:nvPr/>
        </p:nvSpPr>
        <p:spPr>
          <a:xfrm>
            <a:off x="7059168" y="3529584"/>
            <a:ext cx="178308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0.718</a:t>
            </a:r>
            <a:endParaRPr lang="en-US" sz="1150" dirty="0"/>
          </a:p>
        </p:txBody>
      </p:sp>
      <p:sp>
        <p:nvSpPr>
          <p:cNvPr id="27" name="Text 25"/>
          <p:cNvSpPr txBox="1"/>
          <p:nvPr/>
        </p:nvSpPr>
        <p:spPr>
          <a:xfrm>
            <a:off x="8842248" y="3529584"/>
            <a:ext cx="178308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0.836</a:t>
            </a:r>
            <a:endParaRPr lang="en-US" sz="1150" dirty="0"/>
          </a:p>
        </p:txBody>
      </p:sp>
      <p:sp>
        <p:nvSpPr>
          <p:cNvPr id="28" name="Shape 26"/>
          <p:cNvSpPr/>
          <p:nvPr/>
        </p:nvSpPr>
        <p:spPr>
          <a:xfrm>
            <a:off x="566928" y="3931920"/>
            <a:ext cx="10058400" cy="365760"/>
          </a:xfrm>
          <a:prstGeom prst="rect">
            <a:avLst/>
          </a:prstGeom>
          <a:solidFill>
            <a:srgbClr val="F2F0EC"/>
          </a:solidFill>
          <a:ln w="12700">
            <a:solidFill>
              <a:srgbClr val="F2F0EC"/>
            </a:solidFill>
            <a:prstDash val="solid"/>
          </a:ln>
        </p:spPr>
      </p:sp>
      <p:sp>
        <p:nvSpPr>
          <p:cNvPr id="29" name="Text 27"/>
          <p:cNvSpPr txBox="1"/>
          <p:nvPr/>
        </p:nvSpPr>
        <p:spPr>
          <a:xfrm>
            <a:off x="566928" y="3986784"/>
            <a:ext cx="3108960" cy="256032"/>
          </a:xfrm>
          <a:prstGeom prst="rect">
            <a:avLst/>
          </a:prstGeom>
          <a:noFill/>
          <a:ln/>
        </p:spPr>
        <p:txBody>
          <a:bodyPr wrap="square" lIns="0" tIns="0" rIns="0" bIns="0" rtlCol="0" anchor="ctr"/>
          <a:lstStyle/>
          <a:p>
            <a:pPr indent="0" marL="0">
              <a:lnSpc>
                <a:spcPct val="118000"/>
              </a:lnSpc>
              <a:buNone/>
            </a:pPr>
            <a:r>
              <a:rPr lang="en-US" sz="1150" dirty="0">
                <a:solidFill>
                  <a:srgbClr val="1C2530"/>
                </a:solidFill>
                <a:latin typeface="Calibri" pitchFamily="34" charset="0"/>
                <a:ea typeface="Calibri" pitchFamily="34" charset="-122"/>
                <a:cs typeface="Calibri" pitchFamily="34" charset="-120"/>
              </a:rPr>
              <a:t>Focal</a:t>
            </a:r>
            <a:endParaRPr lang="en-US" sz="1150" dirty="0"/>
          </a:p>
        </p:txBody>
      </p:sp>
      <p:sp>
        <p:nvSpPr>
          <p:cNvPr id="30" name="Text 28"/>
          <p:cNvSpPr txBox="1"/>
          <p:nvPr/>
        </p:nvSpPr>
        <p:spPr>
          <a:xfrm>
            <a:off x="3675888" y="3986784"/>
            <a:ext cx="169164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0.632</a:t>
            </a:r>
            <a:endParaRPr lang="en-US" sz="1150" dirty="0"/>
          </a:p>
        </p:txBody>
      </p:sp>
      <p:sp>
        <p:nvSpPr>
          <p:cNvPr id="31" name="Text 29"/>
          <p:cNvSpPr txBox="1"/>
          <p:nvPr/>
        </p:nvSpPr>
        <p:spPr>
          <a:xfrm>
            <a:off x="5367528" y="3986784"/>
            <a:ext cx="169164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0.749</a:t>
            </a:r>
            <a:endParaRPr lang="en-US" sz="1150" dirty="0"/>
          </a:p>
        </p:txBody>
      </p:sp>
      <p:sp>
        <p:nvSpPr>
          <p:cNvPr id="32" name="Text 30"/>
          <p:cNvSpPr txBox="1"/>
          <p:nvPr/>
        </p:nvSpPr>
        <p:spPr>
          <a:xfrm>
            <a:off x="7059168" y="3986784"/>
            <a:ext cx="178308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0.724</a:t>
            </a:r>
            <a:endParaRPr lang="en-US" sz="1150" dirty="0"/>
          </a:p>
        </p:txBody>
      </p:sp>
      <p:sp>
        <p:nvSpPr>
          <p:cNvPr id="33" name="Text 31"/>
          <p:cNvSpPr txBox="1"/>
          <p:nvPr/>
        </p:nvSpPr>
        <p:spPr>
          <a:xfrm>
            <a:off x="8842248" y="3986784"/>
            <a:ext cx="178308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0.806</a:t>
            </a:r>
            <a:endParaRPr lang="en-US" sz="1150" dirty="0"/>
          </a:p>
        </p:txBody>
      </p:sp>
      <p:sp>
        <p:nvSpPr>
          <p:cNvPr id="34" name="Text 32"/>
          <p:cNvSpPr txBox="1"/>
          <p:nvPr/>
        </p:nvSpPr>
        <p:spPr>
          <a:xfrm>
            <a:off x="566928" y="4443984"/>
            <a:ext cx="3108960" cy="256032"/>
          </a:xfrm>
          <a:prstGeom prst="rect">
            <a:avLst/>
          </a:prstGeom>
          <a:noFill/>
          <a:ln/>
        </p:spPr>
        <p:txBody>
          <a:bodyPr wrap="square" lIns="0" tIns="0" rIns="0" bIns="0" rtlCol="0" anchor="ctr"/>
          <a:lstStyle/>
          <a:p>
            <a:pPr indent="0" marL="0">
              <a:lnSpc>
                <a:spcPct val="118000"/>
              </a:lnSpc>
              <a:buNone/>
            </a:pPr>
            <a:r>
              <a:rPr lang="en-US" sz="1150" dirty="0">
                <a:solidFill>
                  <a:srgbClr val="1C2530"/>
                </a:solidFill>
                <a:latin typeface="Calibri" pitchFamily="34" charset="0"/>
                <a:ea typeface="Calibri" pitchFamily="34" charset="-122"/>
                <a:cs typeface="Calibri" pitchFamily="34" charset="-120"/>
              </a:rPr>
              <a:t>Tversky (β &gt; α)</a:t>
            </a:r>
            <a:endParaRPr lang="en-US" sz="1150" dirty="0"/>
          </a:p>
        </p:txBody>
      </p:sp>
      <p:sp>
        <p:nvSpPr>
          <p:cNvPr id="35" name="Text 33"/>
          <p:cNvSpPr txBox="1"/>
          <p:nvPr/>
        </p:nvSpPr>
        <p:spPr>
          <a:xfrm>
            <a:off x="3675888" y="4443984"/>
            <a:ext cx="169164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0.648</a:t>
            </a:r>
            <a:endParaRPr lang="en-US" sz="1150" dirty="0"/>
          </a:p>
        </p:txBody>
      </p:sp>
      <p:sp>
        <p:nvSpPr>
          <p:cNvPr id="36" name="Text 34"/>
          <p:cNvSpPr txBox="1"/>
          <p:nvPr/>
        </p:nvSpPr>
        <p:spPr>
          <a:xfrm>
            <a:off x="5367528" y="4443984"/>
            <a:ext cx="169164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0.770</a:t>
            </a:r>
            <a:endParaRPr lang="en-US" sz="1150" dirty="0"/>
          </a:p>
        </p:txBody>
      </p:sp>
      <p:sp>
        <p:nvSpPr>
          <p:cNvPr id="37" name="Text 35"/>
          <p:cNvSpPr txBox="1"/>
          <p:nvPr/>
        </p:nvSpPr>
        <p:spPr>
          <a:xfrm>
            <a:off x="7059168" y="4443984"/>
            <a:ext cx="178308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0.730</a:t>
            </a:r>
            <a:endParaRPr lang="en-US" sz="1150" dirty="0"/>
          </a:p>
        </p:txBody>
      </p:sp>
      <p:sp>
        <p:nvSpPr>
          <p:cNvPr id="38" name="Text 36"/>
          <p:cNvSpPr txBox="1"/>
          <p:nvPr/>
        </p:nvSpPr>
        <p:spPr>
          <a:xfrm>
            <a:off x="8842248" y="4443984"/>
            <a:ext cx="1783080" cy="256032"/>
          </a:xfrm>
          <a:prstGeom prst="rect">
            <a:avLst/>
          </a:prstGeom>
          <a:noFill/>
          <a:ln/>
        </p:spPr>
        <p:txBody>
          <a:bodyPr wrap="square" lIns="0" tIns="0" rIns="0" bIns="0" rtlCol="0" anchor="ctr"/>
          <a:lstStyle/>
          <a:p>
            <a:pPr algn="ctr" indent="0" marL="0">
              <a:lnSpc>
                <a:spcPct val="118000"/>
              </a:lnSpc>
              <a:buNone/>
            </a:pPr>
            <a:r>
              <a:rPr lang="en-US" sz="1150" dirty="0">
                <a:solidFill>
                  <a:srgbClr val="1C2530"/>
                </a:solidFill>
                <a:latin typeface="Calibri" pitchFamily="34" charset="0"/>
                <a:ea typeface="Calibri" pitchFamily="34" charset="-122"/>
                <a:cs typeface="Calibri" pitchFamily="34" charset="-120"/>
              </a:rPr>
              <a:t>0.846</a:t>
            </a:r>
            <a:endParaRPr lang="en-US" sz="1150" dirty="0"/>
          </a:p>
        </p:txBody>
      </p:sp>
      <p:sp>
        <p:nvSpPr>
          <p:cNvPr id="39" name="Shape 37"/>
          <p:cNvSpPr/>
          <p:nvPr/>
        </p:nvSpPr>
        <p:spPr>
          <a:xfrm>
            <a:off x="566928" y="4846320"/>
            <a:ext cx="10058400" cy="365760"/>
          </a:xfrm>
          <a:prstGeom prst="rect">
            <a:avLst/>
          </a:prstGeom>
          <a:solidFill>
            <a:srgbClr val="F2F0EC"/>
          </a:solidFill>
          <a:ln w="12700">
            <a:solidFill>
              <a:srgbClr val="F2F0EC"/>
            </a:solidFill>
            <a:prstDash val="solid"/>
          </a:ln>
        </p:spPr>
      </p:sp>
      <p:sp>
        <p:nvSpPr>
          <p:cNvPr id="40" name="Text 38"/>
          <p:cNvSpPr txBox="1"/>
          <p:nvPr/>
        </p:nvSpPr>
        <p:spPr>
          <a:xfrm>
            <a:off x="566928" y="4901184"/>
            <a:ext cx="3108960" cy="256032"/>
          </a:xfrm>
          <a:prstGeom prst="rect">
            <a:avLst/>
          </a:prstGeom>
          <a:noFill/>
          <a:ln/>
        </p:spPr>
        <p:txBody>
          <a:bodyPr wrap="square" lIns="0" tIns="0" rIns="0" bIns="0" rtlCol="0" anchor="ctr"/>
          <a:lstStyle/>
          <a:p>
            <a:pPr indent="0" marL="0">
              <a:lnSpc>
                <a:spcPct val="118000"/>
              </a:lnSpc>
              <a:buNone/>
            </a:pPr>
            <a:r>
              <a:rPr lang="en-US" sz="1150" dirty="0">
                <a:solidFill>
                  <a:srgbClr val="1C2530"/>
                </a:solidFill>
                <a:latin typeface="Calibri" pitchFamily="34" charset="0"/>
                <a:ea typeface="Calibri" pitchFamily="34" charset="-122"/>
                <a:cs typeface="Calibri" pitchFamily="34" charset="-120"/>
              </a:rPr>
              <a:t>Focal Tversky</a:t>
            </a:r>
            <a:endParaRPr lang="en-US" sz="1150" dirty="0"/>
          </a:p>
        </p:txBody>
      </p:sp>
      <p:sp>
        <p:nvSpPr>
          <p:cNvPr id="41" name="Text 39"/>
          <p:cNvSpPr txBox="1"/>
          <p:nvPr/>
        </p:nvSpPr>
        <p:spPr>
          <a:xfrm>
            <a:off x="3675888" y="4901184"/>
            <a:ext cx="1691640" cy="256032"/>
          </a:xfrm>
          <a:prstGeom prst="rect">
            <a:avLst/>
          </a:prstGeom>
          <a:noFill/>
          <a:ln/>
        </p:spPr>
        <p:txBody>
          <a:bodyPr wrap="square" lIns="0" tIns="0" rIns="0" bIns="0" rtlCol="0" anchor="ctr"/>
          <a:lstStyle/>
          <a:p>
            <a:pPr algn="ctr" indent="0" marL="0">
              <a:lnSpc>
                <a:spcPct val="118000"/>
              </a:lnSpc>
              <a:buNone/>
            </a:pPr>
            <a:r>
              <a:rPr lang="en-US" sz="1150" dirty="0" b="1">
                <a:solidFill>
                  <a:srgbClr val="1C2530"/>
                </a:solidFill>
                <a:latin typeface="Calibri" pitchFamily="34" charset="0"/>
                <a:ea typeface="Calibri" pitchFamily="34" charset="-122"/>
                <a:cs typeface="Calibri" pitchFamily="34" charset="-120"/>
              </a:rPr>
              <a:t>0.651</a:t>
            </a:r>
            <a:endParaRPr lang="en-US" sz="1150" dirty="0"/>
          </a:p>
        </p:txBody>
      </p:sp>
      <p:sp>
        <p:nvSpPr>
          <p:cNvPr id="42" name="Text 40"/>
          <p:cNvSpPr txBox="1"/>
          <p:nvPr/>
        </p:nvSpPr>
        <p:spPr>
          <a:xfrm>
            <a:off x="5367528" y="4901184"/>
            <a:ext cx="1691640" cy="256032"/>
          </a:xfrm>
          <a:prstGeom prst="rect">
            <a:avLst/>
          </a:prstGeom>
          <a:noFill/>
          <a:ln/>
        </p:spPr>
        <p:txBody>
          <a:bodyPr wrap="square" lIns="0" tIns="0" rIns="0" bIns="0" rtlCol="0" anchor="ctr"/>
          <a:lstStyle/>
          <a:p>
            <a:pPr algn="ctr" indent="0" marL="0">
              <a:lnSpc>
                <a:spcPct val="118000"/>
              </a:lnSpc>
              <a:buNone/>
            </a:pPr>
            <a:r>
              <a:rPr lang="en-US" sz="1150" dirty="0" b="1">
                <a:solidFill>
                  <a:srgbClr val="1C2530"/>
                </a:solidFill>
                <a:latin typeface="Calibri" pitchFamily="34" charset="0"/>
                <a:ea typeface="Calibri" pitchFamily="34" charset="-122"/>
                <a:cs typeface="Calibri" pitchFamily="34" charset="-120"/>
              </a:rPr>
              <a:t>0.771</a:t>
            </a:r>
            <a:endParaRPr lang="en-US" sz="1150" dirty="0"/>
          </a:p>
        </p:txBody>
      </p:sp>
      <p:sp>
        <p:nvSpPr>
          <p:cNvPr id="43" name="Text 41"/>
          <p:cNvSpPr txBox="1"/>
          <p:nvPr/>
        </p:nvSpPr>
        <p:spPr>
          <a:xfrm>
            <a:off x="7059168" y="4901184"/>
            <a:ext cx="1783080" cy="256032"/>
          </a:xfrm>
          <a:prstGeom prst="rect">
            <a:avLst/>
          </a:prstGeom>
          <a:noFill/>
          <a:ln/>
        </p:spPr>
        <p:txBody>
          <a:bodyPr wrap="square" lIns="0" tIns="0" rIns="0" bIns="0" rtlCol="0" anchor="ctr"/>
          <a:lstStyle/>
          <a:p>
            <a:pPr algn="ctr" indent="0" marL="0">
              <a:lnSpc>
                <a:spcPct val="118000"/>
              </a:lnSpc>
              <a:buNone/>
            </a:pPr>
            <a:r>
              <a:rPr lang="en-US" sz="1150" dirty="0" b="1">
                <a:solidFill>
                  <a:srgbClr val="1C2530"/>
                </a:solidFill>
                <a:latin typeface="Calibri" pitchFamily="34" charset="0"/>
                <a:ea typeface="Calibri" pitchFamily="34" charset="-122"/>
                <a:cs typeface="Calibri" pitchFamily="34" charset="-120"/>
              </a:rPr>
              <a:t>0.737</a:t>
            </a:r>
            <a:endParaRPr lang="en-US" sz="1150" dirty="0"/>
          </a:p>
        </p:txBody>
      </p:sp>
      <p:sp>
        <p:nvSpPr>
          <p:cNvPr id="44" name="Text 42"/>
          <p:cNvSpPr txBox="1"/>
          <p:nvPr/>
        </p:nvSpPr>
        <p:spPr>
          <a:xfrm>
            <a:off x="8842248" y="4901184"/>
            <a:ext cx="1783080" cy="256032"/>
          </a:xfrm>
          <a:prstGeom prst="rect">
            <a:avLst/>
          </a:prstGeom>
          <a:noFill/>
          <a:ln/>
        </p:spPr>
        <p:txBody>
          <a:bodyPr wrap="square" lIns="0" tIns="0" rIns="0" bIns="0" rtlCol="0" anchor="ctr"/>
          <a:lstStyle/>
          <a:p>
            <a:pPr algn="ctr" indent="0" marL="0">
              <a:lnSpc>
                <a:spcPct val="118000"/>
              </a:lnSpc>
              <a:buNone/>
            </a:pPr>
            <a:r>
              <a:rPr lang="en-US" sz="1150" dirty="0" b="1">
                <a:solidFill>
                  <a:srgbClr val="1C2530"/>
                </a:solidFill>
                <a:latin typeface="Calibri" pitchFamily="34" charset="0"/>
                <a:ea typeface="Calibri" pitchFamily="34" charset="-122"/>
                <a:cs typeface="Calibri" pitchFamily="34" charset="-120"/>
              </a:rPr>
              <a:t>0.851</a:t>
            </a:r>
            <a:endParaRPr lang="en-US" sz="1150" dirty="0"/>
          </a:p>
        </p:txBody>
      </p:sp>
      <p:sp>
        <p:nvSpPr>
          <p:cNvPr id="45" name="Shape 43"/>
          <p:cNvSpPr/>
          <p:nvPr/>
        </p:nvSpPr>
        <p:spPr>
          <a:xfrm>
            <a:off x="566928" y="5358384"/>
            <a:ext cx="10753344" cy="868680"/>
          </a:xfrm>
          <a:prstGeom prst="roundRect">
            <a:avLst>
              <a:gd name="adj" fmla="val 6316"/>
            </a:avLst>
          </a:prstGeom>
          <a:solidFill>
            <a:srgbClr val="E6F0EE"/>
          </a:solidFill>
          <a:ln w="9525">
            <a:solidFill>
              <a:srgbClr val="BCD3CF"/>
            </a:solidFill>
            <a:prstDash val="solid"/>
          </a:ln>
        </p:spPr>
      </p:sp>
      <p:sp>
        <p:nvSpPr>
          <p:cNvPr id="46" name="Text 44"/>
          <p:cNvSpPr txBox="1"/>
          <p:nvPr/>
        </p:nvSpPr>
        <p:spPr>
          <a:xfrm>
            <a:off x="841248" y="5559552"/>
            <a:ext cx="10241280" cy="566928"/>
          </a:xfrm>
          <a:prstGeom prst="rect">
            <a:avLst/>
          </a:prstGeom>
          <a:noFill/>
          <a:ln/>
        </p:spPr>
        <p:txBody>
          <a:bodyPr wrap="square" lIns="0" tIns="0" rIns="0" bIns="0" rtlCol="0" anchor="ctr"/>
          <a:lstStyle/>
          <a:p>
            <a:pPr indent="0" marL="0">
              <a:lnSpc>
                <a:spcPct val="118000"/>
              </a:lnSpc>
              <a:buNone/>
            </a:pPr>
            <a:r>
              <a:rPr lang="en-US" sz="1200" b="1" dirty="0">
                <a:solidFill>
                  <a:srgbClr val="1C2530"/>
                </a:solidFill>
                <a:latin typeface="Calibri" pitchFamily="34" charset="0"/>
                <a:ea typeface="Calibri" pitchFamily="34" charset="-122"/>
                <a:cs typeface="Calibri" pitchFamily="34" charset="-120"/>
              </a:rPr>
              <a:t>Finding.  </a:t>
            </a:r>
            <a:pPr indent="0" marL="0">
              <a:lnSpc>
                <a:spcPct val="118000"/>
              </a:lnSpc>
              <a:buNone/>
            </a:pPr>
            <a:r>
              <a:rPr lang="en-US" sz="1200" dirty="0">
                <a:solidFill>
                  <a:srgbClr val="48535F"/>
                </a:solidFill>
                <a:latin typeface="Calibri" pitchFamily="34" charset="0"/>
                <a:ea typeface="Calibri" pitchFamily="34" charset="-122"/>
                <a:cs typeface="Calibri" pitchFamily="34" charset="-120"/>
              </a:rPr>
              <a:t>Cross-entropy was worst on every metric. The top three, focal Tversky (0.651), Tversky (0.648) and Dice (0.644), sit within 0.007 IoU and, with one run each, are effectively tied. Tversky's expected precision cost did not appear.</a:t>
            </a:r>
            <a:endParaRPr lang="en-US" sz="1200" dirty="0"/>
          </a:p>
        </p:txBody>
      </p:sp>
      <p:sp>
        <p:nvSpPr>
          <p:cNvPr id="47" name="Text 45"/>
          <p:cNvSpPr txBox="1"/>
          <p:nvPr/>
        </p:nvSpPr>
        <p:spPr>
          <a:xfrm>
            <a:off x="566928" y="6419088"/>
            <a:ext cx="7315200" cy="201168"/>
          </a:xfrm>
          <a:prstGeom prst="rect">
            <a:avLst/>
          </a:prstGeom>
          <a:noFill/>
          <a:ln/>
        </p:spPr>
        <p:txBody>
          <a:bodyPr wrap="square" lIns="0" tIns="0" rIns="0" bIns="0" rtlCol="0" anchor="ctr"/>
          <a:lstStyle/>
          <a:p>
            <a:pPr indent="0" marL="0">
              <a:buNone/>
            </a:pPr>
            <a:r>
              <a:rPr lang="en-US" sz="900" dirty="0">
                <a:solidFill>
                  <a:srgbClr val="8A949E"/>
                </a:solidFill>
                <a:latin typeface="Calibri" pitchFamily="34" charset="0"/>
                <a:ea typeface="Calibri" pitchFamily="34" charset="-122"/>
                <a:cs typeface="Calibri" pitchFamily="34" charset="-120"/>
              </a:rPr>
              <a:t>Crack Segmentation for Structural Monitoring</a:t>
            </a:r>
            <a:endParaRPr lang="en-US" sz="900" dirty="0"/>
          </a:p>
        </p:txBody>
      </p:sp>
      <p:sp>
        <p:nvSpPr>
          <p:cNvPr id="48" name="Text 46"/>
          <p:cNvSpPr txBox="1"/>
          <p:nvPr/>
        </p:nvSpPr>
        <p:spPr>
          <a:xfrm>
            <a:off x="11064240" y="6419088"/>
            <a:ext cx="548640" cy="201168"/>
          </a:xfrm>
          <a:prstGeom prst="rect">
            <a:avLst/>
          </a:prstGeom>
          <a:noFill/>
          <a:ln/>
        </p:spPr>
        <p:txBody>
          <a:bodyPr wrap="square" lIns="0" tIns="0" rIns="0" bIns="0" rtlCol="0" anchor="ctr"/>
          <a:lstStyle/>
          <a:p>
            <a:pPr algn="r" indent="0" marL="0">
              <a:buNone/>
            </a:pPr>
            <a:r>
              <a:rPr lang="en-US" sz="900" dirty="0">
                <a:solidFill>
                  <a:srgbClr val="8A949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8"/>
        </a:solidFill>
      </p:bgPr>
    </p:bg>
    <p:spTree>
      <p:nvGrpSpPr>
        <p:cNvPr id="1" name=""/>
        <p:cNvGrpSpPr/>
        <p:nvPr/>
      </p:nvGrpSpPr>
      <p:grpSpPr/>
      <p:sp>
        <p:nvSpPr>
          <p:cNvPr id="2" name="Text 0"/>
          <p:cNvSpPr txBox="1"/>
          <p:nvPr/>
        </p:nvSpPr>
        <p:spPr>
          <a:xfrm>
            <a:off x="566928" y="384048"/>
            <a:ext cx="11064240" cy="219456"/>
          </a:xfrm>
          <a:prstGeom prst="rect">
            <a:avLst/>
          </a:prstGeom>
          <a:noFill/>
          <a:ln/>
        </p:spPr>
        <p:txBody>
          <a:bodyPr wrap="square" lIns="0" tIns="0" rIns="0" bIns="0" rtlCol="0" anchor="ctr"/>
          <a:lstStyle/>
          <a:p>
            <a:pPr indent="0" marL="0">
              <a:buNone/>
            </a:pPr>
            <a:r>
              <a:rPr lang="en-US" sz="1050" b="1" spc="220" kern="0" dirty="0">
                <a:solidFill>
                  <a:srgbClr val="0F6E63"/>
                </a:solidFill>
                <a:latin typeface="Calibri" pitchFamily="34" charset="0"/>
                <a:ea typeface="Calibri" pitchFamily="34" charset="-122"/>
                <a:cs typeface="Calibri" pitchFamily="34" charset="-120"/>
              </a:rPr>
              <a:t>BEYOND THE TABLE</a:t>
            </a:r>
            <a:endParaRPr lang="en-US" sz="1050" dirty="0"/>
          </a:p>
        </p:txBody>
      </p:sp>
      <p:sp>
        <p:nvSpPr>
          <p:cNvPr id="3" name="Text 1"/>
          <p:cNvSpPr txBox="1"/>
          <p:nvPr/>
        </p:nvSpPr>
        <p:spPr>
          <a:xfrm>
            <a:off x="566928" y="640080"/>
            <a:ext cx="11064240" cy="475488"/>
          </a:xfrm>
          <a:prstGeom prst="rect">
            <a:avLst/>
          </a:prstGeom>
          <a:noFill/>
          <a:ln/>
        </p:spPr>
        <p:txBody>
          <a:bodyPr wrap="square" lIns="0" tIns="0" rIns="0" bIns="0" rtlCol="0" anchor="ctr"/>
          <a:lstStyle/>
          <a:p>
            <a:pPr indent="0" marL="0">
              <a:buNone/>
            </a:pPr>
            <a:r>
              <a:rPr lang="en-US" sz="2600" dirty="0">
                <a:solidFill>
                  <a:srgbClr val="1C2530"/>
                </a:solidFill>
                <a:latin typeface="Georgia" pitchFamily="34" charset="0"/>
                <a:ea typeface="Georgia" pitchFamily="34" charset="-122"/>
                <a:cs typeface="Georgia" pitchFamily="34" charset="-120"/>
              </a:rPr>
              <a:t>Width accuracy and the brick-wall test</a:t>
            </a:r>
            <a:endParaRPr lang="en-US" sz="2600" dirty="0"/>
          </a:p>
        </p:txBody>
      </p:sp>
      <p:sp>
        <p:nvSpPr>
          <p:cNvPr id="4" name="Shape 2"/>
          <p:cNvSpPr/>
          <p:nvPr/>
        </p:nvSpPr>
        <p:spPr>
          <a:xfrm>
            <a:off x="566928" y="1207008"/>
            <a:ext cx="777240" cy="32004"/>
          </a:xfrm>
          <a:prstGeom prst="rect">
            <a:avLst/>
          </a:prstGeom>
          <a:solidFill>
            <a:srgbClr val="0F6E63"/>
          </a:solidFill>
          <a:ln w="12700">
            <a:solidFill>
              <a:srgbClr val="0F6E63"/>
            </a:solidFill>
            <a:prstDash val="solid"/>
          </a:ln>
        </p:spPr>
      </p:sp>
      <p:sp>
        <p:nvSpPr>
          <p:cNvPr id="5" name="Text 3"/>
          <p:cNvSpPr txBox="1"/>
          <p:nvPr/>
        </p:nvSpPr>
        <p:spPr>
          <a:xfrm>
            <a:off x="566928" y="1481328"/>
            <a:ext cx="10607040" cy="365760"/>
          </a:xfrm>
          <a:prstGeom prst="rect">
            <a:avLst/>
          </a:prstGeom>
          <a:noFill/>
          <a:ln/>
        </p:spPr>
        <p:txBody>
          <a:bodyPr wrap="square" lIns="0" tIns="0" rIns="0" bIns="0" rtlCol="0" anchor="ctr"/>
          <a:lstStyle/>
          <a:p>
            <a:pPr indent="0" marL="0">
              <a:lnSpc>
                <a:spcPct val="118000"/>
              </a:lnSpc>
              <a:buNone/>
            </a:pPr>
            <a:r>
              <a:rPr lang="en-US" sz="1300" dirty="0">
                <a:solidFill>
                  <a:srgbClr val="48535F"/>
                </a:solidFill>
                <a:latin typeface="Calibri" pitchFamily="34" charset="0"/>
                <a:ea typeface="Calibri" pitchFamily="34" charset="-122"/>
                <a:cs typeface="Calibri" pitchFamily="34" charset="-120"/>
              </a:rPr>
              <a:t>Two checks that decide whether the numbers can be trusted on a real wall: width against hand-drawn ground truth, and a different surface.</a:t>
            </a:r>
            <a:endParaRPr lang="en-US" sz="1300" dirty="0"/>
          </a:p>
        </p:txBody>
      </p:sp>
      <p:sp>
        <p:nvSpPr>
          <p:cNvPr id="6" name="Shape 4"/>
          <p:cNvSpPr/>
          <p:nvPr/>
        </p:nvSpPr>
        <p:spPr>
          <a:xfrm>
            <a:off x="566928" y="2029968"/>
            <a:ext cx="3401568" cy="3621024"/>
          </a:xfrm>
          <a:prstGeom prst="roundRect">
            <a:avLst>
              <a:gd name="adj" fmla="val 1613"/>
            </a:avLst>
          </a:prstGeom>
          <a:solidFill>
            <a:srgbClr val="FFFFFF"/>
          </a:solidFill>
          <a:ln w="9525">
            <a:solidFill>
              <a:srgbClr val="DDD8D2"/>
            </a:solidFill>
            <a:prstDash val="solid"/>
          </a:ln>
        </p:spPr>
      </p:sp>
      <p:sp>
        <p:nvSpPr>
          <p:cNvPr id="7" name="Text 5"/>
          <p:cNvSpPr txBox="1"/>
          <p:nvPr/>
        </p:nvSpPr>
        <p:spPr>
          <a:xfrm>
            <a:off x="822960" y="2231136"/>
            <a:ext cx="2926080" cy="274320"/>
          </a:xfrm>
          <a:prstGeom prst="rect">
            <a:avLst/>
          </a:prstGeom>
          <a:noFill/>
          <a:ln/>
        </p:spPr>
        <p:txBody>
          <a:bodyPr wrap="square" lIns="0" tIns="0" rIns="0" bIns="0" rtlCol="0" anchor="ctr"/>
          <a:lstStyle/>
          <a:p>
            <a:pPr indent="0" marL="0">
              <a:lnSpc>
                <a:spcPct val="118000"/>
              </a:lnSpc>
              <a:buNone/>
            </a:pPr>
            <a:r>
              <a:rPr lang="en-US" sz="1400" b="1" dirty="0">
                <a:solidFill>
                  <a:srgbClr val="1C2530"/>
                </a:solidFill>
                <a:latin typeface="Georgia" pitchFamily="34" charset="0"/>
                <a:ea typeface="Georgia" pitchFamily="34" charset="-122"/>
                <a:cs typeface="Georgia" pitchFamily="34" charset="-120"/>
              </a:rPr>
              <a:t>Width vs ground truth</a:t>
            </a:r>
            <a:endParaRPr lang="en-US" sz="1400" dirty="0"/>
          </a:p>
        </p:txBody>
      </p:sp>
      <p:sp>
        <p:nvSpPr>
          <p:cNvPr id="8" name="Text 6"/>
          <p:cNvSpPr txBox="1"/>
          <p:nvPr/>
        </p:nvSpPr>
        <p:spPr>
          <a:xfrm>
            <a:off x="822960" y="2596896"/>
            <a:ext cx="2889504" cy="1051560"/>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Against hand-drawn widths on the 85 test images, mean width lands within 1 px on 51% of images (median error 0.98 px). The widest point is within 1 px on only 27%.</a:t>
            </a:r>
            <a:endParaRPr lang="en-US" sz="1100" dirty="0"/>
          </a:p>
        </p:txBody>
      </p:sp>
      <p:sp>
        <p:nvSpPr>
          <p:cNvPr id="9" name="Shape 7"/>
          <p:cNvSpPr/>
          <p:nvPr/>
        </p:nvSpPr>
        <p:spPr>
          <a:xfrm>
            <a:off x="822960" y="3712464"/>
            <a:ext cx="502920" cy="22860"/>
          </a:xfrm>
          <a:prstGeom prst="rect">
            <a:avLst/>
          </a:prstGeom>
          <a:solidFill>
            <a:srgbClr val="DDD8D2"/>
          </a:solidFill>
          <a:ln w="12700">
            <a:solidFill>
              <a:srgbClr val="DDD8D2"/>
            </a:solidFill>
            <a:prstDash val="solid"/>
          </a:ln>
        </p:spPr>
      </p:sp>
      <p:sp>
        <p:nvSpPr>
          <p:cNvPr id="10" name="Text 8"/>
          <p:cNvSpPr txBox="1"/>
          <p:nvPr/>
        </p:nvSpPr>
        <p:spPr>
          <a:xfrm>
            <a:off x="822960" y="3895344"/>
            <a:ext cx="2889504" cy="1554480"/>
          </a:xfrm>
          <a:prstGeom prst="rect">
            <a:avLst/>
          </a:prstGeom>
          <a:noFill/>
          <a:ln/>
        </p:spPr>
        <p:txBody>
          <a:bodyPr wrap="square" lIns="0" tIns="0" rIns="0" bIns="0" rtlCol="0" anchor="ctr"/>
          <a:lstStyle/>
          <a:p>
            <a:pPr indent="0" marL="0">
              <a:lnSpc>
                <a:spcPct val="118000"/>
              </a:lnSpc>
              <a:buNone/>
            </a:pPr>
            <a:r>
              <a:rPr lang="en-US" sz="1050" i="1" dirty="0">
                <a:solidFill>
                  <a:srgbClr val="8A949E"/>
                </a:solidFill>
                <a:latin typeface="Calibri" pitchFamily="34" charset="0"/>
                <a:ea typeface="Calibri" pitchFamily="34" charset="-122"/>
                <a:cs typeface="Calibri" pitchFamily="34" charset="-120"/>
              </a:rPr>
              <a:t>A perfect model at this input size would reach 99%, so most of the gap comes from the model, not the measurement.</a:t>
            </a:r>
            <a:endParaRPr lang="en-US" sz="1050" dirty="0"/>
          </a:p>
        </p:txBody>
      </p:sp>
      <p:sp>
        <p:nvSpPr>
          <p:cNvPr id="11" name="Shape 9"/>
          <p:cNvSpPr/>
          <p:nvPr/>
        </p:nvSpPr>
        <p:spPr>
          <a:xfrm>
            <a:off x="4242816" y="2029968"/>
            <a:ext cx="3401568" cy="3621024"/>
          </a:xfrm>
          <a:prstGeom prst="roundRect">
            <a:avLst>
              <a:gd name="adj" fmla="val 1613"/>
            </a:avLst>
          </a:prstGeom>
          <a:solidFill>
            <a:srgbClr val="FFFFFF"/>
          </a:solidFill>
          <a:ln w="9525">
            <a:solidFill>
              <a:srgbClr val="DDD8D2"/>
            </a:solidFill>
            <a:prstDash val="solid"/>
          </a:ln>
        </p:spPr>
      </p:sp>
      <p:sp>
        <p:nvSpPr>
          <p:cNvPr id="12" name="Text 10"/>
          <p:cNvSpPr txBox="1"/>
          <p:nvPr/>
        </p:nvSpPr>
        <p:spPr>
          <a:xfrm>
            <a:off x="4498848" y="2231136"/>
            <a:ext cx="2926080" cy="274320"/>
          </a:xfrm>
          <a:prstGeom prst="rect">
            <a:avLst/>
          </a:prstGeom>
          <a:noFill/>
          <a:ln/>
        </p:spPr>
        <p:txBody>
          <a:bodyPr wrap="square" lIns="0" tIns="0" rIns="0" bIns="0" rtlCol="0" anchor="ctr"/>
          <a:lstStyle/>
          <a:p>
            <a:pPr indent="0" marL="0">
              <a:lnSpc>
                <a:spcPct val="118000"/>
              </a:lnSpc>
              <a:buNone/>
            </a:pPr>
            <a:r>
              <a:rPr lang="en-US" sz="1400" b="1" dirty="0">
                <a:solidFill>
                  <a:srgbClr val="1C2530"/>
                </a:solidFill>
                <a:latin typeface="Georgia" pitchFamily="34" charset="0"/>
                <a:ea typeface="Georgia" pitchFamily="34" charset="-122"/>
                <a:cs typeface="Georgia" pitchFamily="34" charset="-120"/>
              </a:rPr>
              <a:t>Thin cracks</a:t>
            </a:r>
            <a:endParaRPr lang="en-US" sz="1400" dirty="0"/>
          </a:p>
        </p:txBody>
      </p:sp>
      <p:sp>
        <p:nvSpPr>
          <p:cNvPr id="13" name="Text 11"/>
          <p:cNvSpPr txBox="1"/>
          <p:nvPr/>
        </p:nvSpPr>
        <p:spPr>
          <a:xfrm>
            <a:off x="4498848" y="2596896"/>
            <a:ext cx="2889504" cy="1051560"/>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On the 17 cracks under 3 px wide, width reads about 0.97 px too wide, length 58 px short, and the crack count is off by about 3.</a:t>
            </a:r>
            <a:endParaRPr lang="en-US" sz="1100" dirty="0"/>
          </a:p>
        </p:txBody>
      </p:sp>
      <p:sp>
        <p:nvSpPr>
          <p:cNvPr id="14" name="Shape 12"/>
          <p:cNvSpPr/>
          <p:nvPr/>
        </p:nvSpPr>
        <p:spPr>
          <a:xfrm>
            <a:off x="4498848" y="3712464"/>
            <a:ext cx="502920" cy="22860"/>
          </a:xfrm>
          <a:prstGeom prst="rect">
            <a:avLst/>
          </a:prstGeom>
          <a:solidFill>
            <a:srgbClr val="DDD8D2"/>
          </a:solidFill>
          <a:ln w="12700">
            <a:solidFill>
              <a:srgbClr val="DDD8D2"/>
            </a:solidFill>
            <a:prstDash val="solid"/>
          </a:ln>
        </p:spPr>
      </p:sp>
      <p:sp>
        <p:nvSpPr>
          <p:cNvPr id="15" name="Text 13"/>
          <p:cNvSpPr txBox="1"/>
          <p:nvPr/>
        </p:nvSpPr>
        <p:spPr>
          <a:xfrm>
            <a:off x="4498848" y="3895344"/>
            <a:ext cx="2889504" cy="1554480"/>
          </a:xfrm>
          <a:prstGeom prst="rect">
            <a:avLst/>
          </a:prstGeom>
          <a:noFill/>
          <a:ln/>
        </p:spPr>
        <p:txBody>
          <a:bodyPr wrap="square" lIns="0" tIns="0" rIns="0" bIns="0" rtlCol="0" anchor="ctr"/>
          <a:lstStyle/>
          <a:p>
            <a:pPr indent="0" marL="0">
              <a:lnSpc>
                <a:spcPct val="118000"/>
              </a:lnSpc>
              <a:buNone/>
            </a:pPr>
            <a:r>
              <a:rPr lang="en-US" sz="1050" i="1" dirty="0">
                <a:solidFill>
                  <a:srgbClr val="8A949E"/>
                </a:solidFill>
                <a:latin typeface="Calibri" pitchFamily="34" charset="0"/>
                <a:ea typeface="Calibri" pitchFamily="34" charset="-122"/>
                <a:cs typeface="Calibri" pitchFamily="34" charset="-120"/>
              </a:rPr>
              <a:t>Cracks 1 px wide also fade out of training images in about 90% of draws. Harmless on DeepCrack, a risk for hairline cracks.</a:t>
            </a:r>
            <a:endParaRPr lang="en-US" sz="1050" dirty="0"/>
          </a:p>
        </p:txBody>
      </p:sp>
      <p:sp>
        <p:nvSpPr>
          <p:cNvPr id="16" name="Shape 14"/>
          <p:cNvSpPr/>
          <p:nvPr/>
        </p:nvSpPr>
        <p:spPr>
          <a:xfrm>
            <a:off x="7918704" y="2029968"/>
            <a:ext cx="3401568" cy="3621024"/>
          </a:xfrm>
          <a:prstGeom prst="roundRect">
            <a:avLst>
              <a:gd name="adj" fmla="val 1613"/>
            </a:avLst>
          </a:prstGeom>
          <a:solidFill>
            <a:srgbClr val="FFFFFF"/>
          </a:solidFill>
          <a:ln w="9525">
            <a:solidFill>
              <a:srgbClr val="DDD8D2"/>
            </a:solidFill>
            <a:prstDash val="solid"/>
          </a:ln>
        </p:spPr>
      </p:sp>
      <p:sp>
        <p:nvSpPr>
          <p:cNvPr id="17" name="Text 15"/>
          <p:cNvSpPr txBox="1"/>
          <p:nvPr/>
        </p:nvSpPr>
        <p:spPr>
          <a:xfrm>
            <a:off x="8174736" y="2231136"/>
            <a:ext cx="2926080" cy="274320"/>
          </a:xfrm>
          <a:prstGeom prst="rect">
            <a:avLst/>
          </a:prstGeom>
          <a:noFill/>
          <a:ln/>
        </p:spPr>
        <p:txBody>
          <a:bodyPr wrap="square" lIns="0" tIns="0" rIns="0" bIns="0" rtlCol="0" anchor="ctr"/>
          <a:lstStyle/>
          <a:p>
            <a:pPr indent="0" marL="0">
              <a:lnSpc>
                <a:spcPct val="118000"/>
              </a:lnSpc>
              <a:buNone/>
            </a:pPr>
            <a:r>
              <a:rPr lang="en-US" sz="1400" b="1" dirty="0">
                <a:solidFill>
                  <a:srgbClr val="1C2530"/>
                </a:solidFill>
                <a:latin typeface="Georgia" pitchFamily="34" charset="0"/>
                <a:ea typeface="Georgia" pitchFamily="34" charset="-122"/>
                <a:cs typeface="Georgia" pitchFamily="34" charset="-120"/>
              </a:rPr>
              <a:t>Brick walls</a:t>
            </a:r>
            <a:endParaRPr lang="en-US" sz="1400" dirty="0"/>
          </a:p>
        </p:txBody>
      </p:sp>
      <p:sp>
        <p:nvSpPr>
          <p:cNvPr id="18" name="Text 16"/>
          <p:cNvSpPr txBox="1"/>
          <p:nvPr/>
        </p:nvSpPr>
        <p:spPr>
          <a:xfrm>
            <a:off x="8174736" y="2596896"/>
            <a:ext cx="2889504" cy="1051560"/>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On 240 masonry images (Dais et al.) with no retuning: IoU 0.455, Dice 0.588, precision 0.545, recall 0.770.</a:t>
            </a:r>
            <a:endParaRPr lang="en-US" sz="1100" dirty="0"/>
          </a:p>
        </p:txBody>
      </p:sp>
      <p:sp>
        <p:nvSpPr>
          <p:cNvPr id="19" name="Shape 17"/>
          <p:cNvSpPr/>
          <p:nvPr/>
        </p:nvSpPr>
        <p:spPr>
          <a:xfrm>
            <a:off x="8174736" y="3712464"/>
            <a:ext cx="502920" cy="22860"/>
          </a:xfrm>
          <a:prstGeom prst="rect">
            <a:avLst/>
          </a:prstGeom>
          <a:solidFill>
            <a:srgbClr val="DDD8D2"/>
          </a:solidFill>
          <a:ln w="12700">
            <a:solidFill>
              <a:srgbClr val="DDD8D2"/>
            </a:solidFill>
            <a:prstDash val="solid"/>
          </a:ln>
        </p:spPr>
      </p:sp>
      <p:sp>
        <p:nvSpPr>
          <p:cNvPr id="20" name="Text 18"/>
          <p:cNvSpPr txBox="1"/>
          <p:nvPr/>
        </p:nvSpPr>
        <p:spPr>
          <a:xfrm>
            <a:off x="8174736" y="3895344"/>
            <a:ext cx="2889504" cy="1554480"/>
          </a:xfrm>
          <a:prstGeom prst="rect">
            <a:avLst/>
          </a:prstGeom>
          <a:noFill/>
          <a:ln/>
        </p:spPr>
        <p:txBody>
          <a:bodyPr wrap="square" lIns="0" tIns="0" rIns="0" bIns="0" rtlCol="0" anchor="ctr"/>
          <a:lstStyle/>
          <a:p>
            <a:pPr indent="0" marL="0">
              <a:lnSpc>
                <a:spcPct val="118000"/>
              </a:lnSpc>
              <a:buNone/>
            </a:pPr>
            <a:r>
              <a:rPr lang="en-US" sz="1050" i="1" dirty="0">
                <a:solidFill>
                  <a:srgbClr val="8A949E"/>
                </a:solidFill>
                <a:latin typeface="Calibri" pitchFamily="34" charset="0"/>
                <a:ea typeface="Calibri" pitchFamily="34" charset="-122"/>
                <a:cs typeface="Calibri" pitchFamily="34" charset="-120"/>
              </a:rPr>
              <a:t>Mortar joints are marked as cracks, so precision falls. The set has no crack-free images, so the false-alarm rate on clean walls is not measured.</a:t>
            </a:r>
            <a:endParaRPr lang="en-US" sz="1050" dirty="0"/>
          </a:p>
        </p:txBody>
      </p:sp>
      <p:sp>
        <p:nvSpPr>
          <p:cNvPr id="21" name="Text 19"/>
          <p:cNvSpPr txBox="1"/>
          <p:nvPr/>
        </p:nvSpPr>
        <p:spPr>
          <a:xfrm>
            <a:off x="566928" y="6419088"/>
            <a:ext cx="7315200" cy="201168"/>
          </a:xfrm>
          <a:prstGeom prst="rect">
            <a:avLst/>
          </a:prstGeom>
          <a:noFill/>
          <a:ln/>
        </p:spPr>
        <p:txBody>
          <a:bodyPr wrap="square" lIns="0" tIns="0" rIns="0" bIns="0" rtlCol="0" anchor="ctr"/>
          <a:lstStyle/>
          <a:p>
            <a:pPr indent="0" marL="0">
              <a:buNone/>
            </a:pPr>
            <a:r>
              <a:rPr lang="en-US" sz="900" dirty="0">
                <a:solidFill>
                  <a:srgbClr val="8A949E"/>
                </a:solidFill>
                <a:latin typeface="Calibri" pitchFamily="34" charset="0"/>
                <a:ea typeface="Calibri" pitchFamily="34" charset="-122"/>
                <a:cs typeface="Calibri" pitchFamily="34" charset="-120"/>
              </a:rPr>
              <a:t>Crack Segmentation for Structural Monitoring</a:t>
            </a:r>
            <a:endParaRPr lang="en-US" sz="900" dirty="0"/>
          </a:p>
        </p:txBody>
      </p:sp>
      <p:sp>
        <p:nvSpPr>
          <p:cNvPr id="22" name="Text 20"/>
          <p:cNvSpPr txBox="1"/>
          <p:nvPr/>
        </p:nvSpPr>
        <p:spPr>
          <a:xfrm>
            <a:off x="11064240" y="6419088"/>
            <a:ext cx="548640" cy="201168"/>
          </a:xfrm>
          <a:prstGeom prst="rect">
            <a:avLst/>
          </a:prstGeom>
          <a:noFill/>
          <a:ln/>
        </p:spPr>
        <p:txBody>
          <a:bodyPr wrap="square" lIns="0" tIns="0" rIns="0" bIns="0" rtlCol="0" anchor="ctr"/>
          <a:lstStyle/>
          <a:p>
            <a:pPr algn="r" indent="0" marL="0">
              <a:buNone/>
            </a:pPr>
            <a:r>
              <a:rPr lang="en-US" sz="900" dirty="0">
                <a:solidFill>
                  <a:srgbClr val="8A949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AF8"/>
        </a:solidFill>
      </p:bgPr>
    </p:bg>
    <p:spTree>
      <p:nvGrpSpPr>
        <p:cNvPr id="1" name=""/>
        <p:cNvGrpSpPr/>
        <p:nvPr/>
      </p:nvGrpSpPr>
      <p:grpSpPr/>
      <p:sp>
        <p:nvSpPr>
          <p:cNvPr id="2" name="Text 0"/>
          <p:cNvSpPr txBox="1"/>
          <p:nvPr/>
        </p:nvSpPr>
        <p:spPr>
          <a:xfrm>
            <a:off x="566928" y="384048"/>
            <a:ext cx="11064240" cy="219456"/>
          </a:xfrm>
          <a:prstGeom prst="rect">
            <a:avLst/>
          </a:prstGeom>
          <a:noFill/>
          <a:ln/>
        </p:spPr>
        <p:txBody>
          <a:bodyPr wrap="square" lIns="0" tIns="0" rIns="0" bIns="0" rtlCol="0" anchor="ctr"/>
          <a:lstStyle/>
          <a:p>
            <a:pPr indent="0" marL="0">
              <a:buNone/>
            </a:pPr>
            <a:r>
              <a:rPr lang="en-US" sz="1050" b="1" spc="220" kern="0" dirty="0">
                <a:solidFill>
                  <a:srgbClr val="0F6E63"/>
                </a:solidFill>
                <a:latin typeface="Calibri" pitchFamily="34" charset="0"/>
                <a:ea typeface="Calibri" pitchFamily="34" charset="-122"/>
                <a:cs typeface="Calibri" pitchFamily="34" charset="-120"/>
              </a:rPr>
              <a:t>FRONT END</a:t>
            </a:r>
            <a:endParaRPr lang="en-US" sz="1050" dirty="0"/>
          </a:p>
        </p:txBody>
      </p:sp>
      <p:sp>
        <p:nvSpPr>
          <p:cNvPr id="3" name="Text 1"/>
          <p:cNvSpPr txBox="1"/>
          <p:nvPr/>
        </p:nvSpPr>
        <p:spPr>
          <a:xfrm>
            <a:off x="566928" y="640080"/>
            <a:ext cx="11064240" cy="475488"/>
          </a:xfrm>
          <a:prstGeom prst="rect">
            <a:avLst/>
          </a:prstGeom>
          <a:noFill/>
          <a:ln/>
        </p:spPr>
        <p:txBody>
          <a:bodyPr wrap="square" lIns="0" tIns="0" rIns="0" bIns="0" rtlCol="0" anchor="ctr"/>
          <a:lstStyle/>
          <a:p>
            <a:pPr indent="0" marL="0">
              <a:buNone/>
            </a:pPr>
            <a:r>
              <a:rPr lang="en-US" sz="2600" dirty="0">
                <a:solidFill>
                  <a:srgbClr val="1C2530"/>
                </a:solidFill>
                <a:latin typeface="Georgia" pitchFamily="34" charset="0"/>
                <a:ea typeface="Georgia" pitchFamily="34" charset="-122"/>
                <a:cs typeface="Georgia" pitchFamily="34" charset="-120"/>
              </a:rPr>
              <a:t>A browser app for the measurement</a:t>
            </a:r>
            <a:endParaRPr lang="en-US" sz="2600" dirty="0"/>
          </a:p>
        </p:txBody>
      </p:sp>
      <p:sp>
        <p:nvSpPr>
          <p:cNvPr id="4" name="Shape 2"/>
          <p:cNvSpPr/>
          <p:nvPr/>
        </p:nvSpPr>
        <p:spPr>
          <a:xfrm>
            <a:off x="566928" y="1207008"/>
            <a:ext cx="777240" cy="32004"/>
          </a:xfrm>
          <a:prstGeom prst="rect">
            <a:avLst/>
          </a:prstGeom>
          <a:solidFill>
            <a:srgbClr val="0F6E63"/>
          </a:solidFill>
          <a:ln w="12700">
            <a:solidFill>
              <a:srgbClr val="0F6E63"/>
            </a:solidFill>
            <a:prstDash val="solid"/>
          </a:ln>
        </p:spPr>
      </p:sp>
      <p:sp>
        <p:nvSpPr>
          <p:cNvPr id="5" name="Text 3"/>
          <p:cNvSpPr txBox="1"/>
          <p:nvPr/>
        </p:nvSpPr>
        <p:spPr>
          <a:xfrm>
            <a:off x="566928" y="1481328"/>
            <a:ext cx="10607040" cy="365760"/>
          </a:xfrm>
          <a:prstGeom prst="rect">
            <a:avLst/>
          </a:prstGeom>
          <a:noFill/>
          <a:ln/>
        </p:spPr>
        <p:txBody>
          <a:bodyPr wrap="square" lIns="0" tIns="0" rIns="0" bIns="0" rtlCol="0" anchor="ctr"/>
          <a:lstStyle/>
          <a:p>
            <a:pPr indent="0" marL="0">
              <a:lnSpc>
                <a:spcPct val="118000"/>
              </a:lnSpc>
              <a:buNone/>
            </a:pPr>
            <a:r>
              <a:rPr lang="en-US" sz="1300" dirty="0">
                <a:solidFill>
                  <a:srgbClr val="48535F"/>
                </a:solidFill>
                <a:latin typeface="Calibri" pitchFamily="34" charset="0"/>
                <a:ea typeface="Calibri" pitchFamily="34" charset="-122"/>
                <a:cs typeface="Calibri" pitchFamily="34" charset="-120"/>
              </a:rPr>
              <a:t>Upload a wall photo to get crack length and width in millimetres, or two captures to see whether a crack has widened.</a:t>
            </a:r>
            <a:endParaRPr lang="en-US" sz="1300" dirty="0"/>
          </a:p>
        </p:txBody>
      </p:sp>
      <p:sp>
        <p:nvSpPr>
          <p:cNvPr id="21" name="Text 19"/>
          <p:cNvSpPr txBox="1"/>
          <p:nvPr/>
        </p:nvSpPr>
        <p:spPr>
          <a:xfrm>
            <a:off x="566928" y="6419088"/>
            <a:ext cx="7315200" cy="201168"/>
          </a:xfrm>
          <a:prstGeom prst="rect">
            <a:avLst/>
          </a:prstGeom>
          <a:noFill/>
          <a:ln/>
        </p:spPr>
        <p:txBody>
          <a:bodyPr wrap="square" lIns="0" tIns="0" rIns="0" bIns="0" rtlCol="0" anchor="ctr"/>
          <a:lstStyle/>
          <a:p>
            <a:pPr indent="0" marL="0">
              <a:buNone/>
            </a:pPr>
            <a:r>
              <a:rPr lang="en-US" sz="900" dirty="0">
                <a:solidFill>
                  <a:srgbClr val="8A949E"/>
                </a:solidFill>
                <a:latin typeface="Calibri" pitchFamily="34" charset="0"/>
                <a:ea typeface="Calibri" pitchFamily="34" charset="-122"/>
                <a:cs typeface="Calibri" pitchFamily="34" charset="-120"/>
              </a:rPr>
              <a:t>Crack Segmentation for Structural Monitoring</a:t>
            </a:r>
            <a:endParaRPr lang="en-US" sz="900" dirty="0"/>
          </a:p>
        </p:txBody>
      </p:sp>
      <p:sp>
        <p:nvSpPr>
          <p:cNvPr id="22" name="Text 20"/>
          <p:cNvSpPr txBox="1"/>
          <p:nvPr/>
        </p:nvSpPr>
        <p:spPr>
          <a:xfrm>
            <a:off x="11064240" y="6419088"/>
            <a:ext cx="548640" cy="201168"/>
          </a:xfrm>
          <a:prstGeom prst="rect">
            <a:avLst/>
          </a:prstGeom>
          <a:noFill/>
          <a:ln/>
        </p:spPr>
        <p:txBody>
          <a:bodyPr wrap="square" lIns="0" tIns="0" rIns="0" bIns="0" rtlCol="0" anchor="ctr"/>
          <a:lstStyle/>
          <a:p>
            <a:pPr algn="r" indent="0" marL="0">
              <a:buNone/>
            </a:pPr>
            <a:r>
              <a:rPr lang="en-US" sz="900" dirty="0">
                <a:solidFill>
                  <a:srgbClr val="8A949E"/>
                </a:solidFill>
                <a:latin typeface="Calibri" pitchFamily="34" charset="0"/>
                <a:ea typeface="Calibri" pitchFamily="34" charset="-122"/>
                <a:cs typeface="Calibri" pitchFamily="34" charset="-120"/>
              </a:rPr>
              <a:t>9</a:t>
            </a:r>
            <a:endParaRPr lang="en-US" sz="900" dirty="0"/>
          </a:p>
        </p:txBody>
      </p:sp>
      <p:pic>
        <p:nvPicPr>
          <p:cNvPr id="23" name="Picture 22" descr="app_crop.png"/>
          <p:cNvPicPr>
            <a:picLocks noChangeAspect="1"/>
          </p:cNvPicPr>
          <p:nvPr/>
        </p:nvPicPr>
        <p:blipFill>
          <a:blip r:embed="rId2"/>
          <a:stretch>
            <a:fillRect/>
          </a:stretch>
        </p:blipFill>
        <p:spPr>
          <a:xfrm>
            <a:off x="566928" y="2029968"/>
            <a:ext cx="4727391" cy="3930000"/>
          </a:xfrm>
          <a:prstGeom prst="rect">
            <a:avLst/>
          </a:prstGeom>
          <a:ln w="9525">
            <a:solidFill>
              <a:srgbClr val="DDDDD6"/>
            </a:solidFill>
          </a:ln>
        </p:spPr>
      </p:pic>
      <p:sp>
        <p:nvSpPr>
          <p:cNvPr id="24" name="TextBox 23"/>
          <p:cNvSpPr txBox="1"/>
          <p:nvPr/>
        </p:nvSpPr>
        <p:spPr>
          <a:xfrm>
            <a:off x="5674319" y="2029968"/>
            <a:ext cx="5956849" cy="300000"/>
          </a:xfrm>
          <a:prstGeom prst="rect">
            <a:avLst/>
          </a:prstGeom>
          <a:noFill/>
        </p:spPr>
        <p:txBody>
          <a:bodyPr wrap="square" lIns="0" rIns="0" tIns="0" bIns="0">
            <a:spAutoFit/>
          </a:bodyPr>
          <a:lstStyle/>
          <a:p>
            <a:r>
              <a:rPr sz="1400" b="1">
                <a:solidFill>
                  <a:srgbClr val="1C2530"/>
                </a:solidFill>
                <a:latin typeface="Georgia"/>
              </a:rPr>
              <a:t>Measure one photo</a:t>
            </a:r>
          </a:p>
        </p:txBody>
      </p:sp>
      <p:sp>
        <p:nvSpPr>
          <p:cNvPr id="25" name="TextBox 24"/>
          <p:cNvSpPr txBox="1"/>
          <p:nvPr/>
        </p:nvSpPr>
        <p:spPr>
          <a:xfrm>
            <a:off x="5674319" y="2329968"/>
            <a:ext cx="5956849" cy="880000"/>
          </a:xfrm>
          <a:prstGeom prst="rect">
            <a:avLst/>
          </a:prstGeom>
          <a:noFill/>
        </p:spPr>
        <p:txBody>
          <a:bodyPr wrap="square" lIns="0" rIns="0" tIns="0" bIns="0">
            <a:spAutoFit/>
          </a:bodyPr>
          <a:lstStyle/>
          <a:p>
            <a:r>
              <a:rPr sz="1100">
                <a:solidFill>
                  <a:srgbClr val="48535F"/>
                </a:solidFill>
                <a:latin typeface="Calibri"/>
              </a:rPr>
              <a:t>Cracks are outlined and measured: length, average width and widest point, each drawn on a millimetre ruler with the 1 px error band marked.</a:t>
            </a:r>
          </a:p>
        </p:txBody>
      </p:sp>
      <p:sp>
        <p:nvSpPr>
          <p:cNvPr id="26" name="TextBox 25"/>
          <p:cNvSpPr txBox="1"/>
          <p:nvPr/>
        </p:nvSpPr>
        <p:spPr>
          <a:xfrm>
            <a:off x="5674319" y="3359968"/>
            <a:ext cx="5956849" cy="300000"/>
          </a:xfrm>
          <a:prstGeom prst="rect">
            <a:avLst/>
          </a:prstGeom>
          <a:noFill/>
        </p:spPr>
        <p:txBody>
          <a:bodyPr wrap="square" lIns="0" rIns="0" tIns="0" bIns="0">
            <a:spAutoFit/>
          </a:bodyPr>
          <a:lstStyle/>
          <a:p>
            <a:r>
              <a:rPr sz="1400" b="1">
                <a:solidFill>
                  <a:srgbClr val="1C2530"/>
                </a:solidFill>
                <a:latin typeface="Georgia"/>
              </a:rPr>
              <a:t>Compare two photos</a:t>
            </a:r>
          </a:p>
        </p:txBody>
      </p:sp>
      <p:sp>
        <p:nvSpPr>
          <p:cNvPr id="27" name="TextBox 26"/>
          <p:cNvSpPr txBox="1"/>
          <p:nvPr/>
        </p:nvSpPr>
        <p:spPr>
          <a:xfrm>
            <a:off x="5674319" y="3659968"/>
            <a:ext cx="5956849" cy="880000"/>
          </a:xfrm>
          <a:prstGeom prst="rect">
            <a:avLst/>
          </a:prstGeom>
          <a:noFill/>
        </p:spPr>
        <p:txBody>
          <a:bodyPr wrap="square" lIns="0" rIns="0" tIns="0" bIns="0">
            <a:spAutoFit/>
          </a:bodyPr>
          <a:lstStyle/>
          <a:p>
            <a:r>
              <a:rPr sz="1100">
                <a:solidFill>
                  <a:srgbClr val="48535F"/>
                </a:solidFill>
                <a:latin typeface="Calibri"/>
              </a:rPr>
              <a:t>Reports whether the crack got wider, narrower, or changed by less than the 1 px step, and shows new crack pixels in a change image.</a:t>
            </a:r>
          </a:p>
        </p:txBody>
      </p:sp>
      <p:sp>
        <p:nvSpPr>
          <p:cNvPr id="28" name="TextBox 27"/>
          <p:cNvSpPr txBox="1"/>
          <p:nvPr/>
        </p:nvSpPr>
        <p:spPr>
          <a:xfrm>
            <a:off x="5674319" y="4689968"/>
            <a:ext cx="5956849" cy="300000"/>
          </a:xfrm>
          <a:prstGeom prst="rect">
            <a:avLst/>
          </a:prstGeom>
          <a:noFill/>
        </p:spPr>
        <p:txBody>
          <a:bodyPr wrap="square" lIns="0" rIns="0" tIns="0" bIns="0">
            <a:spAutoFit/>
          </a:bodyPr>
          <a:lstStyle/>
          <a:p>
            <a:r>
              <a:rPr sz="1400" b="1">
                <a:solidFill>
                  <a:srgbClr val="1C2530"/>
                </a:solidFill>
                <a:latin typeface="Georgia"/>
              </a:rPr>
              <a:t>Honest by default</a:t>
            </a:r>
          </a:p>
        </p:txBody>
      </p:sp>
      <p:sp>
        <p:nvSpPr>
          <p:cNvPr id="29" name="TextBox 28"/>
          <p:cNvSpPr txBox="1"/>
          <p:nvPr/>
        </p:nvSpPr>
        <p:spPr>
          <a:xfrm>
            <a:off x="5674319" y="4989968"/>
            <a:ext cx="5956849" cy="880000"/>
          </a:xfrm>
          <a:prstGeom prst="rect">
            <a:avLst/>
          </a:prstGeom>
          <a:noFill/>
        </p:spPr>
        <p:txBody>
          <a:bodyPr wrap="square" lIns="0" rIns="0" tIns="0" bIns="0">
            <a:spAutoFit/>
          </a:bodyPr>
          <a:lstStyle/>
          <a:p>
            <a:r>
              <a:rPr sz="1100">
                <a:solidFill>
                  <a:srgbClr val="48535F"/>
                </a:solidFill>
                <a:latin typeface="Calibri"/>
              </a:rPr>
              <a:t>Results, limits and the scale assumption are in the app. It does not align photos, and the scale comes from the user.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BFAF8"/>
        </a:solidFill>
      </p:bgPr>
    </p:bg>
    <p:spTree>
      <p:nvGrpSpPr>
        <p:cNvPr id="1" name=""/>
        <p:cNvGrpSpPr/>
        <p:nvPr/>
      </p:nvGrpSpPr>
      <p:grpSpPr>
        <a:xfrm>
          <a:off x="0" y="0"/>
          <a:ext cx="0" cy="0"/>
          <a:chOff x="0" y="0"/>
          <a:chExt cx="0" cy="0"/>
        </a:xfrm>
      </p:grpSpPr>
      <p:sp>
        <p:nvSpPr>
          <p:cNvPr id="2" name="Text 0"/>
          <p:cNvSpPr txBox="1"/>
          <p:nvPr/>
        </p:nvSpPr>
        <p:spPr>
          <a:xfrm>
            <a:off x="566928" y="384048"/>
            <a:ext cx="11064240" cy="219456"/>
          </a:xfrm>
          <a:prstGeom prst="rect">
            <a:avLst/>
          </a:prstGeom>
          <a:noFill/>
          <a:ln/>
        </p:spPr>
        <p:txBody>
          <a:bodyPr wrap="square" lIns="0" tIns="0" rIns="0" bIns="0" rtlCol="0" anchor="ctr"/>
          <a:lstStyle/>
          <a:p>
            <a:pPr indent="0" marL="0">
              <a:buNone/>
            </a:pPr>
            <a:r>
              <a:rPr lang="en-US" sz="1050" b="1" spc="220" kern="0" dirty="0">
                <a:solidFill>
                  <a:srgbClr val="0F6E63"/>
                </a:solidFill>
                <a:latin typeface="Calibri" pitchFamily="34" charset="0"/>
                <a:ea typeface="Calibri" pitchFamily="34" charset="-122"/>
                <a:cs typeface="Calibri" pitchFamily="34" charset="-120"/>
              </a:rPr>
              <a:t>LIMITATIONS</a:t>
            </a:r>
            <a:endParaRPr lang="en-US" sz="1050" dirty="0"/>
          </a:p>
        </p:txBody>
      </p:sp>
      <p:sp>
        <p:nvSpPr>
          <p:cNvPr id="3" name="Text 1"/>
          <p:cNvSpPr txBox="1"/>
          <p:nvPr/>
        </p:nvSpPr>
        <p:spPr>
          <a:xfrm>
            <a:off x="566928" y="640080"/>
            <a:ext cx="11064240" cy="475488"/>
          </a:xfrm>
          <a:prstGeom prst="rect">
            <a:avLst/>
          </a:prstGeom>
          <a:noFill/>
          <a:ln/>
        </p:spPr>
        <p:txBody>
          <a:bodyPr wrap="square" lIns="0" tIns="0" rIns="0" bIns="0" rtlCol="0" anchor="ctr"/>
          <a:lstStyle/>
          <a:p>
            <a:pPr indent="0" marL="0">
              <a:buNone/>
            </a:pPr>
            <a:r>
              <a:rPr lang="en-US" sz="2600" dirty="0">
                <a:solidFill>
                  <a:srgbClr val="1C2530"/>
                </a:solidFill>
                <a:latin typeface="Georgia" pitchFamily="34" charset="0"/>
                <a:ea typeface="Georgia" pitchFamily="34" charset="-122"/>
                <a:cs typeface="Georgia" pitchFamily="34" charset="-120"/>
              </a:rPr>
              <a:t>What this does not do</a:t>
            </a:r>
            <a:endParaRPr lang="en-US" sz="2600" dirty="0"/>
          </a:p>
        </p:txBody>
      </p:sp>
      <p:sp>
        <p:nvSpPr>
          <p:cNvPr id="4" name="Shape 2"/>
          <p:cNvSpPr/>
          <p:nvPr/>
        </p:nvSpPr>
        <p:spPr>
          <a:xfrm>
            <a:off x="566928" y="1207008"/>
            <a:ext cx="777240" cy="32004"/>
          </a:xfrm>
          <a:prstGeom prst="rect">
            <a:avLst/>
          </a:prstGeom>
          <a:solidFill>
            <a:srgbClr val="0F6E63"/>
          </a:solidFill>
          <a:ln w="12700">
            <a:solidFill>
              <a:srgbClr val="0F6E63"/>
            </a:solidFill>
            <a:prstDash val="solid"/>
          </a:ln>
        </p:spPr>
      </p:sp>
      <p:sp>
        <p:nvSpPr>
          <p:cNvPr id="5" name="Text 3"/>
          <p:cNvSpPr txBox="1"/>
          <p:nvPr/>
        </p:nvSpPr>
        <p:spPr>
          <a:xfrm>
            <a:off x="566928" y="1481328"/>
            <a:ext cx="10607040" cy="365760"/>
          </a:xfrm>
          <a:prstGeom prst="rect">
            <a:avLst/>
          </a:prstGeom>
          <a:noFill/>
          <a:ln/>
        </p:spPr>
        <p:txBody>
          <a:bodyPr wrap="square" lIns="0" tIns="0" rIns="0" bIns="0" rtlCol="0" anchor="ctr"/>
          <a:lstStyle/>
          <a:p>
            <a:pPr indent="0" marL="0">
              <a:lnSpc>
                <a:spcPct val="118000"/>
              </a:lnSpc>
              <a:buNone/>
            </a:pPr>
            <a:r>
              <a:rPr lang="en-US" sz="1300" dirty="0">
                <a:solidFill>
                  <a:srgbClr val="48535F"/>
                </a:solidFill>
                <a:latin typeface="Calibri" pitchFamily="34" charset="0"/>
                <a:ea typeface="Calibri" pitchFamily="34" charset="-122"/>
                <a:cs typeface="Calibri" pitchFamily="34" charset="-120"/>
              </a:rPr>
              <a:t>Four limits, stated rather than discovered by a reviewer. The first is the one that matters most.</a:t>
            </a:r>
            <a:endParaRPr lang="en-US" sz="1300" dirty="0"/>
          </a:p>
        </p:txBody>
      </p:sp>
      <p:sp>
        <p:nvSpPr>
          <p:cNvPr id="6" name="Shape 4"/>
          <p:cNvSpPr/>
          <p:nvPr/>
        </p:nvSpPr>
        <p:spPr>
          <a:xfrm>
            <a:off x="566928" y="2103120"/>
            <a:ext cx="5221224" cy="1645920"/>
          </a:xfrm>
          <a:prstGeom prst="roundRect">
            <a:avLst>
              <a:gd name="adj" fmla="val 3333"/>
            </a:avLst>
          </a:prstGeom>
          <a:solidFill>
            <a:srgbClr val="FFFFFF"/>
          </a:solidFill>
          <a:ln w="9525">
            <a:solidFill>
              <a:srgbClr val="A8443A"/>
            </a:solidFill>
            <a:prstDash val="solid"/>
          </a:ln>
        </p:spPr>
      </p:sp>
      <p:sp>
        <p:nvSpPr>
          <p:cNvPr id="7" name="Text 5"/>
          <p:cNvSpPr txBox="1"/>
          <p:nvPr/>
        </p:nvSpPr>
        <p:spPr>
          <a:xfrm>
            <a:off x="822960" y="2267712"/>
            <a:ext cx="4663440" cy="256032"/>
          </a:xfrm>
          <a:prstGeom prst="rect">
            <a:avLst/>
          </a:prstGeom>
          <a:noFill/>
          <a:ln/>
        </p:spPr>
        <p:txBody>
          <a:bodyPr wrap="square" lIns="0" tIns="0" rIns="0" bIns="0" rtlCol="0" anchor="ctr"/>
          <a:lstStyle/>
          <a:p>
            <a:pPr indent="0" marL="0">
              <a:lnSpc>
                <a:spcPct val="118000"/>
              </a:lnSpc>
              <a:buNone/>
            </a:pPr>
            <a:r>
              <a:rPr lang="en-US" sz="1300" b="1" dirty="0">
                <a:solidFill>
                  <a:srgbClr val="A8443A"/>
                </a:solidFill>
                <a:latin typeface="Georgia" pitchFamily="34" charset="0"/>
                <a:ea typeface="Georgia" pitchFamily="34" charset="-122"/>
                <a:cs typeface="Georgia" pitchFamily="34" charset="-120"/>
              </a:rPr>
              <a:t>Domain gap</a:t>
            </a:r>
            <a:endParaRPr lang="en-US" sz="1300" dirty="0"/>
          </a:p>
        </p:txBody>
      </p:sp>
      <p:sp>
        <p:nvSpPr>
          <p:cNvPr id="8" name="Text 6"/>
          <p:cNvSpPr txBox="1"/>
          <p:nvPr/>
        </p:nvSpPr>
        <p:spPr>
          <a:xfrm>
            <a:off x="822960" y="2633472"/>
            <a:ext cx="4709160" cy="1005840"/>
          </a:xfrm>
          <a:prstGeom prst="rect">
            <a:avLst/>
          </a:prstGeom>
          <a:noFill/>
          <a:ln/>
        </p:spPr>
        <p:txBody>
          <a:bodyPr wrap="square" lIns="0" tIns="0" rIns="0" bIns="0" rtlCol="0" anchor="ctr"/>
          <a:lstStyle/>
          <a:p>
            <a:pPr indent="0" marL="0">
              <a:lnSpc>
                <a:spcPct val="118000"/>
              </a:lnSpc>
              <a:buNone/>
            </a:pPr>
            <a:r>
              <a:rPr lang="en-US" sz="1120" dirty="0">
                <a:solidFill>
                  <a:srgbClr val="48535F"/>
                </a:solidFill>
                <a:latin typeface="Calibri" pitchFamily="34" charset="0"/>
                <a:ea typeface="Calibri" pitchFamily="34" charset="-122"/>
                <a:cs typeface="Calibri" pitchFamily="34" charset="-120"/>
              </a:rPr>
              <a:t>Every public crack dataset is road and concrete. The target is stone masonry, where mortar joints look exactly like cracks and the model marks them. Measured: IoU falls from 0.651 on DeepCrack to 0.455 on 240 masonry images (precision 0.545).</a:t>
            </a:r>
            <a:endParaRPr lang="en-US" sz="1120" dirty="0"/>
          </a:p>
        </p:txBody>
      </p:sp>
      <p:sp>
        <p:nvSpPr>
          <p:cNvPr id="9" name="Shape 7"/>
          <p:cNvSpPr/>
          <p:nvPr/>
        </p:nvSpPr>
        <p:spPr>
          <a:xfrm>
            <a:off x="6099048" y="2103120"/>
            <a:ext cx="5221224" cy="1645920"/>
          </a:xfrm>
          <a:prstGeom prst="roundRect">
            <a:avLst>
              <a:gd name="adj" fmla="val 3333"/>
            </a:avLst>
          </a:prstGeom>
          <a:solidFill>
            <a:srgbClr val="FFFFFF"/>
          </a:solidFill>
          <a:ln w="9525">
            <a:solidFill>
              <a:srgbClr val="DDD8D2"/>
            </a:solidFill>
            <a:prstDash val="solid"/>
          </a:ln>
        </p:spPr>
      </p:sp>
      <p:sp>
        <p:nvSpPr>
          <p:cNvPr id="10" name="Text 8"/>
          <p:cNvSpPr txBox="1"/>
          <p:nvPr/>
        </p:nvSpPr>
        <p:spPr>
          <a:xfrm>
            <a:off x="6355080" y="2267712"/>
            <a:ext cx="4663440" cy="256032"/>
          </a:xfrm>
          <a:prstGeom prst="rect">
            <a:avLst/>
          </a:prstGeom>
          <a:noFill/>
          <a:ln/>
        </p:spPr>
        <p:txBody>
          <a:bodyPr wrap="square" lIns="0" tIns="0" rIns="0" bIns="0" rtlCol="0" anchor="ctr"/>
          <a:lstStyle/>
          <a:p>
            <a:pPr indent="0" marL="0">
              <a:lnSpc>
                <a:spcPct val="118000"/>
              </a:lnSpc>
              <a:buNone/>
            </a:pPr>
            <a:r>
              <a:rPr lang="en-US" sz="1300" b="1" dirty="0">
                <a:solidFill>
                  <a:srgbClr val="1C2530"/>
                </a:solidFill>
                <a:latin typeface="Georgia" pitchFamily="34" charset="0"/>
                <a:ea typeface="Georgia" pitchFamily="34" charset="-122"/>
                <a:cs typeface="Georgia" pitchFamily="34" charset="-120"/>
              </a:rPr>
              <a:t>Quantisation</a:t>
            </a:r>
            <a:endParaRPr lang="en-US" sz="1300" dirty="0"/>
          </a:p>
        </p:txBody>
      </p:sp>
      <p:sp>
        <p:nvSpPr>
          <p:cNvPr id="11" name="Text 9"/>
          <p:cNvSpPr txBox="1"/>
          <p:nvPr/>
        </p:nvSpPr>
        <p:spPr>
          <a:xfrm>
            <a:off x="6355080" y="2633472"/>
            <a:ext cx="4709160" cy="1005840"/>
          </a:xfrm>
          <a:prstGeom prst="rect">
            <a:avLst/>
          </a:prstGeom>
          <a:noFill/>
          <a:ln/>
        </p:spPr>
        <p:txBody>
          <a:bodyPr wrap="square" lIns="0" tIns="0" rIns="0" bIns="0" rtlCol="0" anchor="ctr"/>
          <a:lstStyle/>
          <a:p>
            <a:pPr indent="0" marL="0">
              <a:lnSpc>
                <a:spcPct val="118000"/>
              </a:lnSpc>
              <a:buNone/>
            </a:pPr>
            <a:r>
              <a:rPr lang="en-US" sz="1120" dirty="0">
                <a:solidFill>
                  <a:srgbClr val="48535F"/>
                </a:solidFill>
                <a:latin typeface="Calibri" pitchFamily="34" charset="0"/>
                <a:ea typeface="Calibri" pitchFamily="34" charset="-122"/>
                <a:cs typeface="Calibri" pitchFamily="34" charset="-120"/>
              </a:rPr>
              <a:t>Width carries ±1 px of error from the distance transform. Against ground truth, mean width is within 1 px on 51% of images, and cracks under 3 px read about 1 px too wide. Sub-pixel fitting is out of scope.</a:t>
            </a:r>
            <a:endParaRPr lang="en-US" sz="1120" dirty="0"/>
          </a:p>
        </p:txBody>
      </p:sp>
      <p:sp>
        <p:nvSpPr>
          <p:cNvPr id="12" name="Shape 10"/>
          <p:cNvSpPr/>
          <p:nvPr/>
        </p:nvSpPr>
        <p:spPr>
          <a:xfrm>
            <a:off x="566928" y="3931920"/>
            <a:ext cx="5221224" cy="1645920"/>
          </a:xfrm>
          <a:prstGeom prst="roundRect">
            <a:avLst>
              <a:gd name="adj" fmla="val 3333"/>
            </a:avLst>
          </a:prstGeom>
          <a:solidFill>
            <a:srgbClr val="FFFFFF"/>
          </a:solidFill>
          <a:ln w="9525">
            <a:solidFill>
              <a:srgbClr val="DDD8D2"/>
            </a:solidFill>
            <a:prstDash val="solid"/>
          </a:ln>
        </p:spPr>
      </p:sp>
      <p:sp>
        <p:nvSpPr>
          <p:cNvPr id="13" name="Text 11"/>
          <p:cNvSpPr txBox="1"/>
          <p:nvPr/>
        </p:nvSpPr>
        <p:spPr>
          <a:xfrm>
            <a:off x="822960" y="4096512"/>
            <a:ext cx="4663440" cy="256032"/>
          </a:xfrm>
          <a:prstGeom prst="rect">
            <a:avLst/>
          </a:prstGeom>
          <a:noFill/>
          <a:ln/>
        </p:spPr>
        <p:txBody>
          <a:bodyPr wrap="square" lIns="0" tIns="0" rIns="0" bIns="0" rtlCol="0" anchor="ctr"/>
          <a:lstStyle/>
          <a:p>
            <a:pPr indent="0" marL="0">
              <a:lnSpc>
                <a:spcPct val="118000"/>
              </a:lnSpc>
              <a:buNone/>
            </a:pPr>
            <a:r>
              <a:rPr lang="en-US" sz="1300" b="1" dirty="0">
                <a:solidFill>
                  <a:srgbClr val="1C2530"/>
                </a:solidFill>
                <a:latin typeface="Georgia" pitchFamily="34" charset="0"/>
                <a:ea typeface="Georgia" pitchFamily="34" charset="-122"/>
                <a:cs typeface="Georgia" pitchFamily="34" charset="-120"/>
              </a:rPr>
              <a:t>Scale dependency</a:t>
            </a:r>
            <a:endParaRPr lang="en-US" sz="1300" dirty="0"/>
          </a:p>
        </p:txBody>
      </p:sp>
      <p:sp>
        <p:nvSpPr>
          <p:cNvPr id="14" name="Text 12"/>
          <p:cNvSpPr txBox="1"/>
          <p:nvPr/>
        </p:nvSpPr>
        <p:spPr>
          <a:xfrm>
            <a:off x="822960" y="4462272"/>
            <a:ext cx="4709160" cy="1005840"/>
          </a:xfrm>
          <a:prstGeom prst="rect">
            <a:avLst/>
          </a:prstGeom>
          <a:noFill/>
          <a:ln/>
        </p:spPr>
        <p:txBody>
          <a:bodyPr wrap="square" lIns="0" tIns="0" rIns="0" bIns="0" rtlCol="0" anchor="ctr"/>
          <a:lstStyle/>
          <a:p>
            <a:pPr indent="0" marL="0">
              <a:lnSpc>
                <a:spcPct val="118000"/>
              </a:lnSpc>
              <a:buNone/>
            </a:pPr>
            <a:r>
              <a:rPr lang="en-US" sz="1120" dirty="0">
                <a:solidFill>
                  <a:srgbClr val="48535F"/>
                </a:solidFill>
                <a:latin typeface="Calibri" pitchFamily="34" charset="0"/>
                <a:ea typeface="Calibri" pitchFamily="34" charset="-122"/>
                <a:cs typeface="Calibri" pitchFamily="34" charset="-120"/>
              </a:rPr>
              <a:t>Without a surveyed reference in the photograph, every output is in pixels and is not comparable between captures. The model cannot supply this; the capture protocol must.</a:t>
            </a:r>
            <a:endParaRPr lang="en-US" sz="1120" dirty="0"/>
          </a:p>
        </p:txBody>
      </p:sp>
      <p:sp>
        <p:nvSpPr>
          <p:cNvPr id="15" name="Shape 13"/>
          <p:cNvSpPr/>
          <p:nvPr/>
        </p:nvSpPr>
        <p:spPr>
          <a:xfrm>
            <a:off x="6099048" y="3931920"/>
            <a:ext cx="5221224" cy="1645920"/>
          </a:xfrm>
          <a:prstGeom prst="roundRect">
            <a:avLst>
              <a:gd name="adj" fmla="val 3333"/>
            </a:avLst>
          </a:prstGeom>
          <a:solidFill>
            <a:srgbClr val="FFFFFF"/>
          </a:solidFill>
          <a:ln w="9525">
            <a:solidFill>
              <a:srgbClr val="DDD8D2"/>
            </a:solidFill>
            <a:prstDash val="solid"/>
          </a:ln>
        </p:spPr>
      </p:sp>
      <p:sp>
        <p:nvSpPr>
          <p:cNvPr id="16" name="Text 14"/>
          <p:cNvSpPr txBox="1"/>
          <p:nvPr/>
        </p:nvSpPr>
        <p:spPr>
          <a:xfrm>
            <a:off x="6355080" y="4096512"/>
            <a:ext cx="4663440" cy="256032"/>
          </a:xfrm>
          <a:prstGeom prst="rect">
            <a:avLst/>
          </a:prstGeom>
          <a:noFill/>
          <a:ln/>
        </p:spPr>
        <p:txBody>
          <a:bodyPr wrap="square" lIns="0" tIns="0" rIns="0" bIns="0" rtlCol="0" anchor="ctr"/>
          <a:lstStyle/>
          <a:p>
            <a:pPr indent="0" marL="0">
              <a:lnSpc>
                <a:spcPct val="118000"/>
              </a:lnSpc>
              <a:buNone/>
            </a:pPr>
            <a:r>
              <a:rPr lang="en-US" sz="1300" b="1" dirty="0">
                <a:solidFill>
                  <a:srgbClr val="1C2530"/>
                </a:solidFill>
                <a:latin typeface="Georgia" pitchFamily="34" charset="0"/>
                <a:ea typeface="Georgia" pitchFamily="34" charset="-122"/>
                <a:cs typeface="Georgia" pitchFamily="34" charset="-120"/>
              </a:rPr>
              <a:t>Alignment assumption</a:t>
            </a:r>
            <a:endParaRPr lang="en-US" sz="1300" dirty="0"/>
          </a:p>
        </p:txBody>
      </p:sp>
      <p:sp>
        <p:nvSpPr>
          <p:cNvPr id="17" name="Text 15"/>
          <p:cNvSpPr txBox="1"/>
          <p:nvPr/>
        </p:nvSpPr>
        <p:spPr>
          <a:xfrm>
            <a:off x="6355080" y="4462272"/>
            <a:ext cx="4709160" cy="1005840"/>
          </a:xfrm>
          <a:prstGeom prst="rect">
            <a:avLst/>
          </a:prstGeom>
          <a:noFill/>
          <a:ln/>
        </p:spPr>
        <p:txBody>
          <a:bodyPr wrap="square" lIns="0" tIns="0" rIns="0" bIns="0" rtlCol="0" anchor="ctr"/>
          <a:lstStyle/>
          <a:p>
            <a:pPr indent="0" marL="0">
              <a:lnSpc>
                <a:spcPct val="118000"/>
              </a:lnSpc>
              <a:buNone/>
            </a:pPr>
            <a:r>
              <a:rPr lang="en-US" sz="1120" dirty="0">
                <a:solidFill>
                  <a:srgbClr val="48535F"/>
                </a:solidFill>
                <a:latin typeface="Calibri" pitchFamily="34" charset="0"/>
                <a:ea typeface="Calibri" pitchFamily="34" charset="-122"/>
                <a:cs typeface="Calibri" pitchFamily="34" charset="-120"/>
              </a:rPr>
              <a:t>Comparing two captures assumes they are spatially registered. Two hand-held photographs from different positions produce meaningless deltas.</a:t>
            </a:r>
            <a:endParaRPr lang="en-US" sz="1120" dirty="0"/>
          </a:p>
        </p:txBody>
      </p:sp>
      <p:sp>
        <p:nvSpPr>
          <p:cNvPr id="18" name="Text 16"/>
          <p:cNvSpPr txBox="1"/>
          <p:nvPr/>
        </p:nvSpPr>
        <p:spPr>
          <a:xfrm>
            <a:off x="566928" y="6419088"/>
            <a:ext cx="7315200" cy="201168"/>
          </a:xfrm>
          <a:prstGeom prst="rect">
            <a:avLst/>
          </a:prstGeom>
          <a:noFill/>
          <a:ln/>
        </p:spPr>
        <p:txBody>
          <a:bodyPr wrap="square" lIns="0" tIns="0" rIns="0" bIns="0" rtlCol="0" anchor="ctr"/>
          <a:lstStyle/>
          <a:p>
            <a:pPr indent="0" marL="0">
              <a:buNone/>
            </a:pPr>
            <a:r>
              <a:rPr lang="en-US" sz="900" dirty="0">
                <a:solidFill>
                  <a:srgbClr val="8A949E"/>
                </a:solidFill>
                <a:latin typeface="Calibri" pitchFamily="34" charset="0"/>
                <a:ea typeface="Calibri" pitchFamily="34" charset="-122"/>
                <a:cs typeface="Calibri" pitchFamily="34" charset="-120"/>
              </a:rPr>
              <a:t>Crack Segmentation for Structural Monitoring</a:t>
            </a:r>
            <a:endParaRPr lang="en-US" sz="900" dirty="0"/>
          </a:p>
        </p:txBody>
      </p:sp>
      <p:sp>
        <p:nvSpPr>
          <p:cNvPr id="19" name="Text 17"/>
          <p:cNvSpPr txBox="1"/>
          <p:nvPr/>
        </p:nvSpPr>
        <p:spPr>
          <a:xfrm>
            <a:off x="11064240" y="6419088"/>
            <a:ext cx="548640" cy="201168"/>
          </a:xfrm>
          <a:prstGeom prst="rect">
            <a:avLst/>
          </a:prstGeom>
          <a:noFill/>
          <a:ln/>
        </p:spPr>
        <p:txBody>
          <a:bodyPr wrap="square" lIns="0" tIns="0" rIns="0" bIns="0" rtlCol="0" anchor="ctr"/>
          <a:lstStyle/>
          <a:p>
            <a:pPr algn="r" indent="0" marL="0">
              <a:buNone/>
            </a:pPr>
            <a:r>
              <a:rPr lang="en-US" sz="900" dirty="0">
                <a:solidFill>
                  <a:srgbClr val="8A949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BFAF8"/>
        </a:solidFill>
      </p:bgPr>
    </p:bg>
    <p:spTree>
      <p:nvGrpSpPr>
        <p:cNvPr id="1" name=""/>
        <p:cNvGrpSpPr/>
        <p:nvPr/>
      </p:nvGrpSpPr>
      <p:grpSpPr>
        <a:xfrm>
          <a:off x="0" y="0"/>
          <a:ext cx="0" cy="0"/>
          <a:chOff x="0" y="0"/>
          <a:chExt cx="0" cy="0"/>
        </a:xfrm>
      </p:grpSpPr>
      <p:sp>
        <p:nvSpPr>
          <p:cNvPr id="2" name="Text 0"/>
          <p:cNvSpPr txBox="1"/>
          <p:nvPr/>
        </p:nvSpPr>
        <p:spPr>
          <a:xfrm>
            <a:off x="566928" y="384048"/>
            <a:ext cx="11064240" cy="219456"/>
          </a:xfrm>
          <a:prstGeom prst="rect">
            <a:avLst/>
          </a:prstGeom>
          <a:noFill/>
          <a:ln/>
        </p:spPr>
        <p:txBody>
          <a:bodyPr wrap="square" lIns="0" tIns="0" rIns="0" bIns="0" rtlCol="0" anchor="ctr"/>
          <a:lstStyle/>
          <a:p>
            <a:pPr indent="0" marL="0">
              <a:buNone/>
            </a:pPr>
            <a:r>
              <a:rPr lang="en-US" sz="1050" b="1" spc="220" kern="0" dirty="0">
                <a:solidFill>
                  <a:srgbClr val="0F6E63"/>
                </a:solidFill>
                <a:latin typeface="Calibri" pitchFamily="34" charset="0"/>
                <a:ea typeface="Calibri" pitchFamily="34" charset="-122"/>
                <a:cs typeface="Calibri" pitchFamily="34" charset="-120"/>
              </a:rPr>
              <a:t>ENGINEERING</a:t>
            </a:r>
            <a:endParaRPr lang="en-US" sz="1050" dirty="0"/>
          </a:p>
        </p:txBody>
      </p:sp>
      <p:sp>
        <p:nvSpPr>
          <p:cNvPr id="3" name="Text 1"/>
          <p:cNvSpPr txBox="1"/>
          <p:nvPr/>
        </p:nvSpPr>
        <p:spPr>
          <a:xfrm>
            <a:off x="566928" y="640080"/>
            <a:ext cx="11064240" cy="475488"/>
          </a:xfrm>
          <a:prstGeom prst="rect">
            <a:avLst/>
          </a:prstGeom>
          <a:noFill/>
          <a:ln/>
        </p:spPr>
        <p:txBody>
          <a:bodyPr wrap="square" lIns="0" tIns="0" rIns="0" bIns="0" rtlCol="0" anchor="ctr"/>
          <a:lstStyle/>
          <a:p>
            <a:pPr indent="0" marL="0">
              <a:buNone/>
            </a:pPr>
            <a:r>
              <a:rPr lang="en-US" sz="2600" dirty="0">
                <a:solidFill>
                  <a:srgbClr val="1C2530"/>
                </a:solidFill>
                <a:latin typeface="Georgia" pitchFamily="34" charset="0"/>
                <a:ea typeface="Georgia" pitchFamily="34" charset="-122"/>
                <a:cs typeface="Georgia" pitchFamily="34" charset="-120"/>
              </a:rPr>
              <a:t>Three workstreams, one contract</a:t>
            </a:r>
            <a:endParaRPr lang="en-US" sz="2600" dirty="0"/>
          </a:p>
        </p:txBody>
      </p:sp>
      <p:sp>
        <p:nvSpPr>
          <p:cNvPr id="4" name="Shape 2"/>
          <p:cNvSpPr/>
          <p:nvPr/>
        </p:nvSpPr>
        <p:spPr>
          <a:xfrm>
            <a:off x="566928" y="1207008"/>
            <a:ext cx="777240" cy="32004"/>
          </a:xfrm>
          <a:prstGeom prst="rect">
            <a:avLst/>
          </a:prstGeom>
          <a:solidFill>
            <a:srgbClr val="0F6E63"/>
          </a:solidFill>
          <a:ln w="12700">
            <a:solidFill>
              <a:srgbClr val="0F6E63"/>
            </a:solidFill>
            <a:prstDash val="solid"/>
          </a:ln>
        </p:spPr>
      </p:sp>
      <p:sp>
        <p:nvSpPr>
          <p:cNvPr id="5" name="Text 3"/>
          <p:cNvSpPr txBox="1"/>
          <p:nvPr/>
        </p:nvSpPr>
        <p:spPr>
          <a:xfrm>
            <a:off x="566928" y="1481328"/>
            <a:ext cx="10607040" cy="365760"/>
          </a:xfrm>
          <a:prstGeom prst="rect">
            <a:avLst/>
          </a:prstGeom>
          <a:noFill/>
          <a:ln/>
        </p:spPr>
        <p:txBody>
          <a:bodyPr wrap="square" lIns="0" tIns="0" rIns="0" bIns="0" rtlCol="0" anchor="ctr"/>
          <a:lstStyle/>
          <a:p>
            <a:pPr indent="0" marL="0">
              <a:lnSpc>
                <a:spcPct val="118000"/>
              </a:lnSpc>
              <a:buNone/>
            </a:pPr>
            <a:r>
              <a:rPr lang="en-US" sz="1300" dirty="0">
                <a:solidFill>
                  <a:srgbClr val="48535F"/>
                </a:solidFill>
                <a:latin typeface="Calibri" pitchFamily="34" charset="0"/>
                <a:ea typeface="Calibri" pitchFamily="34" charset="-122"/>
                <a:cs typeface="Calibri" pitchFamily="34" charset="-120"/>
              </a:rPr>
              <a:t>The project is split along two interfaces that are written down and machine-checked, so three people can build in parallel without an integration day spent on shape mismatches.</a:t>
            </a:r>
            <a:endParaRPr lang="en-US" sz="1300" dirty="0"/>
          </a:p>
        </p:txBody>
      </p:sp>
      <p:sp>
        <p:nvSpPr>
          <p:cNvPr id="6" name="Shape 4"/>
          <p:cNvSpPr/>
          <p:nvPr/>
        </p:nvSpPr>
        <p:spPr>
          <a:xfrm>
            <a:off x="566928" y="2084832"/>
            <a:ext cx="3401568" cy="2240280"/>
          </a:xfrm>
          <a:prstGeom prst="roundRect">
            <a:avLst>
              <a:gd name="adj" fmla="val 2449"/>
            </a:avLst>
          </a:prstGeom>
          <a:solidFill>
            <a:srgbClr val="FFFFFF"/>
          </a:solidFill>
          <a:ln w="9525">
            <a:solidFill>
              <a:srgbClr val="DDD8D2"/>
            </a:solidFill>
            <a:prstDash val="solid"/>
          </a:ln>
        </p:spPr>
      </p:sp>
      <p:sp>
        <p:nvSpPr>
          <p:cNvPr id="7" name="Shape 5"/>
          <p:cNvSpPr/>
          <p:nvPr/>
        </p:nvSpPr>
        <p:spPr>
          <a:xfrm>
            <a:off x="822960" y="2231136"/>
            <a:ext cx="384048" cy="384048"/>
          </a:xfrm>
          <a:prstGeom prst="ellipse">
            <a:avLst/>
          </a:prstGeom>
          <a:solidFill>
            <a:srgbClr val="0F6E63"/>
          </a:solidFill>
          <a:ln w="12700">
            <a:solidFill>
              <a:srgbClr val="0F6E63"/>
            </a:solidFill>
            <a:prstDash val="solid"/>
          </a:ln>
        </p:spPr>
      </p:sp>
      <p:sp>
        <p:nvSpPr>
          <p:cNvPr id="8" name="Text 6"/>
          <p:cNvSpPr txBox="1"/>
          <p:nvPr/>
        </p:nvSpPr>
        <p:spPr>
          <a:xfrm>
            <a:off x="822960" y="2231136"/>
            <a:ext cx="384048" cy="384048"/>
          </a:xfrm>
          <a:prstGeom prst="rect">
            <a:avLst/>
          </a:prstGeom>
          <a:noFill/>
          <a:ln/>
        </p:spPr>
        <p:txBody>
          <a:bodyPr wrap="square" lIns="0" tIns="0" rIns="0" bIns="0" rtlCol="0" anchor="ctr"/>
          <a:lstStyle/>
          <a:p>
            <a:pPr algn="ctr" indent="0" marL="0">
              <a:lnSpc>
                <a:spcPct val="118000"/>
              </a:lnSpc>
              <a:buNone/>
            </a:pPr>
            <a:r>
              <a:rPr lang="en-US" sz="1300" b="1" dirty="0">
                <a:solidFill>
                  <a:srgbClr val="FFFFFF"/>
                </a:solidFill>
                <a:latin typeface="Georgia" pitchFamily="34" charset="0"/>
                <a:ea typeface="Georgia" pitchFamily="34" charset="-122"/>
                <a:cs typeface="Georgia" pitchFamily="34" charset="-120"/>
              </a:rPr>
              <a:t>A</a:t>
            </a:r>
            <a:endParaRPr lang="en-US" sz="1300" dirty="0"/>
          </a:p>
        </p:txBody>
      </p:sp>
      <p:sp>
        <p:nvSpPr>
          <p:cNvPr id="9" name="Text 7"/>
          <p:cNvSpPr txBox="1"/>
          <p:nvPr/>
        </p:nvSpPr>
        <p:spPr>
          <a:xfrm>
            <a:off x="1335024" y="2286000"/>
            <a:ext cx="2377440" cy="274320"/>
          </a:xfrm>
          <a:prstGeom prst="rect">
            <a:avLst/>
          </a:prstGeom>
          <a:noFill/>
          <a:ln/>
        </p:spPr>
        <p:txBody>
          <a:bodyPr wrap="square" lIns="0" tIns="0" rIns="0" bIns="0" rtlCol="0" anchor="ctr"/>
          <a:lstStyle/>
          <a:p>
            <a:pPr indent="0" marL="0">
              <a:lnSpc>
                <a:spcPct val="118000"/>
              </a:lnSpc>
              <a:buNone/>
            </a:pPr>
            <a:r>
              <a:rPr lang="en-US" sz="1400" b="1" dirty="0">
                <a:solidFill>
                  <a:srgbClr val="1C2530"/>
                </a:solidFill>
                <a:latin typeface="Georgia" pitchFamily="34" charset="0"/>
                <a:ea typeface="Georgia" pitchFamily="34" charset="-122"/>
                <a:cs typeface="Georgia" pitchFamily="34" charset="-120"/>
              </a:rPr>
              <a:t>Data</a:t>
            </a:r>
            <a:endParaRPr lang="en-US" sz="1400" dirty="0"/>
          </a:p>
        </p:txBody>
      </p:sp>
      <p:sp>
        <p:nvSpPr>
          <p:cNvPr id="10" name="Text 8"/>
          <p:cNvSpPr txBox="1"/>
          <p:nvPr/>
        </p:nvSpPr>
        <p:spPr>
          <a:xfrm>
            <a:off x="822960" y="2743200"/>
            <a:ext cx="2889504" cy="292608"/>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dataset, augmentation, class balance</a:t>
            </a:r>
            <a:endParaRPr lang="en-US" sz="1100" dirty="0"/>
          </a:p>
        </p:txBody>
      </p:sp>
      <p:sp>
        <p:nvSpPr>
          <p:cNvPr id="11" name="Shape 9"/>
          <p:cNvSpPr/>
          <p:nvPr/>
        </p:nvSpPr>
        <p:spPr>
          <a:xfrm>
            <a:off x="822960" y="3127248"/>
            <a:ext cx="2889504" cy="18288"/>
          </a:xfrm>
          <a:prstGeom prst="rect">
            <a:avLst/>
          </a:prstGeom>
          <a:solidFill>
            <a:srgbClr val="DDD8D2"/>
          </a:solidFill>
          <a:ln w="12700">
            <a:solidFill>
              <a:srgbClr val="DDD8D2"/>
            </a:solidFill>
            <a:prstDash val="solid"/>
          </a:ln>
        </p:spPr>
      </p:sp>
      <p:sp>
        <p:nvSpPr>
          <p:cNvPr id="12" name="Text 10"/>
          <p:cNvSpPr txBox="1"/>
          <p:nvPr/>
        </p:nvSpPr>
        <p:spPr>
          <a:xfrm>
            <a:off x="822960" y="3255264"/>
            <a:ext cx="2889504" cy="548640"/>
          </a:xfrm>
          <a:prstGeom prst="rect">
            <a:avLst/>
          </a:prstGeom>
          <a:noFill/>
          <a:ln/>
        </p:spPr>
        <p:txBody>
          <a:bodyPr wrap="square" lIns="0" tIns="0" rIns="0" bIns="0" rtlCol="0" anchor="ctr"/>
          <a:lstStyle/>
          <a:p>
            <a:pPr indent="0" marL="0">
              <a:lnSpc>
                <a:spcPct val="118000"/>
              </a:lnSpc>
              <a:buNone/>
            </a:pPr>
            <a:r>
              <a:rPr lang="en-US" sz="950" dirty="0">
                <a:solidFill>
                  <a:srgbClr val="0F6E63"/>
                </a:solidFill>
                <a:latin typeface="Consolas" pitchFamily="34" charset="0"/>
                <a:ea typeface="Consolas" pitchFamily="34" charset="-122"/>
                <a:cs typeface="Consolas" pitchFamily="34" charset="-120"/>
              </a:rPr>
              <a:t>batches:  float32 (N,3,H,W) + binary (N,1,H,W)</a:t>
            </a:r>
            <a:endParaRPr lang="en-US" sz="950" dirty="0"/>
          </a:p>
        </p:txBody>
      </p:sp>
      <p:sp>
        <p:nvSpPr>
          <p:cNvPr id="13" name="Text 11"/>
          <p:cNvSpPr txBox="1"/>
          <p:nvPr/>
        </p:nvSpPr>
        <p:spPr>
          <a:xfrm>
            <a:off x="4005072" y="2834640"/>
            <a:ext cx="237744" cy="274320"/>
          </a:xfrm>
          <a:prstGeom prst="rect">
            <a:avLst/>
          </a:prstGeom>
          <a:noFill/>
          <a:ln/>
        </p:spPr>
        <p:txBody>
          <a:bodyPr wrap="square" lIns="0" tIns="0" rIns="0" bIns="0" rtlCol="0" anchor="ctr"/>
          <a:lstStyle/>
          <a:p>
            <a:pPr algn="ctr" indent="0" marL="0">
              <a:lnSpc>
                <a:spcPct val="118000"/>
              </a:lnSpc>
              <a:buNone/>
            </a:pPr>
            <a:r>
              <a:rPr lang="en-US" sz="1600" dirty="0">
                <a:solidFill>
                  <a:srgbClr val="8A949E"/>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4242816" y="2084832"/>
            <a:ext cx="3401568" cy="2240280"/>
          </a:xfrm>
          <a:prstGeom prst="roundRect">
            <a:avLst>
              <a:gd name="adj" fmla="val 2449"/>
            </a:avLst>
          </a:prstGeom>
          <a:solidFill>
            <a:srgbClr val="FFFFFF"/>
          </a:solidFill>
          <a:ln w="9525">
            <a:solidFill>
              <a:srgbClr val="DDD8D2"/>
            </a:solidFill>
            <a:prstDash val="solid"/>
          </a:ln>
        </p:spPr>
      </p:sp>
      <p:sp>
        <p:nvSpPr>
          <p:cNvPr id="15" name="Shape 13"/>
          <p:cNvSpPr/>
          <p:nvPr/>
        </p:nvSpPr>
        <p:spPr>
          <a:xfrm>
            <a:off x="4498848" y="2231136"/>
            <a:ext cx="384048" cy="384048"/>
          </a:xfrm>
          <a:prstGeom prst="ellipse">
            <a:avLst/>
          </a:prstGeom>
          <a:solidFill>
            <a:srgbClr val="0F6E63"/>
          </a:solidFill>
          <a:ln w="12700">
            <a:solidFill>
              <a:srgbClr val="0F6E63"/>
            </a:solidFill>
            <a:prstDash val="solid"/>
          </a:ln>
        </p:spPr>
      </p:sp>
      <p:sp>
        <p:nvSpPr>
          <p:cNvPr id="16" name="Text 14"/>
          <p:cNvSpPr txBox="1"/>
          <p:nvPr/>
        </p:nvSpPr>
        <p:spPr>
          <a:xfrm>
            <a:off x="4498848" y="2231136"/>
            <a:ext cx="384048" cy="384048"/>
          </a:xfrm>
          <a:prstGeom prst="rect">
            <a:avLst/>
          </a:prstGeom>
          <a:noFill/>
          <a:ln/>
        </p:spPr>
        <p:txBody>
          <a:bodyPr wrap="square" lIns="0" tIns="0" rIns="0" bIns="0" rtlCol="0" anchor="ctr"/>
          <a:lstStyle/>
          <a:p>
            <a:pPr algn="ctr" indent="0" marL="0">
              <a:lnSpc>
                <a:spcPct val="118000"/>
              </a:lnSpc>
              <a:buNone/>
            </a:pPr>
            <a:r>
              <a:rPr lang="en-US" sz="1300" b="1" dirty="0">
                <a:solidFill>
                  <a:srgbClr val="FFFFFF"/>
                </a:solidFill>
                <a:latin typeface="Georgia" pitchFamily="34" charset="0"/>
                <a:ea typeface="Georgia" pitchFamily="34" charset="-122"/>
                <a:cs typeface="Georgia" pitchFamily="34" charset="-120"/>
              </a:rPr>
              <a:t>B</a:t>
            </a:r>
            <a:endParaRPr lang="en-US" sz="1300" dirty="0"/>
          </a:p>
        </p:txBody>
      </p:sp>
      <p:sp>
        <p:nvSpPr>
          <p:cNvPr id="17" name="Text 15"/>
          <p:cNvSpPr txBox="1"/>
          <p:nvPr/>
        </p:nvSpPr>
        <p:spPr>
          <a:xfrm>
            <a:off x="5010912" y="2286000"/>
            <a:ext cx="2377440" cy="274320"/>
          </a:xfrm>
          <a:prstGeom prst="rect">
            <a:avLst/>
          </a:prstGeom>
          <a:noFill/>
          <a:ln/>
        </p:spPr>
        <p:txBody>
          <a:bodyPr wrap="square" lIns="0" tIns="0" rIns="0" bIns="0" rtlCol="0" anchor="ctr"/>
          <a:lstStyle/>
          <a:p>
            <a:pPr indent="0" marL="0">
              <a:lnSpc>
                <a:spcPct val="118000"/>
              </a:lnSpc>
              <a:buNone/>
            </a:pPr>
            <a:r>
              <a:rPr lang="en-US" sz="1400" b="1" dirty="0">
                <a:solidFill>
                  <a:srgbClr val="1C2530"/>
                </a:solidFill>
                <a:latin typeface="Georgia" pitchFamily="34" charset="0"/>
                <a:ea typeface="Georgia" pitchFamily="34" charset="-122"/>
                <a:cs typeface="Georgia" pitchFamily="34" charset="-120"/>
              </a:rPr>
              <a:t>Model</a:t>
            </a:r>
            <a:endParaRPr lang="en-US" sz="1400" dirty="0"/>
          </a:p>
        </p:txBody>
      </p:sp>
      <p:sp>
        <p:nvSpPr>
          <p:cNvPr id="18" name="Text 16"/>
          <p:cNvSpPr txBox="1"/>
          <p:nvPr/>
        </p:nvSpPr>
        <p:spPr>
          <a:xfrm>
            <a:off x="4498848" y="2743200"/>
            <a:ext cx="2889504" cy="292608"/>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U-Net, losses, training loop</a:t>
            </a:r>
            <a:endParaRPr lang="en-US" sz="1100" dirty="0"/>
          </a:p>
        </p:txBody>
      </p:sp>
      <p:sp>
        <p:nvSpPr>
          <p:cNvPr id="19" name="Shape 17"/>
          <p:cNvSpPr/>
          <p:nvPr/>
        </p:nvSpPr>
        <p:spPr>
          <a:xfrm>
            <a:off x="4498848" y="3127248"/>
            <a:ext cx="2889504" cy="18288"/>
          </a:xfrm>
          <a:prstGeom prst="rect">
            <a:avLst/>
          </a:prstGeom>
          <a:solidFill>
            <a:srgbClr val="DDD8D2"/>
          </a:solidFill>
          <a:ln w="12700">
            <a:solidFill>
              <a:srgbClr val="DDD8D2"/>
            </a:solidFill>
            <a:prstDash val="solid"/>
          </a:ln>
        </p:spPr>
      </p:sp>
      <p:sp>
        <p:nvSpPr>
          <p:cNvPr id="20" name="Text 18"/>
          <p:cNvSpPr txBox="1"/>
          <p:nvPr/>
        </p:nvSpPr>
        <p:spPr>
          <a:xfrm>
            <a:off x="4498848" y="3255264"/>
            <a:ext cx="2889504" cy="548640"/>
          </a:xfrm>
          <a:prstGeom prst="rect">
            <a:avLst/>
          </a:prstGeom>
          <a:noFill/>
          <a:ln/>
        </p:spPr>
        <p:txBody>
          <a:bodyPr wrap="square" lIns="0" tIns="0" rIns="0" bIns="0" rtlCol="0" anchor="ctr"/>
          <a:lstStyle/>
          <a:p>
            <a:pPr indent="0" marL="0">
              <a:lnSpc>
                <a:spcPct val="118000"/>
              </a:lnSpc>
              <a:buNone/>
            </a:pPr>
            <a:r>
              <a:rPr lang="en-US" sz="950" dirty="0">
                <a:solidFill>
                  <a:srgbClr val="0F6E63"/>
                </a:solidFill>
                <a:latin typeface="Consolas" pitchFamily="34" charset="0"/>
                <a:ea typeface="Consolas" pitchFamily="34" charset="-122"/>
                <a:cs typeface="Consolas" pitchFamily="34" charset="-120"/>
              </a:rPr>
              <a:t>logits:  raw (N,1,H,W), never probabilities</a:t>
            </a:r>
            <a:endParaRPr lang="en-US" sz="950" dirty="0"/>
          </a:p>
        </p:txBody>
      </p:sp>
      <p:sp>
        <p:nvSpPr>
          <p:cNvPr id="21" name="Text 19"/>
          <p:cNvSpPr txBox="1"/>
          <p:nvPr/>
        </p:nvSpPr>
        <p:spPr>
          <a:xfrm>
            <a:off x="7680960" y="2834640"/>
            <a:ext cx="237744" cy="274320"/>
          </a:xfrm>
          <a:prstGeom prst="rect">
            <a:avLst/>
          </a:prstGeom>
          <a:noFill/>
          <a:ln/>
        </p:spPr>
        <p:txBody>
          <a:bodyPr wrap="square" lIns="0" tIns="0" rIns="0" bIns="0" rtlCol="0" anchor="ctr"/>
          <a:lstStyle/>
          <a:p>
            <a:pPr algn="ctr" indent="0" marL="0">
              <a:lnSpc>
                <a:spcPct val="118000"/>
              </a:lnSpc>
              <a:buNone/>
            </a:pPr>
            <a:r>
              <a:rPr lang="en-US" sz="1600" dirty="0">
                <a:solidFill>
                  <a:srgbClr val="8A949E"/>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7918704" y="2084832"/>
            <a:ext cx="3401568" cy="2240280"/>
          </a:xfrm>
          <a:prstGeom prst="roundRect">
            <a:avLst>
              <a:gd name="adj" fmla="val 2449"/>
            </a:avLst>
          </a:prstGeom>
          <a:solidFill>
            <a:srgbClr val="FFFFFF"/>
          </a:solidFill>
          <a:ln w="9525">
            <a:solidFill>
              <a:srgbClr val="DDD8D2"/>
            </a:solidFill>
            <a:prstDash val="solid"/>
          </a:ln>
        </p:spPr>
      </p:sp>
      <p:sp>
        <p:nvSpPr>
          <p:cNvPr id="23" name="Shape 21"/>
          <p:cNvSpPr/>
          <p:nvPr/>
        </p:nvSpPr>
        <p:spPr>
          <a:xfrm>
            <a:off x="8174736" y="2231136"/>
            <a:ext cx="384048" cy="384048"/>
          </a:xfrm>
          <a:prstGeom prst="ellipse">
            <a:avLst/>
          </a:prstGeom>
          <a:solidFill>
            <a:srgbClr val="0F6E63"/>
          </a:solidFill>
          <a:ln w="12700">
            <a:solidFill>
              <a:srgbClr val="0F6E63"/>
            </a:solidFill>
            <a:prstDash val="solid"/>
          </a:ln>
        </p:spPr>
      </p:sp>
      <p:sp>
        <p:nvSpPr>
          <p:cNvPr id="24" name="Text 22"/>
          <p:cNvSpPr txBox="1"/>
          <p:nvPr/>
        </p:nvSpPr>
        <p:spPr>
          <a:xfrm>
            <a:off x="8174736" y="2231136"/>
            <a:ext cx="384048" cy="384048"/>
          </a:xfrm>
          <a:prstGeom prst="rect">
            <a:avLst/>
          </a:prstGeom>
          <a:noFill/>
          <a:ln/>
        </p:spPr>
        <p:txBody>
          <a:bodyPr wrap="square" lIns="0" tIns="0" rIns="0" bIns="0" rtlCol="0" anchor="ctr"/>
          <a:lstStyle/>
          <a:p>
            <a:pPr algn="ctr" indent="0" marL="0">
              <a:lnSpc>
                <a:spcPct val="118000"/>
              </a:lnSpc>
              <a:buNone/>
            </a:pPr>
            <a:r>
              <a:rPr lang="en-US" sz="1300" b="1" dirty="0">
                <a:solidFill>
                  <a:srgbClr val="FFFFFF"/>
                </a:solidFill>
                <a:latin typeface="Georgia" pitchFamily="34" charset="0"/>
                <a:ea typeface="Georgia" pitchFamily="34" charset="-122"/>
                <a:cs typeface="Georgia" pitchFamily="34" charset="-120"/>
              </a:rPr>
              <a:t>C</a:t>
            </a:r>
            <a:endParaRPr lang="en-US" sz="1300" dirty="0"/>
          </a:p>
        </p:txBody>
      </p:sp>
      <p:sp>
        <p:nvSpPr>
          <p:cNvPr id="25" name="Text 23"/>
          <p:cNvSpPr txBox="1"/>
          <p:nvPr/>
        </p:nvSpPr>
        <p:spPr>
          <a:xfrm>
            <a:off x="8686800" y="2286000"/>
            <a:ext cx="2377440" cy="274320"/>
          </a:xfrm>
          <a:prstGeom prst="rect">
            <a:avLst/>
          </a:prstGeom>
          <a:noFill/>
          <a:ln/>
        </p:spPr>
        <p:txBody>
          <a:bodyPr wrap="square" lIns="0" tIns="0" rIns="0" bIns="0" rtlCol="0" anchor="ctr"/>
          <a:lstStyle/>
          <a:p>
            <a:pPr indent="0" marL="0">
              <a:lnSpc>
                <a:spcPct val="118000"/>
              </a:lnSpc>
              <a:buNone/>
            </a:pPr>
            <a:r>
              <a:rPr lang="en-US" sz="1400" b="1" dirty="0">
                <a:solidFill>
                  <a:srgbClr val="1C2530"/>
                </a:solidFill>
                <a:latin typeface="Georgia" pitchFamily="34" charset="0"/>
                <a:ea typeface="Georgia" pitchFamily="34" charset="-122"/>
                <a:cs typeface="Georgia" pitchFamily="34" charset="-120"/>
              </a:rPr>
              <a:t>Measure</a:t>
            </a:r>
            <a:endParaRPr lang="en-US" sz="1400" dirty="0"/>
          </a:p>
        </p:txBody>
      </p:sp>
      <p:sp>
        <p:nvSpPr>
          <p:cNvPr id="26" name="Text 24"/>
          <p:cNvSpPr txBox="1"/>
          <p:nvPr/>
        </p:nvSpPr>
        <p:spPr>
          <a:xfrm>
            <a:off x="8174736" y="2743200"/>
            <a:ext cx="2889504" cy="292608"/>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metrics, evaluation, measurement</a:t>
            </a:r>
            <a:endParaRPr lang="en-US" sz="1100" dirty="0"/>
          </a:p>
        </p:txBody>
      </p:sp>
      <p:sp>
        <p:nvSpPr>
          <p:cNvPr id="27" name="Shape 25"/>
          <p:cNvSpPr/>
          <p:nvPr/>
        </p:nvSpPr>
        <p:spPr>
          <a:xfrm>
            <a:off x="8174736" y="3127248"/>
            <a:ext cx="2889504" cy="18288"/>
          </a:xfrm>
          <a:prstGeom prst="rect">
            <a:avLst/>
          </a:prstGeom>
          <a:solidFill>
            <a:srgbClr val="DDD8D2"/>
          </a:solidFill>
          <a:ln w="12700">
            <a:solidFill>
              <a:srgbClr val="DDD8D2"/>
            </a:solidFill>
            <a:prstDash val="solid"/>
          </a:ln>
        </p:spPr>
      </p:sp>
      <p:sp>
        <p:nvSpPr>
          <p:cNvPr id="28" name="Text 26"/>
          <p:cNvSpPr txBox="1"/>
          <p:nvPr/>
        </p:nvSpPr>
        <p:spPr>
          <a:xfrm>
            <a:off x="8174736" y="3255264"/>
            <a:ext cx="2889504" cy="548640"/>
          </a:xfrm>
          <a:prstGeom prst="rect">
            <a:avLst/>
          </a:prstGeom>
          <a:noFill/>
          <a:ln/>
        </p:spPr>
        <p:txBody>
          <a:bodyPr wrap="square" lIns="0" tIns="0" rIns="0" bIns="0" rtlCol="0" anchor="ctr"/>
          <a:lstStyle/>
          <a:p>
            <a:pPr indent="0" marL="0">
              <a:lnSpc>
                <a:spcPct val="118000"/>
              </a:lnSpc>
              <a:buNone/>
            </a:pPr>
            <a:r>
              <a:rPr lang="en-US" sz="950" dirty="0">
                <a:solidFill>
                  <a:srgbClr val="0F6E63"/>
                </a:solidFill>
                <a:latin typeface="Consolas" pitchFamily="34" charset="0"/>
                <a:ea typeface="Consolas" pitchFamily="34" charset="-122"/>
                <a:cs typeface="Consolas" pitchFamily="34" charset="-120"/>
              </a:rPr>
              <a:t>masks:  uint8 (H,W) in {0,1}, plus statistics</a:t>
            </a:r>
            <a:endParaRPr lang="en-US" sz="950" dirty="0"/>
          </a:p>
        </p:txBody>
      </p:sp>
      <p:sp>
        <p:nvSpPr>
          <p:cNvPr id="29" name="Shape 27"/>
          <p:cNvSpPr/>
          <p:nvPr/>
        </p:nvSpPr>
        <p:spPr>
          <a:xfrm>
            <a:off x="566928" y="4572000"/>
            <a:ext cx="10753344" cy="1188720"/>
          </a:xfrm>
          <a:prstGeom prst="roundRect">
            <a:avLst>
              <a:gd name="adj" fmla="val 4615"/>
            </a:avLst>
          </a:prstGeom>
          <a:solidFill>
            <a:srgbClr val="E6F0EE"/>
          </a:solidFill>
          <a:ln w="9525">
            <a:solidFill>
              <a:srgbClr val="BCD3CF"/>
            </a:solidFill>
            <a:prstDash val="solid"/>
          </a:ln>
        </p:spPr>
      </p:sp>
      <p:sp>
        <p:nvSpPr>
          <p:cNvPr id="30" name="Text 28"/>
          <p:cNvSpPr txBox="1"/>
          <p:nvPr/>
        </p:nvSpPr>
        <p:spPr>
          <a:xfrm>
            <a:off x="841248" y="4754880"/>
            <a:ext cx="10241280" cy="274320"/>
          </a:xfrm>
          <a:prstGeom prst="rect">
            <a:avLst/>
          </a:prstGeom>
          <a:noFill/>
          <a:ln/>
        </p:spPr>
        <p:txBody>
          <a:bodyPr wrap="square" lIns="0" tIns="0" rIns="0" bIns="0" rtlCol="0" anchor="ctr"/>
          <a:lstStyle/>
          <a:p>
            <a:pPr indent="0" marL="0">
              <a:lnSpc>
                <a:spcPct val="118000"/>
              </a:lnSpc>
              <a:buNone/>
            </a:pPr>
            <a:r>
              <a:rPr lang="en-US" sz="1050" b="1" spc="140" kern="0" dirty="0">
                <a:solidFill>
                  <a:srgbClr val="0F6E63"/>
                </a:solidFill>
                <a:latin typeface="Calibri" pitchFamily="34" charset="0"/>
                <a:ea typeface="Calibri" pitchFamily="34" charset="-122"/>
                <a:cs typeface="Calibri" pitchFamily="34" charset="-120"/>
              </a:rPr>
              <a:t>22 CONTRACT CHECKS, RUN BEFORE EVERY PUSH</a:t>
            </a:r>
            <a:endParaRPr lang="en-US" sz="1050" dirty="0"/>
          </a:p>
        </p:txBody>
      </p:sp>
      <p:sp>
        <p:nvSpPr>
          <p:cNvPr id="31" name="Text 29"/>
          <p:cNvSpPr txBox="1"/>
          <p:nvPr/>
        </p:nvSpPr>
        <p:spPr>
          <a:xfrm>
            <a:off x="841248" y="5047488"/>
            <a:ext cx="10241280" cy="621792"/>
          </a:xfrm>
          <a:prstGeom prst="rect">
            <a:avLst/>
          </a:prstGeom>
          <a:noFill/>
          <a:ln/>
        </p:spPr>
        <p:txBody>
          <a:bodyPr wrap="square" lIns="0" tIns="0" rIns="0" bIns="0" rtlCol="0" anchor="ctr"/>
          <a:lstStyle/>
          <a:p>
            <a:pPr indent="0" marL="0">
              <a:lnSpc>
                <a:spcPct val="118000"/>
              </a:lnSpc>
              <a:buNone/>
            </a:pPr>
            <a:r>
              <a:rPr lang="en-US" sz="1150" dirty="0">
                <a:solidFill>
                  <a:srgbClr val="48535F"/>
                </a:solidFill>
                <a:latin typeface="Calibri" pitchFamily="34" charset="0"/>
                <a:ea typeface="Calibri" pitchFamily="34" charset="-122"/>
                <a:cs typeface="Calibri" pitchFamily="34" charset="-120"/>
              </a:rPr>
              <a:t>Each workstream tests against stand-in implementations of the other two, so all three pass independently from day one — nobody waits. The checks catch the mistakes that actually break three-way splits: a mask that lost its channel dimension, a mask that stopped being binary after interpolation, a model returning probabilities instead of logits. If every section passes alone, the pipeline runs end to end.</a:t>
            </a:r>
            <a:endParaRPr lang="en-US" sz="1150" dirty="0"/>
          </a:p>
        </p:txBody>
      </p:sp>
      <p:sp>
        <p:nvSpPr>
          <p:cNvPr id="32" name="Text 30"/>
          <p:cNvSpPr txBox="1"/>
          <p:nvPr/>
        </p:nvSpPr>
        <p:spPr>
          <a:xfrm>
            <a:off x="566928" y="6419088"/>
            <a:ext cx="7315200" cy="201168"/>
          </a:xfrm>
          <a:prstGeom prst="rect">
            <a:avLst/>
          </a:prstGeom>
          <a:noFill/>
          <a:ln/>
        </p:spPr>
        <p:txBody>
          <a:bodyPr wrap="square" lIns="0" tIns="0" rIns="0" bIns="0" rtlCol="0" anchor="ctr"/>
          <a:lstStyle/>
          <a:p>
            <a:pPr indent="0" marL="0">
              <a:buNone/>
            </a:pPr>
            <a:r>
              <a:rPr lang="en-US" sz="900" dirty="0">
                <a:solidFill>
                  <a:srgbClr val="8A949E"/>
                </a:solidFill>
                <a:latin typeface="Calibri" pitchFamily="34" charset="0"/>
                <a:ea typeface="Calibri" pitchFamily="34" charset="-122"/>
                <a:cs typeface="Calibri" pitchFamily="34" charset="-120"/>
              </a:rPr>
              <a:t>Crack Segmentation for Structural Monitoring</a:t>
            </a:r>
            <a:endParaRPr lang="en-US" sz="900" dirty="0"/>
          </a:p>
        </p:txBody>
      </p:sp>
      <p:sp>
        <p:nvSpPr>
          <p:cNvPr id="33" name="Text 31"/>
          <p:cNvSpPr txBox="1"/>
          <p:nvPr/>
        </p:nvSpPr>
        <p:spPr>
          <a:xfrm>
            <a:off x="11064240" y="6419088"/>
            <a:ext cx="548640" cy="201168"/>
          </a:xfrm>
          <a:prstGeom prst="rect">
            <a:avLst/>
          </a:prstGeom>
          <a:noFill/>
          <a:ln/>
        </p:spPr>
        <p:txBody>
          <a:bodyPr wrap="square" lIns="0" tIns="0" rIns="0" bIns="0" rtlCol="0" anchor="ctr"/>
          <a:lstStyle/>
          <a:p>
            <a:pPr algn="r" indent="0" marL="0">
              <a:buNone/>
            </a:pPr>
            <a:r>
              <a:rPr lang="en-US" sz="900" dirty="0">
                <a:solidFill>
                  <a:srgbClr val="8A949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BFAF8"/>
        </a:solidFill>
      </p:bgPr>
    </p:bg>
    <p:spTree>
      <p:nvGrpSpPr>
        <p:cNvPr id="1" name=""/>
        <p:cNvGrpSpPr/>
        <p:nvPr/>
      </p:nvGrpSpPr>
      <p:grpSpPr>
        <a:xfrm>
          <a:off x="0" y="0"/>
          <a:ext cx="0" cy="0"/>
          <a:chOff x="0" y="0"/>
          <a:chExt cx="0" cy="0"/>
        </a:xfrm>
      </p:grpSpPr>
      <p:sp>
        <p:nvSpPr>
          <p:cNvPr id="2" name="Text 0"/>
          <p:cNvSpPr txBox="1"/>
          <p:nvPr/>
        </p:nvSpPr>
        <p:spPr>
          <a:xfrm>
            <a:off x="566928" y="384048"/>
            <a:ext cx="11064240" cy="219456"/>
          </a:xfrm>
          <a:prstGeom prst="rect">
            <a:avLst/>
          </a:prstGeom>
          <a:noFill/>
          <a:ln/>
        </p:spPr>
        <p:txBody>
          <a:bodyPr wrap="square" lIns="0" tIns="0" rIns="0" bIns="0" rtlCol="0" anchor="ctr"/>
          <a:lstStyle/>
          <a:p>
            <a:pPr indent="0" marL="0">
              <a:buNone/>
            </a:pPr>
            <a:r>
              <a:rPr lang="en-US" sz="1050" b="1" spc="220" kern="0" dirty="0">
                <a:solidFill>
                  <a:srgbClr val="0F6E63"/>
                </a:solidFill>
                <a:latin typeface="Calibri" pitchFamily="34" charset="0"/>
                <a:ea typeface="Calibri" pitchFamily="34" charset="-122"/>
                <a:cs typeface="Calibri" pitchFamily="34" charset="-120"/>
              </a:rPr>
              <a:t>CONCLUSION</a:t>
            </a:r>
            <a:endParaRPr lang="en-US" sz="1050" dirty="0"/>
          </a:p>
        </p:txBody>
      </p:sp>
      <p:sp>
        <p:nvSpPr>
          <p:cNvPr id="3" name="Text 1"/>
          <p:cNvSpPr txBox="1"/>
          <p:nvPr/>
        </p:nvSpPr>
        <p:spPr>
          <a:xfrm>
            <a:off x="566928" y="640080"/>
            <a:ext cx="11064240" cy="475488"/>
          </a:xfrm>
          <a:prstGeom prst="rect">
            <a:avLst/>
          </a:prstGeom>
          <a:noFill/>
          <a:ln/>
        </p:spPr>
        <p:txBody>
          <a:bodyPr wrap="square" lIns="0" tIns="0" rIns="0" bIns="0" rtlCol="0" anchor="ctr"/>
          <a:lstStyle/>
          <a:p>
            <a:pPr indent="0" marL="0">
              <a:buNone/>
            </a:pPr>
            <a:r>
              <a:rPr lang="en-US" sz="2600" dirty="0">
                <a:solidFill>
                  <a:srgbClr val="1C2530"/>
                </a:solidFill>
                <a:latin typeface="Georgia" pitchFamily="34" charset="0"/>
                <a:ea typeface="Georgia" pitchFamily="34" charset="-122"/>
                <a:cs typeface="Georgia" pitchFamily="34" charset="-120"/>
              </a:rPr>
              <a:t>Where this goes next</a:t>
            </a:r>
            <a:endParaRPr lang="en-US" sz="2600" dirty="0"/>
          </a:p>
        </p:txBody>
      </p:sp>
      <p:sp>
        <p:nvSpPr>
          <p:cNvPr id="4" name="Shape 2"/>
          <p:cNvSpPr/>
          <p:nvPr/>
        </p:nvSpPr>
        <p:spPr>
          <a:xfrm>
            <a:off x="566928" y="1207008"/>
            <a:ext cx="777240" cy="32004"/>
          </a:xfrm>
          <a:prstGeom prst="rect">
            <a:avLst/>
          </a:prstGeom>
          <a:solidFill>
            <a:srgbClr val="0F6E63"/>
          </a:solidFill>
          <a:ln w="12700">
            <a:solidFill>
              <a:srgbClr val="0F6E63"/>
            </a:solidFill>
            <a:prstDash val="solid"/>
          </a:ln>
        </p:spPr>
      </p:sp>
      <p:sp>
        <p:nvSpPr>
          <p:cNvPr id="5" name="Text 3"/>
          <p:cNvSpPr txBox="1"/>
          <p:nvPr/>
        </p:nvSpPr>
        <p:spPr>
          <a:xfrm>
            <a:off x="566928" y="1481328"/>
            <a:ext cx="10607040" cy="365760"/>
          </a:xfrm>
          <a:prstGeom prst="rect">
            <a:avLst/>
          </a:prstGeom>
          <a:noFill/>
          <a:ln/>
        </p:spPr>
        <p:txBody>
          <a:bodyPr wrap="square" lIns="0" tIns="0" rIns="0" bIns="0" rtlCol="0" anchor="ctr"/>
          <a:lstStyle/>
          <a:p>
            <a:pPr indent="0" marL="0">
              <a:lnSpc>
                <a:spcPct val="118000"/>
              </a:lnSpc>
              <a:buNone/>
            </a:pPr>
            <a:r>
              <a:rPr lang="en-US" sz="1300" dirty="0">
                <a:solidFill>
                  <a:srgbClr val="48535F"/>
                </a:solidFill>
                <a:latin typeface="Calibri" pitchFamily="34" charset="0"/>
                <a:ea typeface="Calibri" pitchFamily="34" charset="-122"/>
                <a:cs typeface="Calibri" pitchFamily="34" charset="-120"/>
              </a:rPr>
              <a:t>The segmentation model is a complete project in its own right. It was also built to be one component of a larger monitoring system.</a:t>
            </a:r>
            <a:endParaRPr lang="en-US" sz="1300" dirty="0"/>
          </a:p>
        </p:txBody>
      </p:sp>
      <p:sp>
        <p:nvSpPr>
          <p:cNvPr id="6" name="Shape 4"/>
          <p:cNvSpPr/>
          <p:nvPr/>
        </p:nvSpPr>
        <p:spPr>
          <a:xfrm>
            <a:off x="566928" y="2066544"/>
            <a:ext cx="5221224" cy="2697480"/>
          </a:xfrm>
          <a:prstGeom prst="roundRect">
            <a:avLst>
              <a:gd name="adj" fmla="val 2034"/>
            </a:avLst>
          </a:prstGeom>
          <a:solidFill>
            <a:srgbClr val="FFFFFF"/>
          </a:solidFill>
          <a:ln w="9525">
            <a:solidFill>
              <a:srgbClr val="DDD8D2"/>
            </a:solidFill>
            <a:prstDash val="solid"/>
          </a:ln>
        </p:spPr>
      </p:sp>
      <p:sp>
        <p:nvSpPr>
          <p:cNvPr id="7" name="Text 5"/>
          <p:cNvSpPr txBox="1"/>
          <p:nvPr/>
        </p:nvSpPr>
        <p:spPr>
          <a:xfrm>
            <a:off x="822960" y="2267712"/>
            <a:ext cx="4663440" cy="274320"/>
          </a:xfrm>
          <a:prstGeom prst="rect">
            <a:avLst/>
          </a:prstGeom>
          <a:noFill/>
          <a:ln/>
        </p:spPr>
        <p:txBody>
          <a:bodyPr wrap="square" lIns="0" tIns="0" rIns="0" bIns="0" rtlCol="0" anchor="ctr"/>
          <a:lstStyle/>
          <a:p>
            <a:pPr indent="0" marL="0">
              <a:lnSpc>
                <a:spcPct val="118000"/>
              </a:lnSpc>
              <a:buNone/>
            </a:pPr>
            <a:r>
              <a:rPr lang="en-US" sz="1050" b="1" spc="140" kern="0" dirty="0">
                <a:solidFill>
                  <a:srgbClr val="0F6E63"/>
                </a:solidFill>
                <a:latin typeface="Calibri" pitchFamily="34" charset="0"/>
                <a:ea typeface="Calibri" pitchFamily="34" charset="-122"/>
                <a:cs typeface="Calibri" pitchFamily="34" charset="-120"/>
              </a:rPr>
              <a:t>DELIVERED</a:t>
            </a:r>
            <a:endParaRPr lang="en-US" sz="1050" dirty="0"/>
          </a:p>
        </p:txBody>
      </p:sp>
      <p:sp>
        <p:nvSpPr>
          <p:cNvPr id="8" name="Text 6"/>
          <p:cNvSpPr txBox="1"/>
          <p:nvPr/>
        </p:nvSpPr>
        <p:spPr>
          <a:xfrm>
            <a:off x="822960" y="2596896"/>
            <a:ext cx="4709160" cy="1600200"/>
          </a:xfrm>
          <a:prstGeom prst="rect">
            <a:avLst/>
          </a:prstGeom>
          <a:noFill/>
          <a:ln/>
        </p:spPr>
        <p:txBody>
          <a:bodyPr wrap="square" lIns="0" tIns="0" rIns="0" bIns="0" rtlCol="0" anchor="ctr"/>
          <a:lstStyle/>
          <a:p>
            <a:pPr marL="177800" indent="-177800">
              <a:lnSpc>
                <a:spcPct val="120000"/>
              </a:lnSpc>
              <a:spcAft>
                <a:spcPts val="500"/>
              </a:spcAft>
              <a:buSzPct val="100000"/>
              <a:buChar char="•"/>
            </a:pPr>
            <a:r>
              <a:rPr lang="en-US" sz="1100" dirty="0">
                <a:solidFill>
                  <a:srgbClr val="48535F"/>
                </a:solidFill>
                <a:latin typeface="Calibri" pitchFamily="34" charset="0"/>
                <a:ea typeface="Calibri" pitchFamily="34" charset="-122"/>
                <a:cs typeface="Calibri" pitchFamily="34" charset="-120"/>
              </a:rPr>
              <a:t>U-Net implemented from scratch, both upsampling modes verified</a:t>
            </a:r>
            <a:endParaRPr lang="en-US" sz="1100" dirty="0"/>
          </a:p>
          <a:p>
            <a:pPr marL="177800" indent="-177800">
              <a:lnSpc>
                <a:spcPct val="120000"/>
              </a:lnSpc>
              <a:spcAft>
                <a:spcPts val="500"/>
              </a:spcAft>
              <a:buSzPct val="100000"/>
              <a:buChar char="•"/>
            </a:pPr>
            <a:r>
              <a:rPr lang="en-US" sz="1100" dirty="0">
                <a:solidFill>
                  <a:srgbClr val="48535F"/>
                </a:solidFill>
                <a:latin typeface="Calibri" pitchFamily="34" charset="0"/>
                <a:ea typeface="Calibri" pitchFamily="34" charset="-122"/>
                <a:cs typeface="Calibri" pitchFamily="34" charset="-120"/>
              </a:rPr>
              <a:t>Six losses compared on 85 test images: best IoU 0.651, top three effectively tied</a:t>
            </a:r>
            <a:endParaRPr lang="en-US" sz="1100" dirty="0"/>
          </a:p>
          <a:p>
            <a:pPr marL="177800" indent="-177800">
              <a:lnSpc>
                <a:spcPct val="120000"/>
              </a:lnSpc>
              <a:spcAft>
                <a:spcPts val="500"/>
              </a:spcAft>
              <a:buSzPct val="100000"/>
              <a:buChar char="•"/>
            </a:pPr>
            <a:r>
              <a:rPr lang="en-US" sz="1100" dirty="0">
                <a:solidFill>
                  <a:srgbClr val="48535F"/>
                </a:solidFill>
                <a:latin typeface="Calibri" pitchFamily="34" charset="0"/>
                <a:ea typeface="Calibri" pitchFamily="34" charset="-122"/>
                <a:cs typeface="Calibri" pitchFamily="34" charset="-120"/>
              </a:rPr>
              <a:t>Width measurement checked against ground truth, within ±1 px</a:t>
            </a:r>
            <a:endParaRPr lang="en-US" sz="1100" dirty="0"/>
          </a:p>
          <a:p>
            <a:pPr marL="177800" indent="-177800">
              <a:lnSpc>
                <a:spcPct val="120000"/>
              </a:lnSpc>
              <a:spcAft>
                <a:spcPts val="500"/>
              </a:spcAft>
              <a:buSzPct val="100000"/>
              <a:buChar char="•"/>
            </a:pPr>
            <a:r>
              <a:rPr lang="en-US" sz="1100" dirty="0">
                <a:solidFill>
                  <a:srgbClr val="48535F"/>
                </a:solidFill>
                <a:latin typeface="Calibri" pitchFamily="34" charset="0"/>
                <a:ea typeface="Calibri" pitchFamily="34" charset="-122"/>
                <a:cs typeface="Calibri" pitchFamily="34" charset="-120"/>
              </a:rPr>
              <a:t>Brick-wall test run: IoU 0.455, so the domain gap is quantified</a:t>
            </a:r>
            <a:endParaRPr lang="en-US" sz="1100" dirty="0"/>
          </a:p>
          <a:p>
            <a:pPr marL="177800" indent="-177800">
              <a:lnSpc>
                <a:spcPct val="120000"/>
              </a:lnSpc>
              <a:spcAft>
                <a:spcPts val="500"/>
              </a:spcAft>
              <a:buSzPct val="100000"/>
              <a:buChar char="•"/>
            </a:pPr>
            <a:r>
              <a:rPr lang="en-US" sz="1100" dirty="0">
                <a:solidFill>
                  <a:srgbClr val="48535F"/>
                </a:solidFill>
                <a:latin typeface="Calibri" pitchFamily="34" charset="0"/>
                <a:ea typeface="Calibri" pitchFamily="34" charset="-122"/>
                <a:cs typeface="Calibri" pitchFamily="34" charset="-120"/>
              </a:rPr>
              <a:t>Browser app for measuring and comparing captures; 22 contract checks pass</a:t>
            </a:r>
            <a:endParaRPr lang="en-US" sz="1100" dirty="0"/>
          </a:p>
        </p:txBody>
      </p:sp>
      <p:sp>
        <p:nvSpPr>
          <p:cNvPr id="9" name="Shape 7"/>
          <p:cNvSpPr/>
          <p:nvPr/>
        </p:nvSpPr>
        <p:spPr>
          <a:xfrm>
            <a:off x="6099048" y="2066544"/>
            <a:ext cx="5221224" cy="2697480"/>
          </a:xfrm>
          <a:prstGeom prst="roundRect">
            <a:avLst>
              <a:gd name="adj" fmla="val 2034"/>
            </a:avLst>
          </a:prstGeom>
          <a:solidFill>
            <a:srgbClr val="FFFFFF"/>
          </a:solidFill>
          <a:ln w="9525">
            <a:solidFill>
              <a:srgbClr val="DDD8D2"/>
            </a:solidFill>
            <a:prstDash val="solid"/>
          </a:ln>
        </p:spPr>
      </p:sp>
      <p:sp>
        <p:nvSpPr>
          <p:cNvPr id="10" name="Text 8"/>
          <p:cNvSpPr txBox="1"/>
          <p:nvPr/>
        </p:nvSpPr>
        <p:spPr>
          <a:xfrm>
            <a:off x="6355080" y="2267712"/>
            <a:ext cx="4663440" cy="274320"/>
          </a:xfrm>
          <a:prstGeom prst="rect">
            <a:avLst/>
          </a:prstGeom>
          <a:noFill/>
          <a:ln/>
        </p:spPr>
        <p:txBody>
          <a:bodyPr wrap="square" lIns="0" tIns="0" rIns="0" bIns="0" rtlCol="0" anchor="ctr"/>
          <a:lstStyle/>
          <a:p>
            <a:pPr indent="0" marL="0">
              <a:lnSpc>
                <a:spcPct val="118000"/>
              </a:lnSpc>
              <a:buNone/>
            </a:pPr>
            <a:r>
              <a:rPr lang="en-US" sz="1050" b="1" spc="140" kern="0" dirty="0">
                <a:solidFill>
                  <a:srgbClr val="0F6E63"/>
                </a:solidFill>
                <a:latin typeface="Calibri" pitchFamily="34" charset="0"/>
                <a:ea typeface="Calibri" pitchFamily="34" charset="-122"/>
                <a:cs typeface="Calibri" pitchFamily="34" charset="-120"/>
              </a:rPr>
              <a:t>INTEGRATION TARGET</a:t>
            </a:r>
            <a:endParaRPr lang="en-US" sz="1050" dirty="0"/>
          </a:p>
        </p:txBody>
      </p:sp>
      <p:sp>
        <p:nvSpPr>
          <p:cNvPr id="11" name="Text 9"/>
          <p:cNvSpPr txBox="1"/>
          <p:nvPr/>
        </p:nvSpPr>
        <p:spPr>
          <a:xfrm>
            <a:off x="6355080" y="2596896"/>
            <a:ext cx="4709160" cy="457200"/>
          </a:xfrm>
          <a:prstGeom prst="rect">
            <a:avLst/>
          </a:prstGeom>
          <a:noFill/>
          <a:ln/>
        </p:spPr>
        <p:txBody>
          <a:bodyPr wrap="square" lIns="0" tIns="0" rIns="0" bIns="0" rtlCol="0" anchor="ctr"/>
          <a:lstStyle/>
          <a:p>
            <a:pPr indent="0" marL="0">
              <a:lnSpc>
                <a:spcPct val="118000"/>
              </a:lnSpc>
              <a:buNone/>
            </a:pPr>
            <a:r>
              <a:rPr lang="en-US" sz="1100" dirty="0">
                <a:solidFill>
                  <a:srgbClr val="48535F"/>
                </a:solidFill>
                <a:latin typeface="Calibri" pitchFamily="34" charset="0"/>
                <a:ea typeface="Calibri" pitchFamily="34" charset="-122"/>
                <a:cs typeface="Calibri" pitchFamily="34" charset="-120"/>
              </a:rPr>
              <a:t>The wider system supplies the two things this model cannot: a scale reference, and two captures registered to the same control points.</a:t>
            </a:r>
            <a:endParaRPr lang="en-US" sz="1100" dirty="0"/>
          </a:p>
        </p:txBody>
      </p:sp>
      <p:sp>
        <p:nvSpPr>
          <p:cNvPr id="12" name="Text 10"/>
          <p:cNvSpPr txBox="1"/>
          <p:nvPr/>
        </p:nvSpPr>
        <p:spPr>
          <a:xfrm>
            <a:off x="6355080" y="3163824"/>
            <a:ext cx="4709160" cy="1005840"/>
          </a:xfrm>
          <a:prstGeom prst="rect">
            <a:avLst/>
          </a:prstGeom>
          <a:noFill/>
          <a:ln/>
        </p:spPr>
        <p:txBody>
          <a:bodyPr wrap="square" lIns="0" tIns="0" rIns="0" bIns="0" rtlCol="0" anchor="ctr"/>
          <a:lstStyle/>
          <a:p>
            <a:pPr indent="0" marL="0">
              <a:lnSpc>
                <a:spcPct val="118000"/>
              </a:lnSpc>
              <a:buNone/>
            </a:pPr>
            <a:r>
              <a:rPr lang="en-US" sz="1000" dirty="0">
                <a:solidFill>
                  <a:srgbClr val="1C2530"/>
                </a:solidFill>
                <a:latin typeface="Consolas" pitchFamily="34" charset="0"/>
                <a:ea typeface="Consolas" pitchFamily="34" charset="-122"/>
                <a:cs typeface="Consolas" pitchFamily="34" charset="-120"/>
              </a:rPr>
              <a:t>seg = CrackSegmenter(ckpt)</a:t>
            </a:r>
            <a:endParaRPr lang="en-US" sz="1200" dirty="0"/>
          </a:p>
          <a:p>
            <a:pPr indent="0" marL="0">
              <a:lnSpc>
                <a:spcPct val="118000"/>
              </a:lnSpc>
              <a:buNone/>
            </a:pPr>
            <a:r>
              <a:rPr lang="en-US" sz="1000" dirty="0">
                <a:solidFill>
                  <a:srgbClr val="1C2530"/>
                </a:solidFill>
                <a:latin typeface="Consolas" pitchFamily="34" charset="0"/>
                <a:ea typeface="Consolas" pitchFamily="34" charset="-122"/>
                <a:cs typeface="Consolas" pitchFamily="34" charset="-120"/>
              </a:rPr>
              <a:t>m1  = seg.segment(march)</a:t>
            </a:r>
            <a:endParaRPr lang="en-US" sz="1200" dirty="0"/>
          </a:p>
          <a:p>
            <a:pPr indent="0" marL="0">
              <a:lnSpc>
                <a:spcPct val="118000"/>
              </a:lnSpc>
              <a:buNone/>
            </a:pPr>
            <a:r>
              <a:rPr lang="en-US" sz="1000" dirty="0">
                <a:solidFill>
                  <a:srgbClr val="1C2530"/>
                </a:solidFill>
                <a:latin typeface="Consolas" pitchFamily="34" charset="0"/>
                <a:ea typeface="Consolas" pitchFamily="34" charset="-122"/>
                <a:cs typeface="Consolas" pitchFamily="34" charset="-120"/>
              </a:rPr>
              <a:t>m2  = seg.segment(september)</a:t>
            </a:r>
            <a:endParaRPr lang="en-US" sz="1200" dirty="0"/>
          </a:p>
          <a:p>
            <a:pPr indent="0" marL="0">
              <a:lnSpc>
                <a:spcPct val="118000"/>
              </a:lnSpc>
              <a:buNone/>
            </a:pPr>
            <a:r>
              <a:rPr lang="en-US" sz="1000" dirty="0">
                <a:solidFill>
                  <a:srgbClr val="1C2530"/>
                </a:solidFill>
                <a:latin typeface="Consolas" pitchFamily="34" charset="0"/>
                <a:ea typeface="Consolas" pitchFamily="34" charset="-122"/>
                <a:cs typeface="Consolas" pitchFamily="34" charset="-120"/>
              </a:rPr>
              <a:t>delta = compare_captures(m1, m2,</a:t>
            </a:r>
            <a:endParaRPr lang="en-US" sz="1200" dirty="0"/>
          </a:p>
          <a:p>
            <a:pPr indent="0" marL="0">
              <a:lnSpc>
                <a:spcPct val="118000"/>
              </a:lnSpc>
              <a:buNone/>
            </a:pPr>
            <a:r>
              <a:rPr lang="en-US" sz="1000" dirty="0">
                <a:solidFill>
                  <a:srgbClr val="1C2530"/>
                </a:solidFill>
                <a:latin typeface="Consolas" pitchFamily="34" charset="0"/>
                <a:ea typeface="Consolas" pitchFamily="34" charset="-122"/>
                <a:cs typeface="Consolas" pitchFamily="34" charset="-120"/>
              </a:rPr>
              <a:t>                         mm_per_px=0.8)</a:t>
            </a:r>
            <a:endParaRPr lang="en-US" sz="1200" dirty="0"/>
          </a:p>
        </p:txBody>
      </p:sp>
      <p:sp>
        <p:nvSpPr>
          <p:cNvPr id="13" name="Shape 11"/>
          <p:cNvSpPr/>
          <p:nvPr/>
        </p:nvSpPr>
        <p:spPr>
          <a:xfrm>
            <a:off x="566928" y="5138928"/>
            <a:ext cx="10753344" cy="18288"/>
          </a:xfrm>
          <a:prstGeom prst="rect">
            <a:avLst/>
          </a:prstGeom>
          <a:solidFill>
            <a:srgbClr val="DDD8D2"/>
          </a:solidFill>
          <a:ln w="12700">
            <a:solidFill>
              <a:srgbClr val="DDD8D2"/>
            </a:solidFill>
            <a:prstDash val="solid"/>
          </a:ln>
        </p:spPr>
      </p:sp>
      <p:sp>
        <p:nvSpPr>
          <p:cNvPr id="14" name="Text 12"/>
          <p:cNvSpPr txBox="1"/>
          <p:nvPr/>
        </p:nvSpPr>
        <p:spPr>
          <a:xfrm>
            <a:off x="566928" y="5376672"/>
            <a:ext cx="10753344" cy="457200"/>
          </a:xfrm>
          <a:prstGeom prst="rect">
            <a:avLst/>
          </a:prstGeom>
          <a:noFill/>
          <a:ln/>
        </p:spPr>
        <p:txBody>
          <a:bodyPr wrap="square" lIns="0" tIns="0" rIns="0" bIns="0" rtlCol="0" anchor="ctr"/>
          <a:lstStyle/>
          <a:p>
            <a:pPr algn="ctr" indent="0" marL="0">
              <a:lnSpc>
                <a:spcPct val="118000"/>
              </a:lnSpc>
              <a:buNone/>
            </a:pPr>
            <a:r>
              <a:rPr lang="en-US" sz="1700" dirty="0">
                <a:solidFill>
                  <a:srgbClr val="1C2530"/>
                </a:solidFill>
                <a:latin typeface="Georgia" pitchFamily="34" charset="0"/>
                <a:ea typeface="Georgia" pitchFamily="34" charset="-122"/>
                <a:cs typeface="Georgia" pitchFamily="34" charset="-120"/>
              </a:rPr>
              <a:t>A mask says which pixels. A measurement says whether to send an engineer.</a:t>
            </a:r>
            <a:endParaRPr lang="en-US" sz="1700" dirty="0"/>
          </a:p>
        </p:txBody>
      </p:sp>
      <p:sp>
        <p:nvSpPr>
          <p:cNvPr id="15" name="Text 13"/>
          <p:cNvSpPr txBox="1"/>
          <p:nvPr/>
        </p:nvSpPr>
        <p:spPr>
          <a:xfrm>
            <a:off x="566928" y="6419088"/>
            <a:ext cx="7315200" cy="201168"/>
          </a:xfrm>
          <a:prstGeom prst="rect">
            <a:avLst/>
          </a:prstGeom>
          <a:noFill/>
          <a:ln/>
        </p:spPr>
        <p:txBody>
          <a:bodyPr wrap="square" lIns="0" tIns="0" rIns="0" bIns="0" rtlCol="0" anchor="ctr"/>
          <a:lstStyle/>
          <a:p>
            <a:pPr indent="0" marL="0">
              <a:buNone/>
            </a:pPr>
            <a:r>
              <a:rPr lang="en-US" sz="900" dirty="0">
                <a:solidFill>
                  <a:srgbClr val="8A949E"/>
                </a:solidFill>
                <a:latin typeface="Calibri" pitchFamily="34" charset="0"/>
                <a:ea typeface="Calibri" pitchFamily="34" charset="-122"/>
                <a:cs typeface="Calibri" pitchFamily="34" charset="-120"/>
              </a:rPr>
              <a:t>Crack Segmentation for Structural Monitoring</a:t>
            </a:r>
            <a:endParaRPr lang="en-US" sz="900" dirty="0"/>
          </a:p>
        </p:txBody>
      </p:sp>
      <p:sp>
        <p:nvSpPr>
          <p:cNvPr id="16" name="Text 14"/>
          <p:cNvSpPr txBox="1"/>
          <p:nvPr/>
        </p:nvSpPr>
        <p:spPr>
          <a:xfrm>
            <a:off x="11064240" y="6419088"/>
            <a:ext cx="548640" cy="201168"/>
          </a:xfrm>
          <a:prstGeom prst="rect">
            <a:avLst/>
          </a:prstGeom>
          <a:noFill/>
          <a:ln/>
        </p:spPr>
        <p:txBody>
          <a:bodyPr wrap="square" lIns="0" tIns="0" rIns="0" bIns="0" rtlCol="0" anchor="ctr"/>
          <a:lstStyle/>
          <a:p>
            <a:pPr algn="r" indent="0" marL="0">
              <a:buNone/>
            </a:pPr>
            <a:r>
              <a:rPr lang="en-US" sz="900" dirty="0">
                <a:solidFill>
                  <a:srgbClr val="8A949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2026-09-15T08:16:21Z</dcterms:created>
  <dcterms:modified xsi:type="dcterms:W3CDTF">2026-09-15T08:16:21Z</dcterms:modified>
</cp:coreProperties>
</file>